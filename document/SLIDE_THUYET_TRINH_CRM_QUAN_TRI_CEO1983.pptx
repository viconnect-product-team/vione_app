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A3A"/>
        </a:solidFill>
      </p:bgPr>
    </p:bg>
    <p:spTree>
      <p:nvGrpSpPr>
        <p:cNvPr id="1" name=""/>
        <p:cNvGrpSpPr/>
        <p:nvPr/>
      </p:nvGrpSpPr>
      <p:grpSpPr>
        <a:xfrm>
          <a:off x="0" y="0"/>
          <a:ext cx="0" cy="0"/>
          <a:chOff x="0" y="0"/>
          <a:chExt cx="0" cy="0"/>
        </a:xfrm>
      </p:grpSpPr>
      <p:sp>
        <p:nvSpPr>
          <p:cNvPr id="2" name="Shape 0"/>
          <p:cNvSpPr/>
          <p:nvPr/>
        </p:nvSpPr>
        <p:spPr>
          <a:xfrm>
            <a:off x="731520" y="731520"/>
            <a:ext cx="4114800" cy="384048"/>
          </a:xfrm>
          <a:prstGeom prst="rect">
            <a:avLst/>
          </a:prstGeom>
          <a:solidFill>
            <a:srgbClr val="F59E0B"/>
          </a:solidFill>
          <a:ln/>
        </p:spPr>
      </p:sp>
      <p:sp>
        <p:nvSpPr>
          <p:cNvPr id="3" name="Text 1"/>
          <p:cNvSpPr/>
          <p:nvPr/>
        </p:nvSpPr>
        <p:spPr>
          <a:xfrm>
            <a:off x="731520" y="731520"/>
            <a:ext cx="4114800" cy="384048"/>
          </a:xfrm>
          <a:prstGeom prst="rect">
            <a:avLst/>
          </a:prstGeom>
          <a:noFill/>
          <a:ln/>
        </p:spPr>
        <p:txBody>
          <a:bodyPr wrap="square" rtlCol="0" anchor="ctr"/>
          <a:lstStyle/>
          <a:p>
            <a:pPr algn="ctr" indent="0" marL="0">
              <a:buNone/>
            </a:pPr>
            <a:r>
              <a:rPr lang="en-US" sz="1100" b="1" dirty="0">
                <a:solidFill>
                  <a:srgbClr val="0A1A3A"/>
                </a:solidFill>
                <a:latin typeface="Calibri" pitchFamily="34" charset="0"/>
                <a:ea typeface="Calibri" pitchFamily="34" charset="-122"/>
                <a:cs typeface="Calibri" pitchFamily="34" charset="-120"/>
              </a:rPr>
              <a:t>HỆ THỐNG QUẢN TRỊ ĐIỀU HÀNH HIỆP HỘI</a:t>
            </a:r>
            <a:endParaRPr lang="en-US" sz="1100" dirty="0"/>
          </a:p>
        </p:txBody>
      </p:sp>
      <p:sp>
        <p:nvSpPr>
          <p:cNvPr id="4" name="Text 2"/>
          <p:cNvSpPr/>
          <p:nvPr/>
        </p:nvSpPr>
        <p:spPr>
          <a:xfrm>
            <a:off x="731520" y="1417320"/>
            <a:ext cx="10725912" cy="1097280"/>
          </a:xfrm>
          <a:prstGeom prst="rect">
            <a:avLst/>
          </a:prstGeom>
          <a:noFill/>
          <a:ln/>
        </p:spPr>
        <p:txBody>
          <a:bodyPr wrap="square" rtlCol="0" anchor="ctr"/>
          <a:lstStyle/>
          <a:p>
            <a:pPr indent="0" marL="0">
              <a:buNone/>
            </a:pPr>
            <a:r>
              <a:rPr lang="en-US" sz="3200" b="1" dirty="0">
                <a:solidFill>
                  <a:srgbClr val="FFFFFF"/>
                </a:solidFill>
                <a:latin typeface="Calibri" pitchFamily="34" charset="0"/>
                <a:ea typeface="Calibri" pitchFamily="34" charset="-122"/>
                <a:cs typeface="Calibri" pitchFamily="34" charset="-120"/>
              </a:rPr>
              <a:t>WEB CRM QUẢN TRỊ CLB DOANH NHÂN CEO 1983</a:t>
            </a:r>
            <a:endParaRPr lang="en-US" sz="3200" dirty="0"/>
          </a:p>
        </p:txBody>
      </p:sp>
      <p:sp>
        <p:nvSpPr>
          <p:cNvPr id="5" name="Text 3"/>
          <p:cNvSpPr/>
          <p:nvPr/>
        </p:nvSpPr>
        <p:spPr>
          <a:xfrm>
            <a:off x="731520" y="2606040"/>
            <a:ext cx="10725912" cy="457200"/>
          </a:xfrm>
          <a:prstGeom prst="rect">
            <a:avLst/>
          </a:prstGeom>
          <a:noFill/>
          <a:ln/>
        </p:spPr>
        <p:txBody>
          <a:bodyPr wrap="square" rtlCol="0" anchor="ctr"/>
          <a:lstStyle/>
          <a:p>
            <a:pPr indent="0" marL="0">
              <a:buNone/>
            </a:pPr>
            <a:r>
              <a:rPr lang="en-US" sz="1800" b="1" i="1" dirty="0">
                <a:solidFill>
                  <a:srgbClr val="F59E0B"/>
                </a:solidFill>
                <a:latin typeface="Calibri" pitchFamily="34" charset="0"/>
                <a:ea typeface="Calibri" pitchFamily="34" charset="-122"/>
                <a:cs typeface="Calibri" pitchFamily="34" charset="-120"/>
              </a:rPr>
              <a:t>Executive Command Center · Quản trị dữ liệu 360° · Phiên bản v2.6.0 Pro</a:t>
            </a:r>
            <a:endParaRPr lang="en-US" sz="1800" dirty="0"/>
          </a:p>
        </p:txBody>
      </p:sp>
      <p:sp>
        <p:nvSpPr>
          <p:cNvPr id="6" name="Text 4"/>
          <p:cNvSpPr/>
          <p:nvPr/>
        </p:nvSpPr>
        <p:spPr>
          <a:xfrm>
            <a:off x="731520" y="3154680"/>
            <a:ext cx="9601200" cy="731520"/>
          </a:xfrm>
          <a:prstGeom prst="rect">
            <a:avLst/>
          </a:prstGeom>
          <a:noFill/>
          <a:ln/>
        </p:spPr>
        <p:txBody>
          <a:bodyPr wrap="square" rtlCol="0" anchor="ctr"/>
          <a:lstStyle/>
          <a:p>
            <a:pPr indent="0" marL="0">
              <a:buNone/>
            </a:pPr>
            <a:r>
              <a:rPr lang="en-US" sz="1350" dirty="0">
                <a:solidFill>
                  <a:srgbClr val="E2E8F0"/>
                </a:solidFill>
                <a:latin typeface="Calibri" pitchFamily="34" charset="0"/>
                <a:ea typeface="Calibri" pitchFamily="34" charset="-122"/>
                <a:cs typeface="Calibri" pitchFamily="34" charset="-120"/>
              </a:rPr>
              <a:t>Trung tâm điều hành số hóa toàn diện dành cho Ban Quản Trị &amp; Ban Thư Ký: Quản lý hồ sơ hội viên, tổ chức sự kiện, sơ đồ chỗ ngồi, Live Voting, sàn B2B và đối soát hội phí VietQR.</a:t>
            </a:r>
            <a:endParaRPr lang="en-US" sz="1350" dirty="0"/>
          </a:p>
        </p:txBody>
      </p:sp>
      <p:sp>
        <p:nvSpPr>
          <p:cNvPr id="7" name="Shape 5"/>
          <p:cNvSpPr/>
          <p:nvPr/>
        </p:nvSpPr>
        <p:spPr>
          <a:xfrm>
            <a:off x="731520" y="4389120"/>
            <a:ext cx="3383280" cy="1645920"/>
          </a:xfrm>
          <a:prstGeom prst="rect">
            <a:avLst/>
          </a:prstGeom>
          <a:solidFill>
            <a:srgbClr val="132A56"/>
          </a:solidFill>
          <a:ln w="19050">
            <a:solidFill>
              <a:srgbClr val="003B95"/>
            </a:solidFill>
            <a:prstDash val="solid"/>
          </a:ln>
        </p:spPr>
      </p:sp>
      <p:sp>
        <p:nvSpPr>
          <p:cNvPr id="8" name="Text 6"/>
          <p:cNvSpPr/>
          <p:nvPr/>
        </p:nvSpPr>
        <p:spPr>
          <a:xfrm>
            <a:off x="10058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360°</a:t>
            </a:r>
            <a:endParaRPr lang="en-US" sz="3200" dirty="0"/>
          </a:p>
        </p:txBody>
      </p:sp>
      <p:sp>
        <p:nvSpPr>
          <p:cNvPr id="9" name="Text 7"/>
          <p:cNvSpPr/>
          <p:nvPr/>
        </p:nvSpPr>
        <p:spPr>
          <a:xfrm>
            <a:off x="10058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Hồ Sơ Hội Viên</a:t>
            </a:r>
            <a:endParaRPr lang="en-US" sz="1350" dirty="0"/>
          </a:p>
        </p:txBody>
      </p:sp>
      <p:sp>
        <p:nvSpPr>
          <p:cNvPr id="10" name="Text 8"/>
          <p:cNvSpPr/>
          <p:nvPr/>
        </p:nvSpPr>
        <p:spPr>
          <a:xfrm>
            <a:off x="10058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Thẩm định &amp; cấp thẻ số tự động</a:t>
            </a:r>
            <a:endParaRPr lang="en-US" sz="1050" dirty="0"/>
          </a:p>
        </p:txBody>
      </p:sp>
      <p:sp>
        <p:nvSpPr>
          <p:cNvPr id="11" name="Shape 9"/>
          <p:cNvSpPr/>
          <p:nvPr/>
        </p:nvSpPr>
        <p:spPr>
          <a:xfrm>
            <a:off x="4389120" y="4389120"/>
            <a:ext cx="3383280" cy="1645920"/>
          </a:xfrm>
          <a:prstGeom prst="rect">
            <a:avLst/>
          </a:prstGeom>
          <a:solidFill>
            <a:srgbClr val="132A56"/>
          </a:solidFill>
          <a:ln w="19050">
            <a:solidFill>
              <a:srgbClr val="003B95"/>
            </a:solidFill>
            <a:prstDash val="solid"/>
          </a:ln>
        </p:spPr>
      </p:sp>
      <p:sp>
        <p:nvSpPr>
          <p:cNvPr id="12" name="Text 10"/>
          <p:cNvSpPr/>
          <p:nvPr/>
        </p:nvSpPr>
        <p:spPr>
          <a:xfrm>
            <a:off x="46634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100%</a:t>
            </a:r>
            <a:endParaRPr lang="en-US" sz="3200" dirty="0"/>
          </a:p>
        </p:txBody>
      </p:sp>
      <p:sp>
        <p:nvSpPr>
          <p:cNvPr id="13" name="Text 11"/>
          <p:cNvSpPr/>
          <p:nvPr/>
        </p:nvSpPr>
        <p:spPr>
          <a:xfrm>
            <a:off x="46634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Điểm Danh Mã QR</a:t>
            </a:r>
            <a:endParaRPr lang="en-US" sz="1350" dirty="0"/>
          </a:p>
        </p:txBody>
      </p:sp>
      <p:sp>
        <p:nvSpPr>
          <p:cNvPr id="14" name="Text 12"/>
          <p:cNvSpPr/>
          <p:nvPr/>
        </p:nvSpPr>
        <p:spPr>
          <a:xfrm>
            <a:off x="46634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Tốc độ quét 1 giây, chống trùng</a:t>
            </a:r>
            <a:endParaRPr lang="en-US" sz="1050" dirty="0"/>
          </a:p>
        </p:txBody>
      </p:sp>
      <p:sp>
        <p:nvSpPr>
          <p:cNvPr id="15" name="Shape 13"/>
          <p:cNvSpPr/>
          <p:nvPr/>
        </p:nvSpPr>
        <p:spPr>
          <a:xfrm>
            <a:off x="8046720" y="4389120"/>
            <a:ext cx="3383280" cy="1645920"/>
          </a:xfrm>
          <a:prstGeom prst="rect">
            <a:avLst/>
          </a:prstGeom>
          <a:solidFill>
            <a:srgbClr val="132A56"/>
          </a:solidFill>
          <a:ln w="19050">
            <a:solidFill>
              <a:srgbClr val="003B95"/>
            </a:solidFill>
            <a:prstDash val="solid"/>
          </a:ln>
        </p:spPr>
      </p:sp>
      <p:sp>
        <p:nvSpPr>
          <p:cNvPr id="16" name="Text 14"/>
          <p:cNvSpPr/>
          <p:nvPr/>
        </p:nvSpPr>
        <p:spPr>
          <a:xfrm>
            <a:off x="8321040" y="4572000"/>
            <a:ext cx="2834640" cy="640080"/>
          </a:xfrm>
          <a:prstGeom prst="rect">
            <a:avLst/>
          </a:prstGeom>
          <a:noFill/>
          <a:ln/>
        </p:spPr>
        <p:txBody>
          <a:bodyPr wrap="square" rtlCol="0" anchor="ctr"/>
          <a:lstStyle/>
          <a:p>
            <a:pPr indent="0" marL="0">
              <a:buNone/>
            </a:pPr>
            <a:r>
              <a:rPr lang="en-US" sz="3200" b="1" dirty="0">
                <a:solidFill>
                  <a:srgbClr val="F59E0B"/>
                </a:solidFill>
                <a:latin typeface="Calibri" pitchFamily="34" charset="0"/>
                <a:ea typeface="Calibri" pitchFamily="34" charset="-122"/>
                <a:cs typeface="Calibri" pitchFamily="34" charset="-120"/>
              </a:rPr>
              <a:t>04</a:t>
            </a:r>
            <a:endParaRPr lang="en-US" sz="3200" dirty="0"/>
          </a:p>
        </p:txBody>
      </p:sp>
      <p:sp>
        <p:nvSpPr>
          <p:cNvPr id="17" name="Text 15"/>
          <p:cNvSpPr/>
          <p:nvPr/>
        </p:nvSpPr>
        <p:spPr>
          <a:xfrm>
            <a:off x="8321040" y="5257800"/>
            <a:ext cx="2834640" cy="365760"/>
          </a:xfrm>
          <a:prstGeom prst="rect">
            <a:avLst/>
          </a:prstGeom>
          <a:noFill/>
          <a:ln/>
        </p:spPr>
        <p:txBody>
          <a:bodyPr wrap="square"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Cấp Phân Quyền RBAC</a:t>
            </a:r>
            <a:endParaRPr lang="en-US" sz="1350" dirty="0"/>
          </a:p>
        </p:txBody>
      </p:sp>
      <p:sp>
        <p:nvSpPr>
          <p:cNvPr id="18" name="Text 16"/>
          <p:cNvSpPr/>
          <p:nvPr/>
        </p:nvSpPr>
        <p:spPr>
          <a:xfrm>
            <a:off x="8321040" y="5623560"/>
            <a:ext cx="2834640" cy="320040"/>
          </a:xfrm>
          <a:prstGeom prst="rect">
            <a:avLst/>
          </a:prstGeom>
          <a:noFill/>
          <a:ln/>
        </p:spPr>
        <p:txBody>
          <a:bodyPr wrap="square" rtlCol="0" anchor="ctr"/>
          <a:lstStyle/>
          <a:p>
            <a:pPr indent="0" marL="0">
              <a:buNone/>
            </a:pPr>
            <a:r>
              <a:rPr lang="en-US" sz="1050" dirty="0">
                <a:solidFill>
                  <a:srgbClr val="E2E8F0"/>
                </a:solidFill>
                <a:latin typeface="Calibri" pitchFamily="34" charset="0"/>
                <a:ea typeface="Calibri" pitchFamily="34" charset="-122"/>
                <a:cs typeface="Calibri" pitchFamily="34" charset="-120"/>
              </a:rPr>
              <a:t>Super Admin, Thư ký, Sự kiện, Tài chính</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 TOÀN &amp; BẢO MẬT</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Phân Quyền Vai Trò Quản Trị (Role-Based Access Control)</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Phân định quyền hạn minh bạch giữa Ban Điều Hành, Ban Thư Ký, Ban Sự Kiện và Ban Tài Chính</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2560320" cy="91440"/>
          </a:xfrm>
          <a:prstGeom prst="rect">
            <a:avLst/>
          </a:prstGeom>
          <a:solidFill>
            <a:srgbClr val="003B95"/>
          </a:solidFill>
          <a:ln/>
        </p:spPr>
      </p:sp>
      <p:sp>
        <p:nvSpPr>
          <p:cNvPr id="12" name="Text 10"/>
          <p:cNvSpPr/>
          <p:nvPr/>
        </p:nvSpPr>
        <p:spPr>
          <a:xfrm>
            <a:off x="960120" y="2148840"/>
            <a:ext cx="2103120" cy="36576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Super Admin</a:t>
            </a:r>
            <a:endParaRPr lang="en-US" sz="1400" dirty="0"/>
          </a:p>
        </p:txBody>
      </p:sp>
      <p:sp>
        <p:nvSpPr>
          <p:cNvPr id="13" name="Text 11"/>
          <p:cNvSpPr/>
          <p:nvPr/>
        </p:nvSpPr>
        <p:spPr>
          <a:xfrm>
            <a:off x="960120" y="2560320"/>
            <a:ext cx="2103120" cy="320040"/>
          </a:xfrm>
          <a:prstGeom prst="rect">
            <a:avLst/>
          </a:prstGeom>
          <a:noFill/>
          <a:ln/>
        </p:spPr>
        <p:txBody>
          <a:bodyPr wrap="square" rtlCol="0" anchor="ctr"/>
          <a:lstStyle/>
          <a:p>
            <a:pPr indent="0" marL="0">
              <a:buNone/>
            </a:pPr>
            <a:r>
              <a:rPr lang="en-US" sz="1050" b="1" dirty="0">
                <a:solidFill>
                  <a:srgbClr val="D97706"/>
                </a:solidFill>
                <a:latin typeface="Consolas" pitchFamily="34" charset="0"/>
                <a:ea typeface="Consolas" pitchFamily="34" charset="-122"/>
                <a:cs typeface="Consolas" pitchFamily="34" charset="-120"/>
              </a:rPr>
              <a:t>admin@connect.vn</a:t>
            </a:r>
            <a:endParaRPr lang="en-US" sz="1050" dirty="0"/>
          </a:p>
        </p:txBody>
      </p:sp>
      <p:sp>
        <p:nvSpPr>
          <p:cNvPr id="14" name="Text 12"/>
          <p:cNvSpPr/>
          <p:nvPr/>
        </p:nvSpPr>
        <p:spPr>
          <a:xfrm>
            <a:off x="960120" y="3017520"/>
            <a:ext cx="2103120" cy="28346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Toàn quyền kiểm soát hệ thống: Quản trị danh mục, phân quyền tài khoản, cấu hình bảo mật SSL, quản lý nhật ký kiểm toán (Audit Logs).</a:t>
            </a:r>
            <a:endParaRPr lang="en-US" sz="110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429000" y="1920240"/>
            <a:ext cx="2560320" cy="91440"/>
          </a:xfrm>
          <a:prstGeom prst="rect">
            <a:avLst/>
          </a:prstGeom>
          <a:solidFill>
            <a:srgbClr val="F59E0B"/>
          </a:solidFill>
          <a:ln/>
        </p:spPr>
      </p:sp>
      <p:sp>
        <p:nvSpPr>
          <p:cNvPr id="17" name="Text 15"/>
          <p:cNvSpPr/>
          <p:nvPr/>
        </p:nvSpPr>
        <p:spPr>
          <a:xfrm>
            <a:off x="3657600" y="2148840"/>
            <a:ext cx="2103120" cy="36576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Tổng Thư Ký CLB</a:t>
            </a:r>
            <a:endParaRPr lang="en-US" sz="1400" dirty="0"/>
          </a:p>
        </p:txBody>
      </p:sp>
      <p:sp>
        <p:nvSpPr>
          <p:cNvPr id="18" name="Text 16"/>
          <p:cNvSpPr/>
          <p:nvPr/>
        </p:nvSpPr>
        <p:spPr>
          <a:xfrm>
            <a:off x="3657600" y="2560320"/>
            <a:ext cx="2103120" cy="320040"/>
          </a:xfrm>
          <a:prstGeom prst="rect">
            <a:avLst/>
          </a:prstGeom>
          <a:noFill/>
          <a:ln/>
        </p:spPr>
        <p:txBody>
          <a:bodyPr wrap="square" rtlCol="0" anchor="ctr"/>
          <a:lstStyle/>
          <a:p>
            <a:pPr indent="0" marL="0">
              <a:buNone/>
            </a:pPr>
            <a:r>
              <a:rPr lang="en-US" sz="1050" b="1" dirty="0">
                <a:solidFill>
                  <a:srgbClr val="D97706"/>
                </a:solidFill>
                <a:latin typeface="Consolas" pitchFamily="34" charset="0"/>
                <a:ea typeface="Consolas" pitchFamily="34" charset="-122"/>
                <a:cs typeface="Consolas" pitchFamily="34" charset="-120"/>
              </a:rPr>
              <a:t>ceo.tongthuky@ceo1983.com</a:t>
            </a:r>
            <a:endParaRPr lang="en-US" sz="1050" dirty="0"/>
          </a:p>
        </p:txBody>
      </p:sp>
      <p:sp>
        <p:nvSpPr>
          <p:cNvPr id="19" name="Text 17"/>
          <p:cNvSpPr/>
          <p:nvPr/>
        </p:nvSpPr>
        <p:spPr>
          <a:xfrm>
            <a:off x="3657600" y="3017520"/>
            <a:ext cx="2103120" cy="28346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Thẩm định hồ sơ hội viên mới, duyệt đơn đăng ký từ Landing Page, xuất bản tin tức, nghị quyết BCH và gửi thông báo khẩn toàn hiệp hội.</a:t>
            </a:r>
            <a:endParaRPr lang="en-US" sz="110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126480" y="1920240"/>
            <a:ext cx="2560320" cy="91440"/>
          </a:xfrm>
          <a:prstGeom prst="rect">
            <a:avLst/>
          </a:prstGeom>
          <a:solidFill>
            <a:srgbClr val="059669"/>
          </a:solidFill>
          <a:ln/>
        </p:spPr>
      </p:sp>
      <p:sp>
        <p:nvSpPr>
          <p:cNvPr id="22" name="Text 20"/>
          <p:cNvSpPr/>
          <p:nvPr/>
        </p:nvSpPr>
        <p:spPr>
          <a:xfrm>
            <a:off x="6355080" y="2148840"/>
            <a:ext cx="2103120" cy="36576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Trưởng Ban Sự Kiện</a:t>
            </a:r>
            <a:endParaRPr lang="en-US" sz="1400" dirty="0"/>
          </a:p>
        </p:txBody>
      </p:sp>
      <p:sp>
        <p:nvSpPr>
          <p:cNvPr id="23" name="Text 21"/>
          <p:cNvSpPr/>
          <p:nvPr/>
        </p:nvSpPr>
        <p:spPr>
          <a:xfrm>
            <a:off x="6355080" y="2560320"/>
            <a:ext cx="2103120" cy="320040"/>
          </a:xfrm>
          <a:prstGeom prst="rect">
            <a:avLst/>
          </a:prstGeom>
          <a:noFill/>
          <a:ln/>
        </p:spPr>
        <p:txBody>
          <a:bodyPr wrap="square" rtlCol="0" anchor="ctr"/>
          <a:lstStyle/>
          <a:p>
            <a:pPr indent="0" marL="0">
              <a:buNone/>
            </a:pPr>
            <a:r>
              <a:rPr lang="en-US" sz="1050" b="1" dirty="0">
                <a:solidFill>
                  <a:srgbClr val="D97706"/>
                </a:solidFill>
                <a:latin typeface="Consolas" pitchFamily="34" charset="0"/>
                <a:ea typeface="Consolas" pitchFamily="34" charset="-122"/>
                <a:cs typeface="Consolas" pitchFamily="34" charset="-120"/>
              </a:rPr>
              <a:t>events@ceo1983.com</a:t>
            </a:r>
            <a:endParaRPr lang="en-US" sz="1050" dirty="0"/>
          </a:p>
        </p:txBody>
      </p:sp>
      <p:sp>
        <p:nvSpPr>
          <p:cNvPr id="24" name="Text 22"/>
          <p:cNvSpPr/>
          <p:nvPr/>
        </p:nvSpPr>
        <p:spPr>
          <a:xfrm>
            <a:off x="6355080" y="3017520"/>
            <a:ext cx="2103120" cy="28346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Tạo mới sự kiện, cấu hình sơ đồ khán phòng (Cinema Seating), quét mã QR check-in cổng, điều hành phiên Live Voting và vòng quay Lucky Draw.</a:t>
            </a:r>
            <a:endParaRPr lang="en-US" sz="110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8823960" y="1920240"/>
            <a:ext cx="2560320" cy="91440"/>
          </a:xfrm>
          <a:prstGeom prst="rect">
            <a:avLst/>
          </a:prstGeom>
          <a:solidFill>
            <a:srgbClr val="002B70"/>
          </a:solidFill>
          <a:ln/>
        </p:spPr>
      </p:sp>
      <p:sp>
        <p:nvSpPr>
          <p:cNvPr id="27" name="Text 25"/>
          <p:cNvSpPr/>
          <p:nvPr/>
        </p:nvSpPr>
        <p:spPr>
          <a:xfrm>
            <a:off x="9052560" y="2148840"/>
            <a:ext cx="2103120" cy="36576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Trưởng Ban Tài Chính</a:t>
            </a:r>
            <a:endParaRPr lang="en-US" sz="1400" dirty="0"/>
          </a:p>
        </p:txBody>
      </p:sp>
      <p:sp>
        <p:nvSpPr>
          <p:cNvPr id="28" name="Text 26"/>
          <p:cNvSpPr/>
          <p:nvPr/>
        </p:nvSpPr>
        <p:spPr>
          <a:xfrm>
            <a:off x="9052560" y="2560320"/>
            <a:ext cx="2103120" cy="320040"/>
          </a:xfrm>
          <a:prstGeom prst="rect">
            <a:avLst/>
          </a:prstGeom>
          <a:noFill/>
          <a:ln/>
        </p:spPr>
        <p:txBody>
          <a:bodyPr wrap="square" rtlCol="0" anchor="ctr"/>
          <a:lstStyle/>
          <a:p>
            <a:pPr indent="0" marL="0">
              <a:buNone/>
            </a:pPr>
            <a:r>
              <a:rPr lang="en-US" sz="1050" b="1" dirty="0">
                <a:solidFill>
                  <a:srgbClr val="D97706"/>
                </a:solidFill>
                <a:latin typeface="Consolas" pitchFamily="34" charset="0"/>
                <a:ea typeface="Consolas" pitchFamily="34" charset="-122"/>
                <a:cs typeface="Consolas" pitchFamily="34" charset="-120"/>
              </a:rPr>
              <a:t>finance@ceo1983.com</a:t>
            </a:r>
            <a:endParaRPr lang="en-US" sz="1050" dirty="0"/>
          </a:p>
        </p:txBody>
      </p:sp>
      <p:sp>
        <p:nvSpPr>
          <p:cNvPr id="29" name="Text 27"/>
          <p:cNvSpPr/>
          <p:nvPr/>
        </p:nvSpPr>
        <p:spPr>
          <a:xfrm>
            <a:off x="9052560" y="3017520"/>
            <a:ext cx="2103120" cy="2834640"/>
          </a:xfrm>
          <a:prstGeom prst="rect">
            <a:avLst/>
          </a:prstGeom>
          <a:noFill/>
          <a:ln/>
        </p:spPr>
        <p:txBody>
          <a:bodyPr wrap="square" rtlCol="0" anchor="ctr"/>
          <a:lstStyle/>
          <a:p>
            <a:pPr indent="0" marL="0">
              <a:buNone/>
            </a:pPr>
            <a:r>
              <a:rPr lang="en-US" sz="1100" dirty="0">
                <a:solidFill>
                  <a:srgbClr val="334155"/>
                </a:solidFill>
                <a:latin typeface="Calibri" pitchFamily="34" charset="0"/>
                <a:ea typeface="Calibri" pitchFamily="34" charset="-122"/>
                <a:cs typeface="Calibri" pitchFamily="34" charset="-120"/>
              </a:rPr>
              <a:t>Theo dõi bảng hội phí thường niên theo niên độ, đối soát sao kê ngân hàng VietQR, gạch nợ hội phí tự động và báo cáo thu chi hiệp hội.</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BÁO CÁO ĐIỀU HÀNH</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Bảng Điều Khiển Dashboard — Giám Sát Chỉ Số KPI Thời Gian Thực</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Bức tranh toàn cảnh về quy mô hội viên, sức khỏe tài chính và lưu lượng giao thương B2B</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5212080" cy="1965960"/>
          </a:xfrm>
          <a:prstGeom prst="rect">
            <a:avLst/>
          </a:prstGeom>
          <a:solidFill>
            <a:srgbClr val="FFFFFF"/>
          </a:solidFill>
          <a:ln w="15240">
            <a:solidFill>
              <a:srgbClr val="E2E8F0"/>
            </a:solidFill>
            <a:prstDash val="solid"/>
          </a:ln>
        </p:spPr>
      </p:sp>
      <p:sp>
        <p:nvSpPr>
          <p:cNvPr id="11" name="Shape 9"/>
          <p:cNvSpPr/>
          <p:nvPr/>
        </p:nvSpPr>
        <p:spPr>
          <a:xfrm>
            <a:off x="731520" y="1920240"/>
            <a:ext cx="109728" cy="1965960"/>
          </a:xfrm>
          <a:prstGeom prst="rect">
            <a:avLst/>
          </a:prstGeom>
          <a:solidFill>
            <a:srgbClr val="003B95"/>
          </a:solidFill>
          <a:ln/>
        </p:spPr>
      </p:sp>
      <p:sp>
        <p:nvSpPr>
          <p:cNvPr id="12" name="Text 10"/>
          <p:cNvSpPr/>
          <p:nvPr/>
        </p:nvSpPr>
        <p:spPr>
          <a:xfrm>
            <a:off x="1051560" y="2148840"/>
            <a:ext cx="4663440" cy="320040"/>
          </a:xfrm>
          <a:prstGeom prst="rect">
            <a:avLst/>
          </a:prstGeom>
          <a:noFill/>
          <a:ln/>
        </p:spPr>
        <p:txBody>
          <a:bodyPr wrap="square"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Tổng Số Hội Viên Chính Thức</a:t>
            </a:r>
            <a:endParaRPr lang="en-US" sz="1150" dirty="0"/>
          </a:p>
        </p:txBody>
      </p:sp>
      <p:sp>
        <p:nvSpPr>
          <p:cNvPr id="13" name="Text 11"/>
          <p:cNvSpPr/>
          <p:nvPr/>
        </p:nvSpPr>
        <p:spPr>
          <a:xfrm>
            <a:off x="1051560" y="2514600"/>
            <a:ext cx="4663440"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100+ Lãnh Đạo</a:t>
            </a:r>
            <a:endParaRPr lang="en-US" sz="2400" dirty="0"/>
          </a:p>
        </p:txBody>
      </p:sp>
      <p:sp>
        <p:nvSpPr>
          <p:cNvPr id="14" name="Text 12"/>
          <p:cNvSpPr/>
          <p:nvPr/>
        </p:nvSpPr>
        <p:spPr>
          <a:xfrm>
            <a:off x="1051560" y="3154680"/>
            <a:ext cx="4663440" cy="54864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Chủ tịch HĐQT, Tổng Giám Đốc, CEO tuổi Quý Hợi 1983</a:t>
            </a:r>
            <a:endParaRPr lang="en-US" sz="1150" dirty="0"/>
          </a:p>
        </p:txBody>
      </p:sp>
      <p:sp>
        <p:nvSpPr>
          <p:cNvPr id="15" name="Shape 13"/>
          <p:cNvSpPr/>
          <p:nvPr/>
        </p:nvSpPr>
        <p:spPr>
          <a:xfrm>
            <a:off x="6217920" y="1920240"/>
            <a:ext cx="5212080" cy="1965960"/>
          </a:xfrm>
          <a:prstGeom prst="rect">
            <a:avLst/>
          </a:prstGeom>
          <a:solidFill>
            <a:srgbClr val="FFFFFF"/>
          </a:solidFill>
          <a:ln w="15240">
            <a:solidFill>
              <a:srgbClr val="E2E8F0"/>
            </a:solidFill>
            <a:prstDash val="solid"/>
          </a:ln>
        </p:spPr>
      </p:sp>
      <p:sp>
        <p:nvSpPr>
          <p:cNvPr id="16" name="Shape 14"/>
          <p:cNvSpPr/>
          <p:nvPr/>
        </p:nvSpPr>
        <p:spPr>
          <a:xfrm>
            <a:off x="6217920" y="1920240"/>
            <a:ext cx="109728" cy="1965960"/>
          </a:xfrm>
          <a:prstGeom prst="rect">
            <a:avLst/>
          </a:prstGeom>
          <a:solidFill>
            <a:srgbClr val="F59E0B"/>
          </a:solidFill>
          <a:ln/>
        </p:spPr>
      </p:sp>
      <p:sp>
        <p:nvSpPr>
          <p:cNvPr id="17" name="Text 15"/>
          <p:cNvSpPr/>
          <p:nvPr/>
        </p:nvSpPr>
        <p:spPr>
          <a:xfrm>
            <a:off x="6537960" y="2148840"/>
            <a:ext cx="4663440" cy="320040"/>
          </a:xfrm>
          <a:prstGeom prst="rect">
            <a:avLst/>
          </a:prstGeom>
          <a:noFill/>
          <a:ln/>
        </p:spPr>
        <p:txBody>
          <a:bodyPr wrap="square"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Tỷ Lệ Hoàn Tất Hội Phí Niên Độ</a:t>
            </a:r>
            <a:endParaRPr lang="en-US" sz="1150" dirty="0"/>
          </a:p>
        </p:txBody>
      </p:sp>
      <p:sp>
        <p:nvSpPr>
          <p:cNvPr id="18" name="Text 16"/>
          <p:cNvSpPr/>
          <p:nvPr/>
        </p:nvSpPr>
        <p:spPr>
          <a:xfrm>
            <a:off x="6537960" y="2514600"/>
            <a:ext cx="4663440"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92.5% Đạt Chuẩn</a:t>
            </a:r>
            <a:endParaRPr lang="en-US" sz="2400" dirty="0"/>
          </a:p>
        </p:txBody>
      </p:sp>
      <p:sp>
        <p:nvSpPr>
          <p:cNvPr id="19" name="Text 17"/>
          <p:cNvSpPr/>
          <p:nvPr/>
        </p:nvSpPr>
        <p:spPr>
          <a:xfrm>
            <a:off x="6537960" y="3154680"/>
            <a:ext cx="4663440" cy="54864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Gạch nợ đối soát sao kê tự động qua cổng VietQR</a:t>
            </a:r>
            <a:endParaRPr lang="en-US" sz="1150" dirty="0"/>
          </a:p>
        </p:txBody>
      </p:sp>
      <p:sp>
        <p:nvSpPr>
          <p:cNvPr id="20" name="Shape 18"/>
          <p:cNvSpPr/>
          <p:nvPr/>
        </p:nvSpPr>
        <p:spPr>
          <a:xfrm>
            <a:off x="731520" y="4069080"/>
            <a:ext cx="5212080" cy="1965960"/>
          </a:xfrm>
          <a:prstGeom prst="rect">
            <a:avLst/>
          </a:prstGeom>
          <a:solidFill>
            <a:srgbClr val="FFFFFF"/>
          </a:solidFill>
          <a:ln w="15240">
            <a:solidFill>
              <a:srgbClr val="E2E8F0"/>
            </a:solidFill>
            <a:prstDash val="solid"/>
          </a:ln>
        </p:spPr>
      </p:sp>
      <p:sp>
        <p:nvSpPr>
          <p:cNvPr id="21" name="Shape 19"/>
          <p:cNvSpPr/>
          <p:nvPr/>
        </p:nvSpPr>
        <p:spPr>
          <a:xfrm>
            <a:off x="731520" y="4069080"/>
            <a:ext cx="109728" cy="1965960"/>
          </a:xfrm>
          <a:prstGeom prst="rect">
            <a:avLst/>
          </a:prstGeom>
          <a:solidFill>
            <a:srgbClr val="003B95"/>
          </a:solidFill>
          <a:ln/>
        </p:spPr>
      </p:sp>
      <p:sp>
        <p:nvSpPr>
          <p:cNvPr id="22" name="Text 20"/>
          <p:cNvSpPr/>
          <p:nvPr/>
        </p:nvSpPr>
        <p:spPr>
          <a:xfrm>
            <a:off x="1051560" y="4297680"/>
            <a:ext cx="4663440" cy="320040"/>
          </a:xfrm>
          <a:prstGeom prst="rect">
            <a:avLst/>
          </a:prstGeom>
          <a:noFill/>
          <a:ln/>
        </p:spPr>
        <p:txBody>
          <a:bodyPr wrap="square"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Sự Kiện &amp; Gala Tổ Chức</a:t>
            </a:r>
            <a:endParaRPr lang="en-US" sz="1150" dirty="0"/>
          </a:p>
        </p:txBody>
      </p:sp>
      <p:sp>
        <p:nvSpPr>
          <p:cNvPr id="23" name="Text 21"/>
          <p:cNvSpPr/>
          <p:nvPr/>
        </p:nvSpPr>
        <p:spPr>
          <a:xfrm>
            <a:off x="1051560" y="4663440"/>
            <a:ext cx="4663440"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12 Sự Kiện/Năm</a:t>
            </a:r>
            <a:endParaRPr lang="en-US" sz="2400" dirty="0"/>
          </a:p>
        </p:txBody>
      </p:sp>
      <p:sp>
        <p:nvSpPr>
          <p:cNvPr id="24" name="Text 22"/>
          <p:cNvSpPr/>
          <p:nvPr/>
        </p:nvSpPr>
        <p:spPr>
          <a:xfrm>
            <a:off x="1051560" y="5303520"/>
            <a:ext cx="4663440" cy="54864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Bao gồm Đại hội thường niên, Business Matching Day &amp; Giải Golf</a:t>
            </a:r>
            <a:endParaRPr lang="en-US" sz="1150" dirty="0"/>
          </a:p>
        </p:txBody>
      </p:sp>
      <p:sp>
        <p:nvSpPr>
          <p:cNvPr id="25" name="Shape 23"/>
          <p:cNvSpPr/>
          <p:nvPr/>
        </p:nvSpPr>
        <p:spPr>
          <a:xfrm>
            <a:off x="6217920" y="4069080"/>
            <a:ext cx="5212080" cy="1965960"/>
          </a:xfrm>
          <a:prstGeom prst="rect">
            <a:avLst/>
          </a:prstGeom>
          <a:solidFill>
            <a:srgbClr val="FFFFFF"/>
          </a:solidFill>
          <a:ln w="15240">
            <a:solidFill>
              <a:srgbClr val="E2E8F0"/>
            </a:solidFill>
            <a:prstDash val="solid"/>
          </a:ln>
        </p:spPr>
      </p:sp>
      <p:sp>
        <p:nvSpPr>
          <p:cNvPr id="26" name="Shape 24"/>
          <p:cNvSpPr/>
          <p:nvPr/>
        </p:nvSpPr>
        <p:spPr>
          <a:xfrm>
            <a:off x="6217920" y="4069080"/>
            <a:ext cx="109728" cy="1965960"/>
          </a:xfrm>
          <a:prstGeom prst="rect">
            <a:avLst/>
          </a:prstGeom>
          <a:solidFill>
            <a:srgbClr val="F59E0B"/>
          </a:solidFill>
          <a:ln/>
        </p:spPr>
      </p:sp>
      <p:sp>
        <p:nvSpPr>
          <p:cNvPr id="27" name="Text 25"/>
          <p:cNvSpPr/>
          <p:nvPr/>
        </p:nvSpPr>
        <p:spPr>
          <a:xfrm>
            <a:off x="6537960" y="4297680"/>
            <a:ext cx="4663440" cy="320040"/>
          </a:xfrm>
          <a:prstGeom prst="rect">
            <a:avLst/>
          </a:prstGeom>
          <a:noFill/>
          <a:ln/>
        </p:spPr>
        <p:txBody>
          <a:bodyPr wrap="square" rtlCol="0" anchor="ctr"/>
          <a:lstStyle/>
          <a:p>
            <a:pPr indent="0" marL="0">
              <a:buNone/>
            </a:pPr>
            <a:r>
              <a:rPr lang="en-US" sz="1150" b="1" dirty="0">
                <a:solidFill>
                  <a:srgbClr val="64748B"/>
                </a:solidFill>
                <a:latin typeface="Calibri" pitchFamily="34" charset="0"/>
                <a:ea typeface="Calibri" pitchFamily="34" charset="-122"/>
                <a:cs typeface="Calibri" pitchFamily="34" charset="-120"/>
              </a:rPr>
              <a:t>Giá Trị Giao Thương Kết Nối B2B</a:t>
            </a:r>
            <a:endParaRPr lang="en-US" sz="1150" dirty="0"/>
          </a:p>
        </p:txBody>
      </p:sp>
      <p:sp>
        <p:nvSpPr>
          <p:cNvPr id="28" name="Text 26"/>
          <p:cNvSpPr/>
          <p:nvPr/>
        </p:nvSpPr>
        <p:spPr>
          <a:xfrm>
            <a:off x="6537960" y="4663440"/>
            <a:ext cx="4663440"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Hơn 50+ Tỷ Đồng</a:t>
            </a:r>
            <a:endParaRPr lang="en-US" sz="2400" dirty="0"/>
          </a:p>
        </p:txBody>
      </p:sp>
      <p:sp>
        <p:nvSpPr>
          <p:cNvPr id="29" name="Text 27"/>
          <p:cNvSpPr/>
          <p:nvPr/>
        </p:nvSpPr>
        <p:spPr>
          <a:xfrm>
            <a:off x="6537960" y="5303520"/>
            <a:ext cx="4663440" cy="54864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Tổng giá trị hợp đồng được claim và ghi nhận thành công</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QUẢN LÝ HỘI VIÊN 360°</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Quy Trình Tiếp Nhận &amp; Phê Duyệt Hồ Sơ Trực Tuyến</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Khép kín từ form đăng ký Landing Page đến kích hoạt tài khoản di động trong 1 cú nhấp</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960120" y="2194560"/>
            <a:ext cx="1097280" cy="320040"/>
          </a:xfrm>
          <a:prstGeom prst="rect">
            <a:avLst/>
          </a:prstGeom>
          <a:solidFill>
            <a:srgbClr val="003B95"/>
          </a:solidFill>
          <a:ln/>
        </p:spPr>
      </p:sp>
      <p:sp>
        <p:nvSpPr>
          <p:cNvPr id="12" name="Text 10"/>
          <p:cNvSpPr/>
          <p:nvPr/>
        </p:nvSpPr>
        <p:spPr>
          <a:xfrm>
            <a:off x="960120" y="2194560"/>
            <a:ext cx="1097280" cy="32004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BƯỚC 1</a:t>
            </a:r>
            <a:endParaRPr lang="en-US" sz="1000" dirty="0"/>
          </a:p>
        </p:txBody>
      </p:sp>
      <p:sp>
        <p:nvSpPr>
          <p:cNvPr id="13" name="Text 11"/>
          <p:cNvSpPr/>
          <p:nvPr/>
        </p:nvSpPr>
        <p:spPr>
          <a:xfrm>
            <a:off x="960120" y="2697480"/>
            <a:ext cx="2103120" cy="73152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Tiếp Nhận Đơn Từ Landing Page</a:t>
            </a:r>
            <a:endParaRPr lang="en-US" sz="1350" dirty="0"/>
          </a:p>
        </p:txBody>
      </p:sp>
      <p:sp>
        <p:nvSpPr>
          <p:cNvPr id="14" name="Text 12"/>
          <p:cNvSpPr/>
          <p:nvPr/>
        </p:nvSpPr>
        <p:spPr>
          <a:xfrm>
            <a:off x="960120" y="3520440"/>
            <a:ext cx="2103120" cy="22860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Hồ sơ đăng ký mới từ form Landing Page (/landing/ceo1983) tự động đổ về CRM với trạng thái "Chờ xét duyệt" màu vàng.</a:t>
            </a:r>
            <a:endParaRPr lang="en-US" sz="115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657600" y="2194560"/>
            <a:ext cx="1097280" cy="320040"/>
          </a:xfrm>
          <a:prstGeom prst="rect">
            <a:avLst/>
          </a:prstGeom>
          <a:solidFill>
            <a:srgbClr val="003B95"/>
          </a:solidFill>
          <a:ln/>
        </p:spPr>
      </p:sp>
      <p:sp>
        <p:nvSpPr>
          <p:cNvPr id="17" name="Text 15"/>
          <p:cNvSpPr/>
          <p:nvPr/>
        </p:nvSpPr>
        <p:spPr>
          <a:xfrm>
            <a:off x="3657600" y="2194560"/>
            <a:ext cx="1097280" cy="32004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BƯỚC 2</a:t>
            </a:r>
            <a:endParaRPr lang="en-US" sz="1000" dirty="0"/>
          </a:p>
        </p:txBody>
      </p:sp>
      <p:sp>
        <p:nvSpPr>
          <p:cNvPr id="18" name="Text 16"/>
          <p:cNvSpPr/>
          <p:nvPr/>
        </p:nvSpPr>
        <p:spPr>
          <a:xfrm>
            <a:off x="3657600" y="2697480"/>
            <a:ext cx="2103120" cy="73152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Thẩm Định Hồ Sơ Chi Tiết (Drawer 360°)</a:t>
            </a:r>
            <a:endParaRPr lang="en-US" sz="1350" dirty="0"/>
          </a:p>
        </p:txBody>
      </p:sp>
      <p:sp>
        <p:nvSpPr>
          <p:cNvPr id="19" name="Text 17"/>
          <p:cNvSpPr/>
          <p:nvPr/>
        </p:nvSpPr>
        <p:spPr>
          <a:xfrm>
            <a:off x="3657600" y="3520440"/>
            <a:ext cx="2103120" cy="22860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Ban Thư ký mở Drawer kiểm tra MST, giấy phép ĐKKD, chức vụ C-Level, quy mô doanh thu và lĩnh vực kinh doanh.</a:t>
            </a:r>
            <a:endParaRPr lang="en-US" sz="115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355080" y="2194560"/>
            <a:ext cx="1097280" cy="320040"/>
          </a:xfrm>
          <a:prstGeom prst="rect">
            <a:avLst/>
          </a:prstGeom>
          <a:solidFill>
            <a:srgbClr val="003B95"/>
          </a:solidFill>
          <a:ln/>
        </p:spPr>
      </p:sp>
      <p:sp>
        <p:nvSpPr>
          <p:cNvPr id="22" name="Text 20"/>
          <p:cNvSpPr/>
          <p:nvPr/>
        </p:nvSpPr>
        <p:spPr>
          <a:xfrm>
            <a:off x="6355080" y="2194560"/>
            <a:ext cx="1097280" cy="32004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BƯỚC 3</a:t>
            </a:r>
            <a:endParaRPr lang="en-US" sz="1000" dirty="0"/>
          </a:p>
        </p:txBody>
      </p:sp>
      <p:sp>
        <p:nvSpPr>
          <p:cNvPr id="23" name="Text 21"/>
          <p:cNvSpPr/>
          <p:nvPr/>
        </p:nvSpPr>
        <p:spPr>
          <a:xfrm>
            <a:off x="6355080" y="2697480"/>
            <a:ext cx="2103120" cy="73152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Thao Tác Phê Duyệt (Approve)</a:t>
            </a:r>
            <a:endParaRPr lang="en-US" sz="1350" dirty="0"/>
          </a:p>
        </p:txBody>
      </p:sp>
      <p:sp>
        <p:nvSpPr>
          <p:cNvPr id="24" name="Text 22"/>
          <p:cNvSpPr/>
          <p:nvPr/>
        </p:nvSpPr>
        <p:spPr>
          <a:xfrm>
            <a:off x="6355080" y="3520440"/>
            <a:ext cx="2103120" cy="22860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Bấm nút Phê duyệt: Hệ thống tự động kích hoạt tài khoản hội viên, sinh mã định danh VIP (CEO-1983-xxx) và cấp quyền đăng nhập app.</a:t>
            </a:r>
            <a:endParaRPr lang="en-US" sz="115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9052560" y="2194560"/>
            <a:ext cx="1097280" cy="320040"/>
          </a:xfrm>
          <a:prstGeom prst="rect">
            <a:avLst/>
          </a:prstGeom>
          <a:solidFill>
            <a:srgbClr val="003B95"/>
          </a:solidFill>
          <a:ln/>
        </p:spPr>
      </p:sp>
      <p:sp>
        <p:nvSpPr>
          <p:cNvPr id="27" name="Text 25"/>
          <p:cNvSpPr/>
          <p:nvPr/>
        </p:nvSpPr>
        <p:spPr>
          <a:xfrm>
            <a:off x="9052560" y="2194560"/>
            <a:ext cx="1097280" cy="320040"/>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BƯỚC 4</a:t>
            </a:r>
            <a:endParaRPr lang="en-US" sz="1000" dirty="0"/>
          </a:p>
        </p:txBody>
      </p:sp>
      <p:sp>
        <p:nvSpPr>
          <p:cNvPr id="28" name="Text 26"/>
          <p:cNvSpPr/>
          <p:nvPr/>
        </p:nvSpPr>
        <p:spPr>
          <a:xfrm>
            <a:off x="9052560" y="2697480"/>
            <a:ext cx="2103120" cy="73152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Cập Nhật Thời Gian Thực Về Landing</a:t>
            </a:r>
            <a:endParaRPr lang="en-US" sz="1350" dirty="0"/>
          </a:p>
        </p:txBody>
      </p:sp>
      <p:sp>
        <p:nvSpPr>
          <p:cNvPr id="29" name="Text 27"/>
          <p:cNvSpPr/>
          <p:nvPr/>
        </p:nvSpPr>
        <p:spPr>
          <a:xfrm>
            <a:off x="9052560" y="3520440"/>
            <a:ext cx="2103120" cy="228600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Màn hình tra cứu trên Landing Page (auto-polling mỗi 4s) ngay lập tức hiển thị thông báo Chúc mừng và nút chuyển vào App.</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TỔ CHỨC ĐẠI HỘI</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Quản Trị Sự Kiện, Sơ Đồ Khán Phòng &amp; Check-in QR Siêu Tốc</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Kiểm soát check-in hội trường 1 giây, định vị số ghế VIP và chống trùng lặp vé 100%</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33832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3383280" cy="91440"/>
          </a:xfrm>
          <a:prstGeom prst="rect">
            <a:avLst/>
          </a:prstGeom>
          <a:solidFill>
            <a:srgbClr val="003B95"/>
          </a:solidFill>
          <a:ln/>
        </p:spPr>
      </p:sp>
      <p:sp>
        <p:nvSpPr>
          <p:cNvPr id="12" name="Text 10"/>
          <p:cNvSpPr/>
          <p:nvPr/>
        </p:nvSpPr>
        <p:spPr>
          <a:xfrm>
            <a:off x="10058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Bố Cục Banner &amp; Thiết Lập Sự Kiện</a:t>
            </a:r>
            <a:endParaRPr lang="en-US" sz="1400" dirty="0"/>
          </a:p>
        </p:txBody>
      </p:sp>
      <p:sp>
        <p:nvSpPr>
          <p:cNvPr id="13" name="Text 11"/>
          <p:cNvSpPr/>
          <p:nvPr/>
        </p:nvSpPr>
        <p:spPr>
          <a:xfrm>
            <a:off x="10058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Hệ thống tự động điều chỉnh tỷ lệ banner theo phân loại: Đại hội thường niên (16:9), Business Matching (21:9) hoặc Hội thảo C-Level (Cinema). Tích hợp cấu hình vé VIP 0đ và vé khách mời.</a:t>
            </a:r>
            <a:endParaRPr lang="en-US" sz="1200" dirty="0"/>
          </a:p>
        </p:txBody>
      </p:sp>
      <p:sp>
        <p:nvSpPr>
          <p:cNvPr id="14" name="Shape 12"/>
          <p:cNvSpPr/>
          <p:nvPr/>
        </p:nvSpPr>
        <p:spPr>
          <a:xfrm>
            <a:off x="4389120" y="1920240"/>
            <a:ext cx="3383280" cy="4206240"/>
          </a:xfrm>
          <a:prstGeom prst="rect">
            <a:avLst/>
          </a:prstGeom>
          <a:solidFill>
            <a:srgbClr val="FFFFFF"/>
          </a:solidFill>
          <a:ln w="15240">
            <a:solidFill>
              <a:srgbClr val="E2E8F0"/>
            </a:solidFill>
            <a:prstDash val="solid"/>
          </a:ln>
        </p:spPr>
      </p:sp>
      <p:sp>
        <p:nvSpPr>
          <p:cNvPr id="15" name="Shape 13"/>
          <p:cNvSpPr/>
          <p:nvPr/>
        </p:nvSpPr>
        <p:spPr>
          <a:xfrm>
            <a:off x="4389120" y="1920240"/>
            <a:ext cx="3383280" cy="91440"/>
          </a:xfrm>
          <a:prstGeom prst="rect">
            <a:avLst/>
          </a:prstGeom>
          <a:solidFill>
            <a:srgbClr val="F59E0B"/>
          </a:solidFill>
          <a:ln/>
        </p:spPr>
      </p:sp>
      <p:sp>
        <p:nvSpPr>
          <p:cNvPr id="16" name="Text 14"/>
          <p:cNvSpPr/>
          <p:nvPr/>
        </p:nvSpPr>
        <p:spPr>
          <a:xfrm>
            <a:off x="46634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Sơ Đồ Khán Phòng (Cinema Seating Map)</a:t>
            </a:r>
            <a:endParaRPr lang="en-US" sz="1400" dirty="0"/>
          </a:p>
        </p:txBody>
      </p:sp>
      <p:sp>
        <p:nvSpPr>
          <p:cNvPr id="17" name="Text 15"/>
          <p:cNvSpPr/>
          <p:nvPr/>
        </p:nvSpPr>
        <p:spPr>
          <a:xfrm>
            <a:off x="46634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Thiết lập ma trận ghế ngồi trực quan gồm các khu vực: VIP Kim Cương (hàng đầu), Đoàn Chủ Tịch, Hội Viên Chính Thức và Khách Mời. Hội viên chọn chỗ chính xác theo thời gian thực.</a:t>
            </a:r>
            <a:endParaRPr lang="en-US" sz="1200" dirty="0"/>
          </a:p>
        </p:txBody>
      </p:sp>
      <p:sp>
        <p:nvSpPr>
          <p:cNvPr id="18" name="Shape 16"/>
          <p:cNvSpPr/>
          <p:nvPr/>
        </p:nvSpPr>
        <p:spPr>
          <a:xfrm>
            <a:off x="8046720" y="1920240"/>
            <a:ext cx="3383280" cy="4206240"/>
          </a:xfrm>
          <a:prstGeom prst="rect">
            <a:avLst/>
          </a:prstGeom>
          <a:solidFill>
            <a:srgbClr val="FFFFFF"/>
          </a:solidFill>
          <a:ln w="15240">
            <a:solidFill>
              <a:srgbClr val="E2E8F0"/>
            </a:solidFill>
            <a:prstDash val="solid"/>
          </a:ln>
        </p:spPr>
      </p:sp>
      <p:sp>
        <p:nvSpPr>
          <p:cNvPr id="19" name="Shape 17"/>
          <p:cNvSpPr/>
          <p:nvPr/>
        </p:nvSpPr>
        <p:spPr>
          <a:xfrm>
            <a:off x="8046720" y="1920240"/>
            <a:ext cx="3383280" cy="91440"/>
          </a:xfrm>
          <a:prstGeom prst="rect">
            <a:avLst/>
          </a:prstGeom>
          <a:solidFill>
            <a:srgbClr val="059669"/>
          </a:solidFill>
          <a:ln/>
        </p:spPr>
      </p:sp>
      <p:sp>
        <p:nvSpPr>
          <p:cNvPr id="20" name="Text 18"/>
          <p:cNvSpPr/>
          <p:nvPr/>
        </p:nvSpPr>
        <p:spPr>
          <a:xfrm>
            <a:off x="83210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Quét Mã QR Check-in Cổng Tốc Độ Cao</a:t>
            </a:r>
            <a:endParaRPr lang="en-US" sz="1400" dirty="0"/>
          </a:p>
        </p:txBody>
      </p:sp>
      <p:sp>
        <p:nvSpPr>
          <p:cNvPr id="21" name="Text 19"/>
          <p:cNvSpPr/>
          <p:nvPr/>
        </p:nvSpPr>
        <p:spPr>
          <a:xfrm>
            <a:off x="83210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Camera quét mã vé QR trên điện thoại trong 1 giây. Hệ thống xác nhận tên, số ghế, ảnh đại diện và bật âm thanh "Tít" thành công. Ngăn chặn triệt để hành vi quét vé 2 lần.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TƯƠNG TÁC SÂN KHẤU</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Điều Hành Biểu Quyết Trực Tiếp (Live Voting) &amp; Bốc Thăm Gala</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Tạo điểm nhấn công nghệ hoành tráng trong các sự kiện lớn của Hiệp hội CEO 1983</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52120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5212080" cy="457200"/>
          </a:xfrm>
          <a:prstGeom prst="rect">
            <a:avLst/>
          </a:prstGeom>
          <a:solidFill>
            <a:srgbClr val="EFF6FF"/>
          </a:solidFill>
          <a:ln/>
        </p:spPr>
      </p:sp>
      <p:sp>
        <p:nvSpPr>
          <p:cNvPr id="12" name="Text 10"/>
          <p:cNvSpPr/>
          <p:nvPr/>
        </p:nvSpPr>
        <p:spPr>
          <a:xfrm>
            <a:off x="1005840" y="1920240"/>
            <a:ext cx="4663440" cy="45720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Bảng Điều Khiển Live Voting</a:t>
            </a:r>
            <a:endParaRPr lang="en-US" sz="1350" dirty="0"/>
          </a:p>
        </p:txBody>
      </p:sp>
      <p:sp>
        <p:nvSpPr>
          <p:cNvPr id="13" name="Text 11"/>
          <p:cNvSpPr/>
          <p:nvPr/>
        </p:nvSpPr>
        <p:spPr>
          <a:xfrm>
            <a:off x="10058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Tạo câu hỏi biểu quyết kèm danh sách ứng viên Ban Chấp Hành.</a:t>
            </a:r>
            <a:endParaRPr lang="en-US" sz="1200" dirty="0"/>
          </a:p>
        </p:txBody>
      </p:sp>
      <p:sp>
        <p:nvSpPr>
          <p:cNvPr id="14" name="Text 12"/>
          <p:cNvSpPr/>
          <p:nvPr/>
        </p:nvSpPr>
        <p:spPr>
          <a:xfrm>
            <a:off x="10058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Bấm nút "Mở phiên bình chọn": Toàn bộ App hội viên tự động bật giao diện bầu cử.</a:t>
            </a:r>
            <a:endParaRPr lang="en-US" sz="1200" dirty="0"/>
          </a:p>
        </p:txBody>
      </p:sp>
      <p:sp>
        <p:nvSpPr>
          <p:cNvPr id="15" name="Text 13"/>
          <p:cNvSpPr/>
          <p:nvPr/>
        </p:nvSpPr>
        <p:spPr>
          <a:xfrm>
            <a:off x="10058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Theo dõi số lượng phiếu bầu tăng theo thời gian thực (Real-time Gauge).</a:t>
            </a:r>
            <a:endParaRPr lang="en-US" sz="1200" dirty="0"/>
          </a:p>
        </p:txBody>
      </p:sp>
      <p:sp>
        <p:nvSpPr>
          <p:cNvPr id="16" name="Text 14"/>
          <p:cNvSpPr/>
          <p:nvPr/>
        </p:nvSpPr>
        <p:spPr>
          <a:xfrm>
            <a:off x="10058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Khóa phiên và trình chiếu biểu đồ kết quả trực tiếp lên màn hình LED.</a:t>
            </a:r>
            <a:endParaRPr lang="en-US" sz="1200" dirty="0"/>
          </a:p>
        </p:txBody>
      </p:sp>
      <p:sp>
        <p:nvSpPr>
          <p:cNvPr id="17" name="Shape 15"/>
          <p:cNvSpPr/>
          <p:nvPr/>
        </p:nvSpPr>
        <p:spPr>
          <a:xfrm>
            <a:off x="6217920" y="1920240"/>
            <a:ext cx="5212080" cy="4206240"/>
          </a:xfrm>
          <a:prstGeom prst="rect">
            <a:avLst/>
          </a:prstGeom>
          <a:solidFill>
            <a:srgbClr val="FFFFFF"/>
          </a:solidFill>
          <a:ln w="15240">
            <a:solidFill>
              <a:srgbClr val="E2E8F0"/>
            </a:solidFill>
            <a:prstDash val="solid"/>
          </a:ln>
        </p:spPr>
      </p:sp>
      <p:sp>
        <p:nvSpPr>
          <p:cNvPr id="18" name="Shape 16"/>
          <p:cNvSpPr/>
          <p:nvPr/>
        </p:nvSpPr>
        <p:spPr>
          <a:xfrm>
            <a:off x="6217920" y="1920240"/>
            <a:ext cx="5212080" cy="457200"/>
          </a:xfrm>
          <a:prstGeom prst="rect">
            <a:avLst/>
          </a:prstGeom>
          <a:solidFill>
            <a:srgbClr val="FEF3C7"/>
          </a:solidFill>
          <a:ln/>
        </p:spPr>
      </p:sp>
      <p:sp>
        <p:nvSpPr>
          <p:cNvPr id="19" name="Text 17"/>
          <p:cNvSpPr/>
          <p:nvPr/>
        </p:nvSpPr>
        <p:spPr>
          <a:xfrm>
            <a:off x="6492240" y="1920240"/>
            <a:ext cx="4663440" cy="457200"/>
          </a:xfrm>
          <a:prstGeom prst="rect">
            <a:avLst/>
          </a:prstGeom>
          <a:noFill/>
          <a:ln/>
        </p:spPr>
        <p:txBody>
          <a:bodyPr wrap="square" rtlCol="0" anchor="ctr"/>
          <a:lstStyle/>
          <a:p>
            <a:pPr indent="0" marL="0">
              <a:buNone/>
            </a:pPr>
            <a:r>
              <a:rPr lang="en-US" sz="1350" b="1" dirty="0">
                <a:solidFill>
                  <a:srgbClr val="D97706"/>
                </a:solidFill>
                <a:latin typeface="Calibri" pitchFamily="34" charset="0"/>
                <a:ea typeface="Calibri" pitchFamily="34" charset="-122"/>
                <a:cs typeface="Calibri" pitchFamily="34" charset="-120"/>
              </a:rPr>
              <a:t>Vận Hành Vòng Quay Lucky Draw</a:t>
            </a:r>
            <a:endParaRPr lang="en-US" sz="1350" dirty="0"/>
          </a:p>
        </p:txBody>
      </p:sp>
      <p:sp>
        <p:nvSpPr>
          <p:cNvPr id="20" name="Text 18"/>
          <p:cNvSpPr/>
          <p:nvPr/>
        </p:nvSpPr>
        <p:spPr>
          <a:xfrm>
            <a:off x="64922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Hệ thống tổng hợp toàn bộ Mã số May mắn (#XXXX) từ các vé đã check-in.</a:t>
            </a:r>
            <a:endParaRPr lang="en-US" sz="1200" dirty="0"/>
          </a:p>
        </p:txBody>
      </p:sp>
      <p:sp>
        <p:nvSpPr>
          <p:cNvPr id="21" name="Text 19"/>
          <p:cNvSpPr/>
          <p:nvPr/>
        </p:nvSpPr>
        <p:spPr>
          <a:xfrm>
            <a:off x="64922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Giao diện vòng quay số đồ họa 3D sang trọng kèm âm thanh sân khấu sống động.</a:t>
            </a:r>
            <a:endParaRPr lang="en-US" sz="1200" dirty="0"/>
          </a:p>
        </p:txBody>
      </p:sp>
      <p:sp>
        <p:nvSpPr>
          <p:cNvPr id="22" name="Text 20"/>
          <p:cNvSpPr/>
          <p:nvPr/>
        </p:nvSpPr>
        <p:spPr>
          <a:xfrm>
            <a:off x="64922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Bấm "Quay Số": Thuật toán chọn ngẫu nhiên minh bạch không thể can thiệp.</a:t>
            </a:r>
            <a:endParaRPr lang="en-US" sz="1200" dirty="0"/>
          </a:p>
        </p:txBody>
      </p:sp>
      <p:sp>
        <p:nvSpPr>
          <p:cNvPr id="23" name="Text 21"/>
          <p:cNvSpPr/>
          <p:nvPr/>
        </p:nvSpPr>
        <p:spPr>
          <a:xfrm>
            <a:off x="64922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Tự động gửi thông báo chúc mừng kèm ảnh giải thưởng về ứng dụng người trúng.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QUẢN TRỊ TÀI CHÍNH</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Bảng Quản Lý Hội Phí Thường Niên &amp; Đối Soát Sao Kê VietQR</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Minh bạch hóa tài chính hiệp hội, giảm thiểu 95% sai sót kế toán đối soát thủ công</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33832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3383280" cy="91440"/>
          </a:xfrm>
          <a:prstGeom prst="rect">
            <a:avLst/>
          </a:prstGeom>
          <a:solidFill>
            <a:srgbClr val="003B95"/>
          </a:solidFill>
          <a:ln/>
        </p:spPr>
      </p:sp>
      <p:sp>
        <p:nvSpPr>
          <p:cNvPr id="12" name="Text 10"/>
          <p:cNvSpPr/>
          <p:nvPr/>
        </p:nvSpPr>
        <p:spPr>
          <a:xfrm>
            <a:off x="10058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Bảng Hội Phí Niên Độ</a:t>
            </a:r>
            <a:endParaRPr lang="en-US" sz="1400" dirty="0"/>
          </a:p>
        </p:txBody>
      </p:sp>
      <p:sp>
        <p:nvSpPr>
          <p:cNvPr id="13" name="Text 11"/>
          <p:cNvSpPr/>
          <p:nvPr/>
        </p:nvSpPr>
        <p:spPr>
          <a:xfrm>
            <a:off x="10058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Theo dõi tình trạng đóng phí thường niên của từng hội viên theo từng năm hoạt động. Hiển thị rõ số tiền, ngày gia hạn và trạng thái "Đã đóng" hoặc "Chưa đóng".</a:t>
            </a:r>
            <a:endParaRPr lang="en-US" sz="1200" dirty="0"/>
          </a:p>
        </p:txBody>
      </p:sp>
      <p:sp>
        <p:nvSpPr>
          <p:cNvPr id="14" name="Shape 12"/>
          <p:cNvSpPr/>
          <p:nvPr/>
        </p:nvSpPr>
        <p:spPr>
          <a:xfrm>
            <a:off x="4389120" y="1920240"/>
            <a:ext cx="3383280" cy="4206240"/>
          </a:xfrm>
          <a:prstGeom prst="rect">
            <a:avLst/>
          </a:prstGeom>
          <a:solidFill>
            <a:srgbClr val="FFFFFF"/>
          </a:solidFill>
          <a:ln w="15240">
            <a:solidFill>
              <a:srgbClr val="E2E8F0"/>
            </a:solidFill>
            <a:prstDash val="solid"/>
          </a:ln>
        </p:spPr>
      </p:sp>
      <p:sp>
        <p:nvSpPr>
          <p:cNvPr id="15" name="Shape 13"/>
          <p:cNvSpPr/>
          <p:nvPr/>
        </p:nvSpPr>
        <p:spPr>
          <a:xfrm>
            <a:off x="4389120" y="1920240"/>
            <a:ext cx="3383280" cy="91440"/>
          </a:xfrm>
          <a:prstGeom prst="rect">
            <a:avLst/>
          </a:prstGeom>
          <a:solidFill>
            <a:srgbClr val="F59E0B"/>
          </a:solidFill>
          <a:ln/>
        </p:spPr>
      </p:sp>
      <p:sp>
        <p:nvSpPr>
          <p:cNvPr id="16" name="Text 14"/>
          <p:cNvSpPr/>
          <p:nvPr/>
        </p:nvSpPr>
        <p:spPr>
          <a:xfrm>
            <a:off x="46634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Cổng Thanh Toán VietQR Tự Động</a:t>
            </a:r>
            <a:endParaRPr lang="en-US" sz="1400" dirty="0"/>
          </a:p>
        </p:txBody>
      </p:sp>
      <p:sp>
        <p:nvSpPr>
          <p:cNvPr id="17" name="Text 15"/>
          <p:cNvSpPr/>
          <p:nvPr/>
        </p:nvSpPr>
        <p:spPr>
          <a:xfrm>
            <a:off x="46634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Khi hội viên bấm gia hạn trên App, mã VietQR động được tạo với đúng số tiền và cú pháp chuẩn. Kế toán đối soát sao kê ngân hàng và bật/tắt gạch nợ tức thì.</a:t>
            </a:r>
            <a:endParaRPr lang="en-US" sz="1200" dirty="0"/>
          </a:p>
        </p:txBody>
      </p:sp>
      <p:sp>
        <p:nvSpPr>
          <p:cNvPr id="18" name="Shape 16"/>
          <p:cNvSpPr/>
          <p:nvPr/>
        </p:nvSpPr>
        <p:spPr>
          <a:xfrm>
            <a:off x="8046720" y="1920240"/>
            <a:ext cx="3383280" cy="4206240"/>
          </a:xfrm>
          <a:prstGeom prst="rect">
            <a:avLst/>
          </a:prstGeom>
          <a:solidFill>
            <a:srgbClr val="FFFFFF"/>
          </a:solidFill>
          <a:ln w="15240">
            <a:solidFill>
              <a:srgbClr val="E2E8F0"/>
            </a:solidFill>
            <a:prstDash val="solid"/>
          </a:ln>
        </p:spPr>
      </p:sp>
      <p:sp>
        <p:nvSpPr>
          <p:cNvPr id="19" name="Shape 17"/>
          <p:cNvSpPr/>
          <p:nvPr/>
        </p:nvSpPr>
        <p:spPr>
          <a:xfrm>
            <a:off x="8046720" y="1920240"/>
            <a:ext cx="3383280" cy="91440"/>
          </a:xfrm>
          <a:prstGeom prst="rect">
            <a:avLst/>
          </a:prstGeom>
          <a:solidFill>
            <a:srgbClr val="003B95"/>
          </a:solidFill>
          <a:ln/>
        </p:spPr>
      </p:sp>
      <p:sp>
        <p:nvSpPr>
          <p:cNvPr id="20" name="Text 18"/>
          <p:cNvSpPr/>
          <p:nvPr/>
        </p:nvSpPr>
        <p:spPr>
          <a:xfrm>
            <a:off x="8321040" y="2194560"/>
            <a:ext cx="2834640" cy="640080"/>
          </a:xfrm>
          <a:prstGeom prst="rect">
            <a:avLst/>
          </a:prstGeom>
          <a:noFill/>
          <a:ln/>
        </p:spPr>
        <p:txBody>
          <a:bodyPr wrap="square" rtlCol="0" anchor="ctr"/>
          <a:lstStyle/>
          <a:p>
            <a:pPr indent="0" marL="0">
              <a:buNone/>
            </a:pPr>
            <a:r>
              <a:rPr lang="en-US" sz="1400" b="1" dirty="0">
                <a:solidFill>
                  <a:srgbClr val="003B95"/>
                </a:solidFill>
                <a:latin typeface="Calibri" pitchFamily="34" charset="0"/>
                <a:ea typeface="Calibri" pitchFamily="34" charset="-122"/>
                <a:cs typeface="Calibri" pitchFamily="34" charset="-120"/>
              </a:rPr>
              <a:t>Nhắc Nhở Hội Phí Thông Minh</a:t>
            </a:r>
            <a:endParaRPr lang="en-US" sz="1400" dirty="0"/>
          </a:p>
        </p:txBody>
      </p:sp>
      <p:sp>
        <p:nvSpPr>
          <p:cNvPr id="21" name="Text 19"/>
          <p:cNvSpPr/>
          <p:nvPr/>
        </p:nvSpPr>
        <p:spPr>
          <a:xfrm>
            <a:off x="8321040" y="2926080"/>
            <a:ext cx="2834640" cy="292608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Hệ thống tự động kích hoạt thông báo nhắc nhở hội phí trước 30 ngày và 7 ngày đến hạn. Cảnh báo hạn chế quyền lợi nếu hội phí quá hạn theo điều lệ CLB.</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KIỂM DUYỆT NỘI DUNG</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Kiểm Duyệt Sàn B2B &amp; Quản Trị Hồ Sơ Pháp Nhân Doanh Nghiệp</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Bảo đảm 100% sản phẩm và cơ hội kinh doanh trong mạng lưới đạt chuẩn pháp lý</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2560320" cy="4206240"/>
          </a:xfrm>
          <a:prstGeom prst="rect">
            <a:avLst/>
          </a:prstGeom>
          <a:solidFill>
            <a:srgbClr val="FFFFFF"/>
          </a:solidFill>
          <a:ln w="15240">
            <a:solidFill>
              <a:srgbClr val="E2E8F0"/>
            </a:solidFill>
            <a:prstDash val="solid"/>
          </a:ln>
        </p:spPr>
      </p:sp>
      <p:sp>
        <p:nvSpPr>
          <p:cNvPr id="11" name="Shape 9"/>
          <p:cNvSpPr/>
          <p:nvPr/>
        </p:nvSpPr>
        <p:spPr>
          <a:xfrm>
            <a:off x="960120" y="2194560"/>
            <a:ext cx="640080" cy="640080"/>
          </a:xfrm>
          <a:prstGeom prst="rect">
            <a:avLst/>
          </a:prstGeom>
          <a:solidFill>
            <a:srgbClr val="003B95"/>
          </a:solidFill>
          <a:ln/>
        </p:spPr>
      </p:sp>
      <p:sp>
        <p:nvSpPr>
          <p:cNvPr id="12" name="Text 10"/>
          <p:cNvSpPr/>
          <p:nvPr/>
        </p:nvSpPr>
        <p:spPr>
          <a:xfrm>
            <a:off x="96012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01</a:t>
            </a:r>
            <a:endParaRPr lang="en-US" sz="1600" dirty="0"/>
          </a:p>
        </p:txBody>
      </p:sp>
      <p:sp>
        <p:nvSpPr>
          <p:cNvPr id="13" name="Text 11"/>
          <p:cNvSpPr/>
          <p:nvPr/>
        </p:nvSpPr>
        <p:spPr>
          <a:xfrm>
            <a:off x="96012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Tiếp Nhận Đăng Tải</a:t>
            </a:r>
            <a:endParaRPr lang="en-US" sz="1350" dirty="0"/>
          </a:p>
        </p:txBody>
      </p:sp>
      <p:sp>
        <p:nvSpPr>
          <p:cNvPr id="14" name="Text 12"/>
          <p:cNvSpPr/>
          <p:nvPr/>
        </p:nvSpPr>
        <p:spPr>
          <a:xfrm>
            <a:off x="96012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Hội viên đăng sản phẩm hoặc tin nhu cầu mua sắm từ App di động; nội dung vào hàng đợi kiểm duyệt.</a:t>
            </a:r>
            <a:endParaRPr lang="en-US" sz="1150" dirty="0"/>
          </a:p>
        </p:txBody>
      </p:sp>
      <p:sp>
        <p:nvSpPr>
          <p:cNvPr id="15" name="Shape 13"/>
          <p:cNvSpPr/>
          <p:nvPr/>
        </p:nvSpPr>
        <p:spPr>
          <a:xfrm>
            <a:off x="3429000" y="1920240"/>
            <a:ext cx="2560320" cy="4206240"/>
          </a:xfrm>
          <a:prstGeom prst="rect">
            <a:avLst/>
          </a:prstGeom>
          <a:solidFill>
            <a:srgbClr val="FFFFFF"/>
          </a:solidFill>
          <a:ln w="15240">
            <a:solidFill>
              <a:srgbClr val="E2E8F0"/>
            </a:solidFill>
            <a:prstDash val="solid"/>
          </a:ln>
        </p:spPr>
      </p:sp>
      <p:sp>
        <p:nvSpPr>
          <p:cNvPr id="16" name="Shape 14"/>
          <p:cNvSpPr/>
          <p:nvPr/>
        </p:nvSpPr>
        <p:spPr>
          <a:xfrm>
            <a:off x="3657600" y="2194560"/>
            <a:ext cx="640080" cy="640080"/>
          </a:xfrm>
          <a:prstGeom prst="rect">
            <a:avLst/>
          </a:prstGeom>
          <a:solidFill>
            <a:srgbClr val="003B95"/>
          </a:solidFill>
          <a:ln/>
        </p:spPr>
      </p:sp>
      <p:sp>
        <p:nvSpPr>
          <p:cNvPr id="17" name="Text 15"/>
          <p:cNvSpPr/>
          <p:nvPr/>
        </p:nvSpPr>
        <p:spPr>
          <a:xfrm>
            <a:off x="365760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02</a:t>
            </a:r>
            <a:endParaRPr lang="en-US" sz="1600" dirty="0"/>
          </a:p>
        </p:txBody>
      </p:sp>
      <p:sp>
        <p:nvSpPr>
          <p:cNvPr id="18" name="Text 16"/>
          <p:cNvSpPr/>
          <p:nvPr/>
        </p:nvSpPr>
        <p:spPr>
          <a:xfrm>
            <a:off x="365760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Thẩm Tra Pháp Lý</a:t>
            </a:r>
            <a:endParaRPr lang="en-US" sz="1350" dirty="0"/>
          </a:p>
        </p:txBody>
      </p:sp>
      <p:sp>
        <p:nvSpPr>
          <p:cNvPr id="19" name="Text 17"/>
          <p:cNvSpPr/>
          <p:nvPr/>
        </p:nvSpPr>
        <p:spPr>
          <a:xfrm>
            <a:off x="365760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Ban Thư ký kiểm tra chứng nhận xuất xứ, công bố chất lượng và giấy phép kinh doanh ngành nghề có điều kiện.</a:t>
            </a:r>
            <a:endParaRPr lang="en-US" sz="1150" dirty="0"/>
          </a:p>
        </p:txBody>
      </p:sp>
      <p:sp>
        <p:nvSpPr>
          <p:cNvPr id="20" name="Shape 18"/>
          <p:cNvSpPr/>
          <p:nvPr/>
        </p:nvSpPr>
        <p:spPr>
          <a:xfrm>
            <a:off x="6126480" y="1920240"/>
            <a:ext cx="2560320" cy="4206240"/>
          </a:xfrm>
          <a:prstGeom prst="rect">
            <a:avLst/>
          </a:prstGeom>
          <a:solidFill>
            <a:srgbClr val="FFFFFF"/>
          </a:solidFill>
          <a:ln w="15240">
            <a:solidFill>
              <a:srgbClr val="E2E8F0"/>
            </a:solidFill>
            <a:prstDash val="solid"/>
          </a:ln>
        </p:spPr>
      </p:sp>
      <p:sp>
        <p:nvSpPr>
          <p:cNvPr id="21" name="Shape 19"/>
          <p:cNvSpPr/>
          <p:nvPr/>
        </p:nvSpPr>
        <p:spPr>
          <a:xfrm>
            <a:off x="6355080" y="2194560"/>
            <a:ext cx="640080" cy="640080"/>
          </a:xfrm>
          <a:prstGeom prst="rect">
            <a:avLst/>
          </a:prstGeom>
          <a:solidFill>
            <a:srgbClr val="003B95"/>
          </a:solidFill>
          <a:ln/>
        </p:spPr>
      </p:sp>
      <p:sp>
        <p:nvSpPr>
          <p:cNvPr id="22" name="Text 20"/>
          <p:cNvSpPr/>
          <p:nvPr/>
        </p:nvSpPr>
        <p:spPr>
          <a:xfrm>
            <a:off x="635508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03</a:t>
            </a:r>
            <a:endParaRPr lang="en-US" sz="1600" dirty="0"/>
          </a:p>
        </p:txBody>
      </p:sp>
      <p:sp>
        <p:nvSpPr>
          <p:cNvPr id="23" name="Text 21"/>
          <p:cNvSpPr/>
          <p:nvPr/>
        </p:nvSpPr>
        <p:spPr>
          <a:xfrm>
            <a:off x="635508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Phê Duyệt / Khóa Bài</a:t>
            </a:r>
            <a:endParaRPr lang="en-US" sz="1350" dirty="0"/>
          </a:p>
        </p:txBody>
      </p:sp>
      <p:sp>
        <p:nvSpPr>
          <p:cNvPr id="24" name="Text 22"/>
          <p:cNvSpPr/>
          <p:nvPr/>
        </p:nvSpPr>
        <p:spPr>
          <a:xfrm>
            <a:off x="635508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Nhấn Duyệt để hiển thị công khai trên App; hoặc từ chối kèm phản hồi lý do chi tiết cho hội viên bổ sung.</a:t>
            </a:r>
            <a:endParaRPr lang="en-US" sz="1150" dirty="0"/>
          </a:p>
        </p:txBody>
      </p:sp>
      <p:sp>
        <p:nvSpPr>
          <p:cNvPr id="25" name="Shape 23"/>
          <p:cNvSpPr/>
          <p:nvPr/>
        </p:nvSpPr>
        <p:spPr>
          <a:xfrm>
            <a:off x="8823960" y="1920240"/>
            <a:ext cx="2560320" cy="4206240"/>
          </a:xfrm>
          <a:prstGeom prst="rect">
            <a:avLst/>
          </a:prstGeom>
          <a:solidFill>
            <a:srgbClr val="FFFFFF"/>
          </a:solidFill>
          <a:ln w="15240">
            <a:solidFill>
              <a:srgbClr val="E2E8F0"/>
            </a:solidFill>
            <a:prstDash val="solid"/>
          </a:ln>
        </p:spPr>
      </p:sp>
      <p:sp>
        <p:nvSpPr>
          <p:cNvPr id="26" name="Shape 24"/>
          <p:cNvSpPr/>
          <p:nvPr/>
        </p:nvSpPr>
        <p:spPr>
          <a:xfrm>
            <a:off x="9052560" y="2194560"/>
            <a:ext cx="640080" cy="640080"/>
          </a:xfrm>
          <a:prstGeom prst="rect">
            <a:avLst/>
          </a:prstGeom>
          <a:solidFill>
            <a:srgbClr val="003B95"/>
          </a:solidFill>
          <a:ln/>
        </p:spPr>
      </p:sp>
      <p:sp>
        <p:nvSpPr>
          <p:cNvPr id="27" name="Text 25"/>
          <p:cNvSpPr/>
          <p:nvPr/>
        </p:nvSpPr>
        <p:spPr>
          <a:xfrm>
            <a:off x="9052560" y="2194560"/>
            <a:ext cx="640080" cy="640080"/>
          </a:xfrm>
          <a:prstGeom prst="rect">
            <a:avLst/>
          </a:prstGeom>
          <a:noFill/>
          <a:ln/>
        </p:spPr>
        <p:txBody>
          <a:bodyPr wrap="square"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04</a:t>
            </a:r>
            <a:endParaRPr lang="en-US" sz="1600" dirty="0"/>
          </a:p>
        </p:txBody>
      </p:sp>
      <p:sp>
        <p:nvSpPr>
          <p:cNvPr id="28" name="Text 26"/>
          <p:cNvSpPr/>
          <p:nvPr/>
        </p:nvSpPr>
        <p:spPr>
          <a:xfrm>
            <a:off x="9052560" y="3017520"/>
            <a:ext cx="2103120" cy="548640"/>
          </a:xfrm>
          <a:prstGeom prst="rect">
            <a:avLst/>
          </a:prstGeom>
          <a:noFill/>
          <a:ln/>
        </p:spPr>
        <p:txBody>
          <a:bodyPr wrap="square" rtlCol="0" anchor="ctr"/>
          <a:lstStyle/>
          <a:p>
            <a:pPr indent="0" marL="0">
              <a:buNone/>
            </a:pPr>
            <a:r>
              <a:rPr lang="en-US" sz="1350" b="1" dirty="0">
                <a:solidFill>
                  <a:srgbClr val="003B95"/>
                </a:solidFill>
                <a:latin typeface="Calibri" pitchFamily="34" charset="0"/>
                <a:ea typeface="Calibri" pitchFamily="34" charset="-122"/>
                <a:cs typeface="Calibri" pitchFamily="34" charset="-120"/>
              </a:rPr>
              <a:t>Gắn Nhãn Tiêu Biểu</a:t>
            </a:r>
            <a:endParaRPr lang="en-US" sz="1350" dirty="0"/>
          </a:p>
        </p:txBody>
      </p:sp>
      <p:sp>
        <p:nvSpPr>
          <p:cNvPr id="29" name="Text 27"/>
          <p:cNvSpPr/>
          <p:nvPr/>
        </p:nvSpPr>
        <p:spPr>
          <a:xfrm>
            <a:off x="9052560" y="3657600"/>
            <a:ext cx="2103120" cy="2103120"/>
          </a:xfrm>
          <a:prstGeom prst="rect">
            <a:avLst/>
          </a:prstGeom>
          <a:noFill/>
          <a:ln/>
        </p:spPr>
        <p:txBody>
          <a:bodyPr wrap="square" rtlCol="0" anchor="ctr"/>
          <a:lstStyle/>
          <a:p>
            <a:pPr indent="0" marL="0">
              <a:buNone/>
            </a:pPr>
            <a:r>
              <a:rPr lang="en-US" sz="1150" dirty="0">
                <a:solidFill>
                  <a:srgbClr val="334155"/>
                </a:solidFill>
                <a:latin typeface="Calibri" pitchFamily="34" charset="0"/>
                <a:ea typeface="Calibri" pitchFamily="34" charset="-122"/>
                <a:cs typeface="Calibri" pitchFamily="34" charset="-120"/>
              </a:rPr>
              <a:t>Gắn nhãn "Sản Phẩm Tiêu Biểu CEO 1983" đẩy lên vị trí Top Carousel tiếp cận tối đa mạng lưới.</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12188952" cy="73152"/>
          </a:xfrm>
          <a:prstGeom prst="rect">
            <a:avLst/>
          </a:prstGeom>
          <a:solidFill>
            <a:srgbClr val="F59E0B"/>
          </a:solidFill>
          <a:ln/>
        </p:spPr>
      </p:sp>
      <p:sp>
        <p:nvSpPr>
          <p:cNvPr id="3" name="Shape 1"/>
          <p:cNvSpPr/>
          <p:nvPr/>
        </p:nvSpPr>
        <p:spPr>
          <a:xfrm>
            <a:off x="731520" y="411480"/>
            <a:ext cx="2560320" cy="292608"/>
          </a:xfrm>
          <a:prstGeom prst="rect">
            <a:avLst/>
          </a:prstGeom>
          <a:solidFill>
            <a:srgbClr val="003B95"/>
          </a:solidFill>
          <a:ln/>
        </p:spPr>
      </p:sp>
      <p:sp>
        <p:nvSpPr>
          <p:cNvPr id="4" name="Text 2"/>
          <p:cNvSpPr/>
          <p:nvPr/>
        </p:nvSpPr>
        <p:spPr>
          <a:xfrm>
            <a:off x="731520" y="411480"/>
            <a:ext cx="2560320" cy="292608"/>
          </a:xfrm>
          <a:prstGeom prst="rect">
            <a:avLst/>
          </a:prstGeom>
          <a:noFill/>
          <a:ln/>
        </p:spPr>
        <p:txBody>
          <a:bodyPr wrap="square"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TRUYỀN THÔNG &amp; BẢO MẬT</a:t>
            </a:r>
            <a:endParaRPr lang="en-US" sz="1000" dirty="0"/>
          </a:p>
        </p:txBody>
      </p:sp>
      <p:sp>
        <p:nvSpPr>
          <p:cNvPr id="5" name="Text 3"/>
          <p:cNvSpPr/>
          <p:nvPr/>
        </p:nvSpPr>
        <p:spPr>
          <a:xfrm>
            <a:off x="731520" y="777240"/>
            <a:ext cx="10725912" cy="594360"/>
          </a:xfrm>
          <a:prstGeom prst="rect">
            <a:avLst/>
          </a:prstGeom>
          <a:noFill/>
          <a:ln/>
        </p:spPr>
        <p:txBody>
          <a:bodyPr wrap="square" rtlCol="0" anchor="ctr"/>
          <a:lstStyle/>
          <a:p>
            <a:pPr indent="0" marL="0">
              <a:buNone/>
            </a:pPr>
            <a:r>
              <a:rPr lang="en-US" sz="2400" b="1" dirty="0">
                <a:solidFill>
                  <a:srgbClr val="003B95"/>
                </a:solidFill>
                <a:latin typeface="Calibri" pitchFamily="34" charset="0"/>
                <a:ea typeface="Calibri" pitchFamily="34" charset="-122"/>
                <a:cs typeface="Calibri" pitchFamily="34" charset="-120"/>
              </a:rPr>
              <a:t>Xuất Bản Tin Tức, Nghị Quyết BCH &amp; Nhật Ký Kiểm Toán</a:t>
            </a:r>
            <a:endParaRPr lang="en-US" sz="2400" dirty="0"/>
          </a:p>
        </p:txBody>
      </p:sp>
      <p:sp>
        <p:nvSpPr>
          <p:cNvPr id="6" name="Text 4"/>
          <p:cNvSpPr/>
          <p:nvPr/>
        </p:nvSpPr>
        <p:spPr>
          <a:xfrm>
            <a:off x="731520" y="1371600"/>
            <a:ext cx="10725912" cy="365760"/>
          </a:xfrm>
          <a:prstGeom prst="rect">
            <a:avLst/>
          </a:prstGeom>
          <a:noFill/>
          <a:ln/>
        </p:spPr>
        <p:txBody>
          <a:bodyPr wrap="square"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Kênh truyền thông chính thống của CLB và hệ thống giám sát an toàn dữ liệu 24/7</a:t>
            </a:r>
            <a:endParaRPr lang="en-US" sz="1250" dirty="0"/>
          </a:p>
        </p:txBody>
      </p:sp>
      <p:sp>
        <p:nvSpPr>
          <p:cNvPr id="7" name="Shape 5"/>
          <p:cNvSpPr/>
          <p:nvPr/>
        </p:nvSpPr>
        <p:spPr>
          <a:xfrm>
            <a:off x="731520" y="6400800"/>
            <a:ext cx="10725912" cy="18288"/>
          </a:xfrm>
          <a:prstGeom prst="rect">
            <a:avLst/>
          </a:prstGeom>
          <a:solidFill>
            <a:srgbClr val="E2E8F0"/>
          </a:solidFill>
          <a:ln/>
        </p:spPr>
      </p:sp>
      <p:sp>
        <p:nvSpPr>
          <p:cNvPr id="8" name="Text 6"/>
          <p:cNvSpPr/>
          <p:nvPr/>
        </p:nvSpPr>
        <p:spPr>
          <a:xfrm>
            <a:off x="731520" y="6446520"/>
            <a:ext cx="6400800" cy="274320"/>
          </a:xfrm>
          <a:prstGeom prst="rect">
            <a:avLst/>
          </a:prstGeom>
          <a:noFill/>
          <a:ln/>
        </p:spPr>
        <p:txBody>
          <a:bodyPr wrap="square" rtlCol="0" anchor="ctr"/>
          <a:lstStyle/>
          <a:p>
            <a:pPr indent="0" marL="0">
              <a:buNone/>
            </a:pPr>
            <a:r>
              <a:rPr lang="en-US" sz="950" dirty="0">
                <a:solidFill>
                  <a:srgbClr val="64748B"/>
                </a:solidFill>
                <a:latin typeface="Calibri" pitchFamily="34" charset="0"/>
                <a:ea typeface="Calibri" pitchFamily="34" charset="-122"/>
                <a:cs typeface="Calibri" pitchFamily="34" charset="-120"/>
              </a:rPr>
              <a:t>Hiệp Hội Doanh Nhân CEO 1983 · Hệ Thống Quản Trị CEO 1983</a:t>
            </a:r>
            <a:endParaRPr lang="en-US" sz="950" dirty="0"/>
          </a:p>
        </p:txBody>
      </p:sp>
      <p:sp>
        <p:nvSpPr>
          <p:cNvPr id="9" name="Text 7"/>
          <p:cNvSpPr/>
          <p:nvPr/>
        </p:nvSpPr>
        <p:spPr>
          <a:xfrm>
            <a:off x="7315200" y="6446520"/>
            <a:ext cx="4142232" cy="274320"/>
          </a:xfrm>
          <a:prstGeom prst="rect">
            <a:avLst/>
          </a:prstGeom>
          <a:noFill/>
          <a:ln/>
        </p:spPr>
        <p:txBody>
          <a:bodyPr wrap="square" rtlCol="0" anchor="ctr"/>
          <a:lstStyle/>
          <a:p>
            <a:pPr algn="r" indent="0" marL="0">
              <a:buNone/>
            </a:pPr>
            <a:r>
              <a:rPr lang="en-US" sz="950" dirty="0">
                <a:solidFill>
                  <a:srgbClr val="64748B"/>
                </a:solidFill>
                <a:latin typeface="Calibri" pitchFamily="34" charset="0"/>
                <a:ea typeface="Calibri" pitchFamily="34" charset="-122"/>
                <a:cs typeface="Calibri" pitchFamily="34" charset="-120"/>
              </a:rPr>
              <a:t>Bản Quyền © 2026 CLB Doanh Nhân CEO 1983 · ceo1983.com</a:t>
            </a:r>
            <a:endParaRPr lang="en-US" sz="950" dirty="0"/>
          </a:p>
        </p:txBody>
      </p:sp>
      <p:sp>
        <p:nvSpPr>
          <p:cNvPr id="10" name="Shape 8"/>
          <p:cNvSpPr/>
          <p:nvPr/>
        </p:nvSpPr>
        <p:spPr>
          <a:xfrm>
            <a:off x="731520" y="1920240"/>
            <a:ext cx="5212080" cy="4206240"/>
          </a:xfrm>
          <a:prstGeom prst="rect">
            <a:avLst/>
          </a:prstGeom>
          <a:solidFill>
            <a:srgbClr val="FFFFFF"/>
          </a:solidFill>
          <a:ln w="15240">
            <a:solidFill>
              <a:srgbClr val="E2E8F0"/>
            </a:solidFill>
            <a:prstDash val="solid"/>
          </a:ln>
        </p:spPr>
      </p:sp>
      <p:sp>
        <p:nvSpPr>
          <p:cNvPr id="11" name="Shape 9"/>
          <p:cNvSpPr/>
          <p:nvPr/>
        </p:nvSpPr>
        <p:spPr>
          <a:xfrm>
            <a:off x="731520" y="1920240"/>
            <a:ext cx="5212080" cy="457200"/>
          </a:xfrm>
          <a:prstGeom prst="rect">
            <a:avLst/>
          </a:prstGeom>
          <a:solidFill>
            <a:srgbClr val="EFF6FF"/>
          </a:solidFill>
          <a:ln/>
        </p:spPr>
      </p:sp>
      <p:sp>
        <p:nvSpPr>
          <p:cNvPr id="12" name="Text 10"/>
          <p:cNvSpPr/>
          <p:nvPr/>
        </p:nvSpPr>
        <p:spPr>
          <a:xfrm>
            <a:off x="1005840" y="1920240"/>
            <a:ext cx="4663440" cy="457200"/>
          </a:xfrm>
          <a:prstGeom prst="rect">
            <a:avLst/>
          </a:prstGeom>
          <a:noFill/>
          <a:ln/>
        </p:spPr>
        <p:txBody>
          <a:bodyPr wrap="square" rtlCol="0" anchor="ctr"/>
          <a:lstStyle/>
          <a:p>
            <a:pPr indent="0" marL="0">
              <a:buNone/>
            </a:pPr>
            <a:r>
              <a:rPr lang="en-US" sz="1300" b="1" dirty="0">
                <a:solidFill>
                  <a:srgbClr val="003B95"/>
                </a:solidFill>
                <a:latin typeface="Calibri" pitchFamily="34" charset="0"/>
                <a:ea typeface="Calibri" pitchFamily="34" charset="-122"/>
                <a:cs typeface="Calibri" pitchFamily="34" charset="-120"/>
              </a:rPr>
              <a:t>Xuất Bản Nghị Quyết &amp; Tin Tức Chính Thống</a:t>
            </a:r>
            <a:endParaRPr lang="en-US" sz="1300" dirty="0"/>
          </a:p>
        </p:txBody>
      </p:sp>
      <p:sp>
        <p:nvSpPr>
          <p:cNvPr id="13" name="Text 11"/>
          <p:cNvSpPr/>
          <p:nvPr/>
        </p:nvSpPr>
        <p:spPr>
          <a:xfrm>
            <a:off x="10058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Biên tập văn bản nghị quyết, quyết định bổ nhiệm và thông cáo báo chí.</a:t>
            </a:r>
            <a:endParaRPr lang="en-US" sz="1200" dirty="0"/>
          </a:p>
        </p:txBody>
      </p:sp>
      <p:sp>
        <p:nvSpPr>
          <p:cNvPr id="14" name="Text 12"/>
          <p:cNvSpPr/>
          <p:nvPr/>
        </p:nvSpPr>
        <p:spPr>
          <a:xfrm>
            <a:off x="10058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Phân loại chuyên mục: Tin Hiệp Hội, Giao Thương B2B, Thể Thao &amp; CSR.</a:t>
            </a:r>
            <a:endParaRPr lang="en-US" sz="1200" dirty="0"/>
          </a:p>
        </p:txBody>
      </p:sp>
      <p:sp>
        <p:nvSpPr>
          <p:cNvPr id="15" name="Text 13"/>
          <p:cNvSpPr/>
          <p:nvPr/>
        </p:nvSpPr>
        <p:spPr>
          <a:xfrm>
            <a:off x="10058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Đính kèm văn bản PDF có chữ ký và đóng dấu của Chủ tịch CLB.</a:t>
            </a:r>
            <a:endParaRPr lang="en-US" sz="1200" dirty="0"/>
          </a:p>
        </p:txBody>
      </p:sp>
      <p:sp>
        <p:nvSpPr>
          <p:cNvPr id="16" name="Text 14"/>
          <p:cNvSpPr/>
          <p:nvPr/>
        </p:nvSpPr>
        <p:spPr>
          <a:xfrm>
            <a:off x="10058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Đồng bộ hiển thị tức thì trên tab Bản tin và Thư viện tài liệu App.</a:t>
            </a:r>
            <a:endParaRPr lang="en-US" sz="1200" dirty="0"/>
          </a:p>
        </p:txBody>
      </p:sp>
      <p:sp>
        <p:nvSpPr>
          <p:cNvPr id="17" name="Shape 15"/>
          <p:cNvSpPr/>
          <p:nvPr/>
        </p:nvSpPr>
        <p:spPr>
          <a:xfrm>
            <a:off x="6217920" y="1920240"/>
            <a:ext cx="5212080" cy="4206240"/>
          </a:xfrm>
          <a:prstGeom prst="rect">
            <a:avLst/>
          </a:prstGeom>
          <a:solidFill>
            <a:srgbClr val="FFFFFF"/>
          </a:solidFill>
          <a:ln w="15240">
            <a:solidFill>
              <a:srgbClr val="E2E8F0"/>
            </a:solidFill>
            <a:prstDash val="solid"/>
          </a:ln>
        </p:spPr>
      </p:sp>
      <p:sp>
        <p:nvSpPr>
          <p:cNvPr id="18" name="Shape 16"/>
          <p:cNvSpPr/>
          <p:nvPr/>
        </p:nvSpPr>
        <p:spPr>
          <a:xfrm>
            <a:off x="6217920" y="1920240"/>
            <a:ext cx="5212080" cy="457200"/>
          </a:xfrm>
          <a:prstGeom prst="rect">
            <a:avLst/>
          </a:prstGeom>
          <a:solidFill>
            <a:srgbClr val="EFF6FF"/>
          </a:solidFill>
          <a:ln/>
        </p:spPr>
      </p:sp>
      <p:sp>
        <p:nvSpPr>
          <p:cNvPr id="19" name="Text 17"/>
          <p:cNvSpPr/>
          <p:nvPr/>
        </p:nvSpPr>
        <p:spPr>
          <a:xfrm>
            <a:off x="6492240" y="1920240"/>
            <a:ext cx="4663440" cy="457200"/>
          </a:xfrm>
          <a:prstGeom prst="rect">
            <a:avLst/>
          </a:prstGeom>
          <a:noFill/>
          <a:ln/>
        </p:spPr>
        <p:txBody>
          <a:bodyPr wrap="square" rtlCol="0" anchor="ctr"/>
          <a:lstStyle/>
          <a:p>
            <a:pPr indent="0" marL="0">
              <a:buNone/>
            </a:pPr>
            <a:r>
              <a:rPr lang="en-US" sz="1300" b="1" dirty="0">
                <a:solidFill>
                  <a:srgbClr val="003B95"/>
                </a:solidFill>
                <a:latin typeface="Calibri" pitchFamily="34" charset="0"/>
                <a:ea typeface="Calibri" pitchFamily="34" charset="-122"/>
                <a:cs typeface="Calibri" pitchFamily="34" charset="-120"/>
              </a:rPr>
              <a:t>Nhật Ký Kiểm Toán Hệ Thống (Audit Logs)</a:t>
            </a:r>
            <a:endParaRPr lang="en-US" sz="1300" dirty="0"/>
          </a:p>
        </p:txBody>
      </p:sp>
      <p:sp>
        <p:nvSpPr>
          <p:cNvPr id="20" name="Text 18"/>
          <p:cNvSpPr/>
          <p:nvPr/>
        </p:nvSpPr>
        <p:spPr>
          <a:xfrm>
            <a:off x="6492240" y="260604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Ghi nhận 100% nhật ký thao tác của Quản trị viên: Thời gian, IP, hành động.</a:t>
            </a:r>
            <a:endParaRPr lang="en-US" sz="1200" dirty="0"/>
          </a:p>
        </p:txBody>
      </p:sp>
      <p:sp>
        <p:nvSpPr>
          <p:cNvPr id="21" name="Text 19"/>
          <p:cNvSpPr/>
          <p:nvPr/>
        </p:nvSpPr>
        <p:spPr>
          <a:xfrm>
            <a:off x="6492240" y="342900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Giám sát mọi thao tác phê duyệt hội viên, chỉnh sửa vai trò và gạch nợ hội phí.</a:t>
            </a:r>
            <a:endParaRPr lang="en-US" sz="1200" dirty="0"/>
          </a:p>
        </p:txBody>
      </p:sp>
      <p:sp>
        <p:nvSpPr>
          <p:cNvPr id="22" name="Text 20"/>
          <p:cNvSpPr/>
          <p:nvPr/>
        </p:nvSpPr>
        <p:spPr>
          <a:xfrm>
            <a:off x="6492240" y="425196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Bảo mật theo tiêu chuẩn GDPR và Luật An ninh mạng Việt Nam.</a:t>
            </a:r>
            <a:endParaRPr lang="en-US" sz="1200" dirty="0"/>
          </a:p>
        </p:txBody>
      </p:sp>
      <p:sp>
        <p:nvSpPr>
          <p:cNvPr id="23" name="Text 21"/>
          <p:cNvSpPr/>
          <p:nvPr/>
        </p:nvSpPr>
        <p:spPr>
          <a:xfrm>
            <a:off x="6492240" y="5074920"/>
            <a:ext cx="4663440" cy="685800"/>
          </a:xfrm>
          <a:prstGeom prst="rect">
            <a:avLst/>
          </a:prstGeom>
          <a:noFill/>
          <a:ln/>
        </p:spPr>
        <p:txBody>
          <a:bodyPr wrap="square" rtlCol="0" anchor="ctr"/>
          <a:lstStyle/>
          <a:p>
            <a:pPr indent="0" marL="0">
              <a:buNone/>
            </a:pPr>
            <a:r>
              <a:rPr lang="en-US" sz="1200" dirty="0">
                <a:solidFill>
                  <a:srgbClr val="334155"/>
                </a:solidFill>
                <a:latin typeface="Calibri" pitchFamily="34" charset="0"/>
                <a:ea typeface="Calibri" pitchFamily="34" charset="-122"/>
                <a:cs typeface="Calibri" pitchFamily="34" charset="-120"/>
              </a:rPr>
              <a:t>✔  Xuất dữ liệu báo cáo kiểm toán định kỳ phục vụ Ban Kiểm Tra CLB.</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A1A3A"/>
        </a:solidFill>
      </p:bgPr>
    </p:bg>
    <p:spTree>
      <p:nvGrpSpPr>
        <p:cNvPr id="1" name=""/>
        <p:cNvGrpSpPr/>
        <p:nvPr/>
      </p:nvGrpSpPr>
      <p:grpSpPr>
        <a:xfrm>
          <a:off x="0" y="0"/>
          <a:ext cx="0" cy="0"/>
          <a:chOff x="0" y="0"/>
          <a:chExt cx="0" cy="0"/>
        </a:xfrm>
      </p:grpSpPr>
      <p:sp>
        <p:nvSpPr>
          <p:cNvPr id="2" name="Shape 0"/>
          <p:cNvSpPr/>
          <p:nvPr/>
        </p:nvSpPr>
        <p:spPr>
          <a:xfrm>
            <a:off x="731520" y="1097280"/>
            <a:ext cx="3840480" cy="365760"/>
          </a:xfrm>
          <a:prstGeom prst="rect">
            <a:avLst/>
          </a:prstGeom>
          <a:solidFill>
            <a:srgbClr val="F59E0B"/>
          </a:solidFill>
          <a:ln/>
        </p:spPr>
      </p:sp>
      <p:sp>
        <p:nvSpPr>
          <p:cNvPr id="3" name="Text 1"/>
          <p:cNvSpPr/>
          <p:nvPr/>
        </p:nvSpPr>
        <p:spPr>
          <a:xfrm>
            <a:off x="731520" y="1097280"/>
            <a:ext cx="3840480" cy="365760"/>
          </a:xfrm>
          <a:prstGeom prst="rect">
            <a:avLst/>
          </a:prstGeom>
          <a:noFill/>
          <a:ln/>
        </p:spPr>
        <p:txBody>
          <a:bodyPr wrap="square" rtlCol="0" anchor="ctr"/>
          <a:lstStyle/>
          <a:p>
            <a:pPr algn="ctr" indent="0" marL="0">
              <a:buNone/>
            </a:pPr>
            <a:r>
              <a:rPr lang="en-US" sz="1050" b="1" dirty="0">
                <a:solidFill>
                  <a:srgbClr val="0A1A3A"/>
                </a:solidFill>
                <a:latin typeface="Calibri" pitchFamily="34" charset="0"/>
                <a:ea typeface="Calibri" pitchFamily="34" charset="-122"/>
                <a:cs typeface="Calibri" pitchFamily="34" charset="-120"/>
              </a:rPr>
              <a:t>CHUYỂN ĐỔI SỐ TOÀN DIỆN HIỆP HỘI</a:t>
            </a:r>
            <a:endParaRPr lang="en-US" sz="1050" dirty="0"/>
          </a:p>
        </p:txBody>
      </p:sp>
      <p:sp>
        <p:nvSpPr>
          <p:cNvPr id="4" name="Text 2"/>
          <p:cNvSpPr/>
          <p:nvPr/>
        </p:nvSpPr>
        <p:spPr>
          <a:xfrm>
            <a:off x="731520" y="1645920"/>
            <a:ext cx="10725912" cy="914400"/>
          </a:xfrm>
          <a:prstGeom prst="rect">
            <a:avLst/>
          </a:prstGeom>
          <a:noFill/>
          <a:ln/>
        </p:spPr>
        <p:txBody>
          <a:bodyPr wrap="square" rtlCol="0" anchor="ctr"/>
          <a:lstStyle/>
          <a:p>
            <a:pPr indent="0" marL="0">
              <a:buNone/>
            </a:pPr>
            <a:r>
              <a:rPr lang="en-US" sz="3400" b="1" dirty="0">
                <a:solidFill>
                  <a:srgbClr val="FFFFFF"/>
                </a:solidFill>
                <a:latin typeface="Calibri" pitchFamily="34" charset="0"/>
                <a:ea typeface="Calibri" pitchFamily="34" charset="-122"/>
                <a:cs typeface="Calibri" pitchFamily="34" charset="-120"/>
              </a:rPr>
              <a:t>HỆ THỐNG QUẢN TRỊ CEO 1983</a:t>
            </a:r>
            <a:endParaRPr lang="en-US" sz="3400" dirty="0"/>
          </a:p>
        </p:txBody>
      </p:sp>
      <p:sp>
        <p:nvSpPr>
          <p:cNvPr id="5" name="Text 3"/>
          <p:cNvSpPr/>
          <p:nvPr/>
        </p:nvSpPr>
        <p:spPr>
          <a:xfrm>
            <a:off x="731520" y="2560320"/>
            <a:ext cx="10725912" cy="548640"/>
          </a:xfrm>
          <a:prstGeom prst="rect">
            <a:avLst/>
          </a:prstGeom>
          <a:noFill/>
          <a:ln/>
        </p:spPr>
        <p:txBody>
          <a:bodyPr wrap="square" rtlCol="0" anchor="ctr"/>
          <a:lstStyle/>
          <a:p>
            <a:pPr indent="0" marL="0">
              <a:buNone/>
            </a:pPr>
            <a:r>
              <a:rPr lang="en-US" sz="2200" b="1" i="1" dirty="0">
                <a:solidFill>
                  <a:srgbClr val="F59E0B"/>
                </a:solidFill>
                <a:latin typeface="Calibri" pitchFamily="34" charset="0"/>
                <a:ea typeface="Calibri" pitchFamily="34" charset="-122"/>
                <a:cs typeface="Calibri" pitchFamily="34" charset="-120"/>
              </a:rPr>
              <a:t>"Nền Tảng Vững Chắc — Kiến Tạo Tương Lai"</a:t>
            </a:r>
            <a:endParaRPr lang="en-US" sz="2200" dirty="0"/>
          </a:p>
        </p:txBody>
      </p:sp>
      <p:sp>
        <p:nvSpPr>
          <p:cNvPr id="6" name="Text 4"/>
          <p:cNvSpPr/>
          <p:nvPr/>
        </p:nvSpPr>
        <p:spPr>
          <a:xfrm>
            <a:off x="731520" y="3291840"/>
            <a:ext cx="9601200" cy="822960"/>
          </a:xfrm>
          <a:prstGeom prst="rect">
            <a:avLst/>
          </a:prstGeom>
          <a:noFill/>
          <a:ln/>
        </p:spPr>
        <p:txBody>
          <a:bodyPr wrap="square" rtlCol="0" anchor="ctr"/>
          <a:lstStyle/>
          <a:p>
            <a:pPr indent="0" marL="0">
              <a:buNone/>
            </a:pPr>
            <a:r>
              <a:rPr lang="en-US" sz="1400" dirty="0">
                <a:solidFill>
                  <a:srgbClr val="E2E8F0"/>
                </a:solidFill>
                <a:latin typeface="Calibri" pitchFamily="34" charset="0"/>
                <a:ea typeface="Calibri" pitchFamily="34" charset="-122"/>
                <a:cs typeface="Calibri" pitchFamily="34" charset="-120"/>
              </a:rPr>
              <a:t>Hệ thống Web CRM và App Mobile CEO 1983 sẵn sàng bàn giao, đưa vào vận hành thực tế phục vụ Ban Chấp Hành, Ban Thư Ký và toàn thể Hội viên CLB Doanh Nhân CEO 1983.</a:t>
            </a:r>
            <a:endParaRPr lang="en-US" sz="1400" dirty="0"/>
          </a:p>
        </p:txBody>
      </p:sp>
      <p:sp>
        <p:nvSpPr>
          <p:cNvPr id="7" name="Shape 5"/>
          <p:cNvSpPr/>
          <p:nvPr/>
        </p:nvSpPr>
        <p:spPr>
          <a:xfrm>
            <a:off x="731520" y="4572000"/>
            <a:ext cx="3383280" cy="1371600"/>
          </a:xfrm>
          <a:prstGeom prst="rect">
            <a:avLst/>
          </a:prstGeom>
          <a:solidFill>
            <a:srgbClr val="132A56"/>
          </a:solidFill>
          <a:ln w="15240">
            <a:solidFill>
              <a:srgbClr val="003B95"/>
            </a:solidFill>
            <a:prstDash val="solid"/>
          </a:ln>
        </p:spPr>
      </p:sp>
      <p:sp>
        <p:nvSpPr>
          <p:cNvPr id="8" name="Text 6"/>
          <p:cNvSpPr/>
          <p:nvPr/>
        </p:nvSpPr>
        <p:spPr>
          <a:xfrm>
            <a:off x="10058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Cổng Web CRM</a:t>
            </a:r>
            <a:endParaRPr lang="en-US" sz="1200" dirty="0"/>
          </a:p>
        </p:txBody>
      </p:sp>
      <p:sp>
        <p:nvSpPr>
          <p:cNvPr id="9" name="Text 7"/>
          <p:cNvSpPr/>
          <p:nvPr/>
        </p:nvSpPr>
        <p:spPr>
          <a:xfrm>
            <a:off x="10058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http://14.225.217.232:5000/auth</a:t>
            </a:r>
            <a:endParaRPr lang="en-US" sz="1150" dirty="0"/>
          </a:p>
        </p:txBody>
      </p:sp>
      <p:sp>
        <p:nvSpPr>
          <p:cNvPr id="10" name="Shape 8"/>
          <p:cNvSpPr/>
          <p:nvPr/>
        </p:nvSpPr>
        <p:spPr>
          <a:xfrm>
            <a:off x="4389120" y="4572000"/>
            <a:ext cx="3383280" cy="1371600"/>
          </a:xfrm>
          <a:prstGeom prst="rect">
            <a:avLst/>
          </a:prstGeom>
          <a:solidFill>
            <a:srgbClr val="132A56"/>
          </a:solidFill>
          <a:ln w="15240">
            <a:solidFill>
              <a:srgbClr val="003B95"/>
            </a:solidFill>
            <a:prstDash val="solid"/>
          </a:ln>
        </p:spPr>
      </p:sp>
      <p:sp>
        <p:nvSpPr>
          <p:cNvPr id="11" name="Text 9"/>
          <p:cNvSpPr/>
          <p:nvPr/>
        </p:nvSpPr>
        <p:spPr>
          <a:xfrm>
            <a:off x="46634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Cổng App Mobile</a:t>
            </a:r>
            <a:endParaRPr lang="en-US" sz="1200" dirty="0"/>
          </a:p>
        </p:txBody>
      </p:sp>
      <p:sp>
        <p:nvSpPr>
          <p:cNvPr id="12" name="Text 10"/>
          <p:cNvSpPr/>
          <p:nvPr/>
        </p:nvSpPr>
        <p:spPr>
          <a:xfrm>
            <a:off x="46634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http://14.225.217.232:5002/association</a:t>
            </a:r>
            <a:endParaRPr lang="en-US" sz="1150" dirty="0"/>
          </a:p>
        </p:txBody>
      </p:sp>
      <p:sp>
        <p:nvSpPr>
          <p:cNvPr id="13" name="Shape 11"/>
          <p:cNvSpPr/>
          <p:nvPr/>
        </p:nvSpPr>
        <p:spPr>
          <a:xfrm>
            <a:off x="8046720" y="4572000"/>
            <a:ext cx="3383280" cy="1371600"/>
          </a:xfrm>
          <a:prstGeom prst="rect">
            <a:avLst/>
          </a:prstGeom>
          <a:solidFill>
            <a:srgbClr val="132A56"/>
          </a:solidFill>
          <a:ln w="15240">
            <a:solidFill>
              <a:srgbClr val="003B95"/>
            </a:solidFill>
            <a:prstDash val="solid"/>
          </a:ln>
        </p:spPr>
      </p:sp>
      <p:sp>
        <p:nvSpPr>
          <p:cNvPr id="14" name="Text 12"/>
          <p:cNvSpPr/>
          <p:nvPr/>
        </p:nvSpPr>
        <p:spPr>
          <a:xfrm>
            <a:off x="8321040" y="4754880"/>
            <a:ext cx="2834640" cy="320040"/>
          </a:xfrm>
          <a:prstGeom prst="rect">
            <a:avLst/>
          </a:prstGeom>
          <a:noFill/>
          <a:ln/>
        </p:spPr>
        <p:txBody>
          <a:bodyPr wrap="square" rtlCol="0" anchor="ctr"/>
          <a:lstStyle/>
          <a:p>
            <a:pPr indent="0" marL="0">
              <a:buNone/>
            </a:pPr>
            <a:r>
              <a:rPr lang="en-US" sz="1200" b="1" dirty="0">
                <a:solidFill>
                  <a:srgbClr val="F59E0B"/>
                </a:solidFill>
                <a:latin typeface="Calibri" pitchFamily="34" charset="0"/>
                <a:ea typeface="Calibri" pitchFamily="34" charset="-122"/>
                <a:cs typeface="Calibri" pitchFamily="34" charset="-120"/>
              </a:rPr>
              <a:t>Tài liệu hướng dẫn</a:t>
            </a:r>
            <a:endParaRPr lang="en-US" sz="1200" dirty="0"/>
          </a:p>
        </p:txBody>
      </p:sp>
      <p:sp>
        <p:nvSpPr>
          <p:cNvPr id="15" name="Text 13"/>
          <p:cNvSpPr/>
          <p:nvPr/>
        </p:nvSpPr>
        <p:spPr>
          <a:xfrm>
            <a:off x="8321040" y="5166360"/>
            <a:ext cx="2834640" cy="548640"/>
          </a:xfrm>
          <a:prstGeom prst="rect">
            <a:avLst/>
          </a:prstGeom>
          <a:noFill/>
          <a:ln/>
        </p:spPr>
        <p:txBody>
          <a:bodyPr wrap="square" rtlCol="0" anchor="ctr"/>
          <a:lstStyle/>
          <a:p>
            <a:pPr indent="0" marL="0">
              <a:buNone/>
            </a:pPr>
            <a:r>
              <a:rPr lang="en-US" sz="1150" dirty="0">
                <a:solidFill>
                  <a:srgbClr val="FFFFFF"/>
                </a:solidFill>
                <a:latin typeface="Calibri" pitchFamily="34" charset="0"/>
                <a:ea typeface="Calibri" pitchFamily="34" charset="-122"/>
                <a:cs typeface="Calibri" pitchFamily="34" charset="-120"/>
              </a:rPr>
              <a:t>Đầy đủ định dạng Word, PDF, Excel &amp; Slide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Hệ Thống Web CRM Quản Trị Hiệp Hội CEO 1983 — Executive Command Center</dc:title>
  <dc:subject>PptxGenJS Presentation</dc:subject>
  <dc:creator>Ban Quản Trị &amp; Ban Thư Ký CLB Doanh Nhân CEO 1983</dc:creator>
  <cp:lastModifiedBy>Ban Quản Trị &amp; Ban Thư Ký CLB Doanh Nhân CEO 1983</cp:lastModifiedBy>
  <cp:revision>1</cp:revision>
  <dcterms:created xsi:type="dcterms:W3CDTF">2026-09-19T08:01:58Z</dcterms:created>
  <dcterms:modified xsi:type="dcterms:W3CDTF">2026-09-19T08:01:58Z</dcterms:modified>
</cp:coreProperties>
</file>