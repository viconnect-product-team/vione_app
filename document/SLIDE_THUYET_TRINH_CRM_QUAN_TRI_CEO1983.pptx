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3A"/>
        </a:solidFill>
      </p:bgPr>
    </p:bg>
    <p:spTree>
      <p:nvGrpSpPr>
        <p:cNvPr id="1" name=""/>
        <p:cNvGrpSpPr/>
        <p:nvPr/>
      </p:nvGrpSpPr>
      <p:grpSpPr>
        <a:xfrm>
          <a:off x="0" y="0"/>
          <a:ext cx="0" cy="0"/>
          <a:chOff x="0" y="0"/>
          <a:chExt cx="0" cy="0"/>
        </a:xfrm>
      </p:grpSpPr>
      <p:sp>
        <p:nvSpPr>
          <p:cNvPr id="2" name="Shape 0"/>
          <p:cNvSpPr/>
          <p:nvPr/>
        </p:nvSpPr>
        <p:spPr>
          <a:xfrm>
            <a:off x="731520" y="731520"/>
            <a:ext cx="3474720" cy="365760"/>
          </a:xfrm>
          <a:prstGeom prst="rect">
            <a:avLst/>
          </a:prstGeom>
          <a:solidFill>
            <a:srgbClr val="F59E0B"/>
          </a:solidFill>
          <a:ln/>
        </p:spPr>
      </p:sp>
      <p:sp>
        <p:nvSpPr>
          <p:cNvPr id="3" name="Text 1"/>
          <p:cNvSpPr/>
          <p:nvPr/>
        </p:nvSpPr>
        <p:spPr>
          <a:xfrm>
            <a:off x="731520" y="731520"/>
            <a:ext cx="3474720" cy="365760"/>
          </a:xfrm>
          <a:prstGeom prst="rect">
            <a:avLst/>
          </a:prstGeom>
          <a:noFill/>
          <a:ln/>
        </p:spPr>
        <p:txBody>
          <a:bodyPr wrap="square" rtlCol="0" anchor="ctr"/>
          <a:lstStyle/>
          <a:p>
            <a:pPr algn="ctr" indent="0" marL="0">
              <a:buNone/>
            </a:pPr>
            <a:r>
              <a:rPr lang="en-US" sz="1100" b="1" dirty="0">
                <a:solidFill>
                  <a:srgbClr val="0A1A3A"/>
                </a:solidFill>
              </a:rPr>
              <a:t>EXECUTIVE COMMAND CENTER</a:t>
            </a:r>
            <a:endParaRPr lang="en-US" sz="1100" dirty="0"/>
          </a:p>
        </p:txBody>
      </p:sp>
      <p:sp>
        <p:nvSpPr>
          <p:cNvPr id="4" name="Text 2"/>
          <p:cNvSpPr/>
          <p:nvPr/>
        </p:nvSpPr>
        <p:spPr>
          <a:xfrm>
            <a:off x="731520" y="1371600"/>
            <a:ext cx="10515600" cy="10972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HỆ THỐNG CRM QUẢN TRỊ HIỆP HỘI CEO 1983</a:t>
            </a:r>
            <a:endParaRPr lang="en-US" sz="3200" dirty="0"/>
          </a:p>
        </p:txBody>
      </p:sp>
      <p:sp>
        <p:nvSpPr>
          <p:cNvPr id="5" name="Text 3"/>
          <p:cNvSpPr/>
          <p:nvPr/>
        </p:nvSpPr>
        <p:spPr>
          <a:xfrm>
            <a:off x="731520" y="2560320"/>
            <a:ext cx="10515600" cy="457200"/>
          </a:xfrm>
          <a:prstGeom prst="rect">
            <a:avLst/>
          </a:prstGeom>
          <a:noFill/>
          <a:ln/>
        </p:spPr>
        <p:txBody>
          <a:bodyPr wrap="square" rtlCol="0" anchor="ctr"/>
          <a:lstStyle/>
          <a:p>
            <a:pPr indent="0" marL="0">
              <a:buNone/>
            </a:pPr>
            <a:r>
              <a:rPr lang="en-US" sz="1800" b="1" i="1" dirty="0">
                <a:solidFill>
                  <a:srgbClr val="F59E0B"/>
                </a:solidFill>
              </a:rPr>
              <a:t>Trung Tâm Chỉ Huy, Thẩm Định &amp; Tự Động Hóa Vận Hành Toàn Diện</a:t>
            </a:r>
            <a:endParaRPr lang="en-US" sz="1800" dirty="0"/>
          </a:p>
        </p:txBody>
      </p:sp>
      <p:sp>
        <p:nvSpPr>
          <p:cNvPr id="6" name="Text 4"/>
          <p:cNvSpPr/>
          <p:nvPr/>
        </p:nvSpPr>
        <p:spPr>
          <a:xfrm>
            <a:off x="731520" y="3108960"/>
            <a:ext cx="9601200" cy="731520"/>
          </a:xfrm>
          <a:prstGeom prst="rect">
            <a:avLst/>
          </a:prstGeom>
          <a:noFill/>
          <a:ln/>
        </p:spPr>
        <p:txBody>
          <a:bodyPr wrap="square" rtlCol="0" anchor="ctr"/>
          <a:lstStyle/>
          <a:p>
            <a:pPr indent="0" marL="0">
              <a:buNone/>
            </a:pPr>
            <a:r>
              <a:rPr lang="en-US" sz="1400" dirty="0">
                <a:solidFill>
                  <a:srgbClr val="94A3B8"/>
                </a:solidFill>
              </a:rPr>
              <a:t>Công cụ điều hành số hóa chuẩn hóa quy trình tiếp nhận, phê duyệt pháp nhân, quản lý tài chính hội phí và kiểm toán minh bạch.</a:t>
            </a:r>
            <a:endParaRPr lang="en-US" sz="1400" dirty="0"/>
          </a:p>
        </p:txBody>
      </p:sp>
      <p:sp>
        <p:nvSpPr>
          <p:cNvPr id="7" name="Shape 5"/>
          <p:cNvSpPr/>
          <p:nvPr/>
        </p:nvSpPr>
        <p:spPr>
          <a:xfrm>
            <a:off x="731520" y="4389120"/>
            <a:ext cx="3383280" cy="1645920"/>
          </a:xfrm>
          <a:prstGeom prst="rect">
            <a:avLst/>
          </a:prstGeom>
          <a:solidFill>
            <a:srgbClr val="132A56"/>
          </a:solidFill>
          <a:ln w="19050">
            <a:solidFill>
              <a:srgbClr val="1E3A8A"/>
            </a:solidFill>
            <a:prstDash val="solid"/>
          </a:ln>
        </p:spPr>
      </p:sp>
      <p:sp>
        <p:nvSpPr>
          <p:cNvPr id="8" name="Text 6"/>
          <p:cNvSpPr/>
          <p:nvPr/>
        </p:nvSpPr>
        <p:spPr>
          <a:xfrm>
            <a:off x="1005840" y="4572000"/>
            <a:ext cx="2834640" cy="457200"/>
          </a:xfrm>
          <a:prstGeom prst="rect">
            <a:avLst/>
          </a:prstGeom>
          <a:noFill/>
          <a:ln/>
        </p:spPr>
        <p:txBody>
          <a:bodyPr wrap="square" rtlCol="0" anchor="ctr"/>
          <a:lstStyle/>
          <a:p>
            <a:pPr indent="0" marL="0">
              <a:buNone/>
            </a:pPr>
            <a:r>
              <a:rPr lang="en-US" sz="2000" b="1" dirty="0">
                <a:solidFill>
                  <a:srgbClr val="F59E0B"/>
                </a:solidFill>
              </a:rPr>
              <a:t>Automated</a:t>
            </a:r>
            <a:endParaRPr lang="en-US" sz="2000" dirty="0"/>
          </a:p>
        </p:txBody>
      </p:sp>
      <p:sp>
        <p:nvSpPr>
          <p:cNvPr id="9" name="Text 7"/>
          <p:cNvSpPr/>
          <p:nvPr/>
        </p:nvSpPr>
        <p:spPr>
          <a:xfrm>
            <a:off x="1005840" y="5120640"/>
            <a:ext cx="2834640" cy="365760"/>
          </a:xfrm>
          <a:prstGeom prst="rect">
            <a:avLst/>
          </a:prstGeom>
          <a:noFill/>
          <a:ln/>
        </p:spPr>
        <p:txBody>
          <a:bodyPr wrap="square" rtlCol="0" anchor="ctr"/>
          <a:lstStyle/>
          <a:p>
            <a:pPr indent="0" marL="0">
              <a:buNone/>
            </a:pPr>
            <a:r>
              <a:rPr lang="en-US" sz="1400" b="1" dirty="0">
                <a:solidFill>
                  <a:srgbClr val="FFFFFF"/>
                </a:solidFill>
              </a:rPr>
              <a:t>Onboarding Tự Động</a:t>
            </a:r>
            <a:endParaRPr lang="en-US" sz="1400" dirty="0"/>
          </a:p>
        </p:txBody>
      </p:sp>
      <p:sp>
        <p:nvSpPr>
          <p:cNvPr id="10" name="Text 8"/>
          <p:cNvSpPr/>
          <p:nvPr/>
        </p:nvSpPr>
        <p:spPr>
          <a:xfrm>
            <a:off x="1005840" y="5486400"/>
            <a:ext cx="2834640" cy="365760"/>
          </a:xfrm>
          <a:prstGeom prst="rect">
            <a:avLst/>
          </a:prstGeom>
          <a:noFill/>
          <a:ln/>
        </p:spPr>
        <p:txBody>
          <a:bodyPr wrap="square" rtlCol="0" anchor="ctr"/>
          <a:lstStyle/>
          <a:p>
            <a:pPr indent="0" marL="0">
              <a:buNone/>
            </a:pPr>
            <a:r>
              <a:rPr lang="en-US" sz="1100" dirty="0">
                <a:solidFill>
                  <a:srgbClr val="94A3B8"/>
                </a:solidFill>
              </a:rPr>
              <a:t>Cấp tài khoản qua Google SMTP</a:t>
            </a:r>
            <a:endParaRPr lang="en-US" sz="1100" dirty="0"/>
          </a:p>
        </p:txBody>
      </p:sp>
      <p:sp>
        <p:nvSpPr>
          <p:cNvPr id="11" name="Shape 9"/>
          <p:cNvSpPr/>
          <p:nvPr/>
        </p:nvSpPr>
        <p:spPr>
          <a:xfrm>
            <a:off x="4389120" y="4389120"/>
            <a:ext cx="3383280" cy="1645920"/>
          </a:xfrm>
          <a:prstGeom prst="rect">
            <a:avLst/>
          </a:prstGeom>
          <a:solidFill>
            <a:srgbClr val="132A56"/>
          </a:solidFill>
          <a:ln w="19050">
            <a:solidFill>
              <a:srgbClr val="1E3A8A"/>
            </a:solidFill>
            <a:prstDash val="solid"/>
          </a:ln>
        </p:spPr>
      </p:sp>
      <p:sp>
        <p:nvSpPr>
          <p:cNvPr id="12" name="Text 10"/>
          <p:cNvSpPr/>
          <p:nvPr/>
        </p:nvSpPr>
        <p:spPr>
          <a:xfrm>
            <a:off x="4663440" y="4572000"/>
            <a:ext cx="2834640" cy="457200"/>
          </a:xfrm>
          <a:prstGeom prst="rect">
            <a:avLst/>
          </a:prstGeom>
          <a:noFill/>
          <a:ln/>
        </p:spPr>
        <p:txBody>
          <a:bodyPr wrap="square" rtlCol="0" anchor="ctr"/>
          <a:lstStyle/>
          <a:p>
            <a:pPr indent="0" marL="0">
              <a:buNone/>
            </a:pPr>
            <a:r>
              <a:rPr lang="en-US" sz="2000" b="1" dirty="0">
                <a:solidFill>
                  <a:srgbClr val="F59E0B"/>
                </a:solidFill>
              </a:rPr>
              <a:t>Unified</a:t>
            </a:r>
            <a:endParaRPr lang="en-US" sz="2000" dirty="0"/>
          </a:p>
        </p:txBody>
      </p:sp>
      <p:sp>
        <p:nvSpPr>
          <p:cNvPr id="13" name="Text 11"/>
          <p:cNvSpPr/>
          <p:nvPr/>
        </p:nvSpPr>
        <p:spPr>
          <a:xfrm>
            <a:off x="4663440" y="5120640"/>
            <a:ext cx="2834640" cy="365760"/>
          </a:xfrm>
          <a:prstGeom prst="rect">
            <a:avLst/>
          </a:prstGeom>
          <a:noFill/>
          <a:ln/>
        </p:spPr>
        <p:txBody>
          <a:bodyPr wrap="square" rtlCol="0" anchor="ctr"/>
          <a:lstStyle/>
          <a:p>
            <a:pPr indent="0" marL="0">
              <a:buNone/>
            </a:pPr>
            <a:r>
              <a:rPr lang="en-US" sz="1400" b="1" dirty="0">
                <a:solidFill>
                  <a:srgbClr val="FFFFFF"/>
                </a:solidFill>
              </a:rPr>
              <a:t>MinIO Asset Storage</a:t>
            </a:r>
            <a:endParaRPr lang="en-US" sz="1400" dirty="0"/>
          </a:p>
        </p:txBody>
      </p:sp>
      <p:sp>
        <p:nvSpPr>
          <p:cNvPr id="14" name="Text 12"/>
          <p:cNvSpPr/>
          <p:nvPr/>
        </p:nvSpPr>
        <p:spPr>
          <a:xfrm>
            <a:off x="4663440" y="5486400"/>
            <a:ext cx="2834640" cy="365760"/>
          </a:xfrm>
          <a:prstGeom prst="rect">
            <a:avLst/>
          </a:prstGeom>
          <a:noFill/>
          <a:ln/>
        </p:spPr>
        <p:txBody>
          <a:bodyPr wrap="square" rtlCol="0" anchor="ctr"/>
          <a:lstStyle/>
          <a:p>
            <a:pPr indent="0" marL="0">
              <a:buNone/>
            </a:pPr>
            <a:r>
              <a:rPr lang="en-US" sz="1100" dirty="0">
                <a:solidFill>
                  <a:srgbClr val="94A3B8"/>
                </a:solidFill>
              </a:rPr>
              <a:t>Lưu trữ ảnh tập trung chuẩn S3</a:t>
            </a:r>
            <a:endParaRPr lang="en-US" sz="1100" dirty="0"/>
          </a:p>
        </p:txBody>
      </p:sp>
      <p:sp>
        <p:nvSpPr>
          <p:cNvPr id="15" name="Shape 13"/>
          <p:cNvSpPr/>
          <p:nvPr/>
        </p:nvSpPr>
        <p:spPr>
          <a:xfrm>
            <a:off x="8046720" y="4389120"/>
            <a:ext cx="3383280" cy="1645920"/>
          </a:xfrm>
          <a:prstGeom prst="rect">
            <a:avLst/>
          </a:prstGeom>
          <a:solidFill>
            <a:srgbClr val="132A56"/>
          </a:solidFill>
          <a:ln w="19050">
            <a:solidFill>
              <a:srgbClr val="1E3A8A"/>
            </a:solidFill>
            <a:prstDash val="solid"/>
          </a:ln>
        </p:spPr>
      </p:sp>
      <p:sp>
        <p:nvSpPr>
          <p:cNvPr id="16" name="Text 14"/>
          <p:cNvSpPr/>
          <p:nvPr/>
        </p:nvSpPr>
        <p:spPr>
          <a:xfrm>
            <a:off x="8321040" y="4572000"/>
            <a:ext cx="2834640" cy="457200"/>
          </a:xfrm>
          <a:prstGeom prst="rect">
            <a:avLst/>
          </a:prstGeom>
          <a:noFill/>
          <a:ln/>
        </p:spPr>
        <p:txBody>
          <a:bodyPr wrap="square" rtlCol="0" anchor="ctr"/>
          <a:lstStyle/>
          <a:p>
            <a:pPr indent="0" marL="0">
              <a:buNone/>
            </a:pPr>
            <a:r>
              <a:rPr lang="en-US" sz="2000" b="1" dirty="0">
                <a:solidFill>
                  <a:srgbClr val="F59E0B"/>
                </a:solidFill>
              </a:rPr>
              <a:t>Multi-Channel</a:t>
            </a:r>
            <a:endParaRPr lang="en-US" sz="2000" dirty="0"/>
          </a:p>
        </p:txBody>
      </p:sp>
      <p:sp>
        <p:nvSpPr>
          <p:cNvPr id="17" name="Text 15"/>
          <p:cNvSpPr/>
          <p:nvPr/>
        </p:nvSpPr>
        <p:spPr>
          <a:xfrm>
            <a:off x="8321040" y="5120640"/>
            <a:ext cx="2834640" cy="365760"/>
          </a:xfrm>
          <a:prstGeom prst="rect">
            <a:avLst/>
          </a:prstGeom>
          <a:noFill/>
          <a:ln/>
        </p:spPr>
        <p:txBody>
          <a:bodyPr wrap="square" rtlCol="0" anchor="ctr"/>
          <a:lstStyle/>
          <a:p>
            <a:pPr indent="0" marL="0">
              <a:buNone/>
            </a:pPr>
            <a:r>
              <a:rPr lang="en-US" sz="1400" b="1" dirty="0">
                <a:solidFill>
                  <a:srgbClr val="FFFFFF"/>
                </a:solidFill>
              </a:rPr>
              <a:t>Broadcast 5 Kênh</a:t>
            </a:r>
            <a:endParaRPr lang="en-US" sz="1400" dirty="0"/>
          </a:p>
        </p:txBody>
      </p:sp>
      <p:sp>
        <p:nvSpPr>
          <p:cNvPr id="18" name="Text 16"/>
          <p:cNvSpPr/>
          <p:nvPr/>
        </p:nvSpPr>
        <p:spPr>
          <a:xfrm>
            <a:off x="8321040" y="5486400"/>
            <a:ext cx="2834640" cy="365760"/>
          </a:xfrm>
          <a:prstGeom prst="rect">
            <a:avLst/>
          </a:prstGeom>
          <a:noFill/>
          <a:ln/>
        </p:spPr>
        <p:txBody>
          <a:bodyPr wrap="square" rtlCol="0" anchor="ctr"/>
          <a:lstStyle/>
          <a:p>
            <a:pPr indent="0" marL="0">
              <a:buNone/>
            </a:pPr>
            <a:r>
              <a:rPr lang="en-US" sz="1100" dirty="0">
                <a:solidFill>
                  <a:srgbClr val="94A3B8"/>
                </a:solidFill>
              </a:rPr>
              <a:t>Phân luồng tin tức chuyên biệt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QUY TRÌNH TIẾP NHẬN TỰ ĐỘNG HÓA</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Đăng Ký Từ Landing Page 3D &amp; Cấp Mật Khẩu Qua Google SMTP</a:t>
            </a:r>
            <a:endParaRPr lang="en-US" sz="2400" dirty="0"/>
          </a:p>
        </p:txBody>
      </p:sp>
      <p:sp>
        <p:nvSpPr>
          <p:cNvPr id="4" name="Shape 2"/>
          <p:cNvSpPr/>
          <p:nvPr/>
        </p:nvSpPr>
        <p:spPr>
          <a:xfrm>
            <a:off x="731520" y="1645920"/>
            <a:ext cx="2560320" cy="4389120"/>
          </a:xfrm>
          <a:prstGeom prst="rect">
            <a:avLst/>
          </a:prstGeom>
          <a:solidFill>
            <a:srgbClr val="132A56"/>
          </a:solidFill>
          <a:ln w="15240">
            <a:solidFill>
              <a:srgbClr val="F59E0B"/>
            </a:solidFill>
            <a:prstDash val="solid"/>
          </a:ln>
        </p:spPr>
      </p:sp>
      <p:sp>
        <p:nvSpPr>
          <p:cNvPr id="5" name="Text 3"/>
          <p:cNvSpPr/>
          <p:nvPr/>
        </p:nvSpPr>
        <p:spPr>
          <a:xfrm>
            <a:off x="960120" y="1920240"/>
            <a:ext cx="2103120" cy="365760"/>
          </a:xfrm>
          <a:prstGeom prst="rect">
            <a:avLst/>
          </a:prstGeom>
          <a:noFill/>
          <a:ln/>
        </p:spPr>
        <p:txBody>
          <a:bodyPr wrap="square" rtlCol="0" anchor="ctr"/>
          <a:lstStyle/>
          <a:p>
            <a:pPr indent="0" marL="0">
              <a:buNone/>
            </a:pPr>
            <a:r>
              <a:rPr lang="en-US" sz="1600" b="1" dirty="0">
                <a:solidFill>
                  <a:srgbClr val="F59E0B"/>
                </a:solidFill>
              </a:rPr>
              <a:t>BƯỚC 1</a:t>
            </a:r>
            <a:endParaRPr lang="en-US" sz="1600" dirty="0"/>
          </a:p>
        </p:txBody>
      </p:sp>
      <p:sp>
        <p:nvSpPr>
          <p:cNvPr id="6" name="Text 4"/>
          <p:cNvSpPr/>
          <p:nvPr/>
        </p:nvSpPr>
        <p:spPr>
          <a:xfrm>
            <a:off x="960120" y="2468880"/>
            <a:ext cx="2103120" cy="731520"/>
          </a:xfrm>
          <a:prstGeom prst="rect">
            <a:avLst/>
          </a:prstGeom>
          <a:noFill/>
          <a:ln/>
        </p:spPr>
        <p:txBody>
          <a:bodyPr wrap="square" rtlCol="0" anchor="ctr"/>
          <a:lstStyle/>
          <a:p>
            <a:pPr indent="0" marL="0">
              <a:buNone/>
            </a:pPr>
            <a:r>
              <a:rPr lang="en-US" sz="1400" b="1" dirty="0">
                <a:solidFill>
                  <a:srgbClr val="FFFFFF"/>
                </a:solidFill>
              </a:rPr>
              <a:t>Hội Viên Nộp Form Landing 3D</a:t>
            </a:r>
            <a:endParaRPr lang="en-US" sz="1400" dirty="0"/>
          </a:p>
        </p:txBody>
      </p:sp>
      <p:sp>
        <p:nvSpPr>
          <p:cNvPr id="7" name="Text 5"/>
          <p:cNvSpPr/>
          <p:nvPr/>
        </p:nvSpPr>
        <p:spPr>
          <a:xfrm>
            <a:off x="960120" y="3383280"/>
            <a:ext cx="2103120" cy="2286000"/>
          </a:xfrm>
          <a:prstGeom prst="rect">
            <a:avLst/>
          </a:prstGeom>
          <a:noFill/>
          <a:ln/>
        </p:spPr>
        <p:txBody>
          <a:bodyPr wrap="square" rtlCol="0" anchor="ctr"/>
          <a:lstStyle/>
          <a:p>
            <a:pPr indent="0" marL="0">
              <a:buNone/>
            </a:pPr>
            <a:r>
              <a:rPr lang="en-US" sz="1200" dirty="0">
                <a:solidFill>
                  <a:srgbClr val="94A3B8"/>
                </a:solidFill>
              </a:rPr>
              <a:t>Khai báo họ tên, SĐT, email công vụ, MST, chức vụ và quy mô công ty.</a:t>
            </a:r>
            <a:endParaRPr lang="en-US" sz="1200" dirty="0"/>
          </a:p>
        </p:txBody>
      </p:sp>
      <p:sp>
        <p:nvSpPr>
          <p:cNvPr id="8" name="Shape 6"/>
          <p:cNvSpPr/>
          <p:nvPr/>
        </p:nvSpPr>
        <p:spPr>
          <a:xfrm>
            <a:off x="3474720" y="1645920"/>
            <a:ext cx="2560320" cy="4389120"/>
          </a:xfrm>
          <a:prstGeom prst="rect">
            <a:avLst/>
          </a:prstGeom>
          <a:solidFill>
            <a:srgbClr val="132A56"/>
          </a:solidFill>
          <a:ln w="15240">
            <a:solidFill>
              <a:srgbClr val="F59E0B"/>
            </a:solidFill>
            <a:prstDash val="solid"/>
          </a:ln>
        </p:spPr>
      </p:sp>
      <p:sp>
        <p:nvSpPr>
          <p:cNvPr id="9" name="Text 7"/>
          <p:cNvSpPr/>
          <p:nvPr/>
        </p:nvSpPr>
        <p:spPr>
          <a:xfrm>
            <a:off x="3703320" y="1920240"/>
            <a:ext cx="2103120" cy="365760"/>
          </a:xfrm>
          <a:prstGeom prst="rect">
            <a:avLst/>
          </a:prstGeom>
          <a:noFill/>
          <a:ln/>
        </p:spPr>
        <p:txBody>
          <a:bodyPr wrap="square" rtlCol="0" anchor="ctr"/>
          <a:lstStyle/>
          <a:p>
            <a:pPr indent="0" marL="0">
              <a:buNone/>
            </a:pPr>
            <a:r>
              <a:rPr lang="en-US" sz="1600" b="1" dirty="0">
                <a:solidFill>
                  <a:srgbClr val="F59E0B"/>
                </a:solidFill>
              </a:rPr>
              <a:t>BƯỚC 2</a:t>
            </a:r>
            <a:endParaRPr lang="en-US" sz="1600" dirty="0"/>
          </a:p>
        </p:txBody>
      </p:sp>
      <p:sp>
        <p:nvSpPr>
          <p:cNvPr id="10" name="Text 8"/>
          <p:cNvSpPr/>
          <p:nvPr/>
        </p:nvSpPr>
        <p:spPr>
          <a:xfrm>
            <a:off x="3703320" y="2468880"/>
            <a:ext cx="2103120" cy="731520"/>
          </a:xfrm>
          <a:prstGeom prst="rect">
            <a:avLst/>
          </a:prstGeom>
          <a:noFill/>
          <a:ln/>
        </p:spPr>
        <p:txBody>
          <a:bodyPr wrap="square" rtlCol="0" anchor="ctr"/>
          <a:lstStyle/>
          <a:p>
            <a:pPr indent="0" marL="0">
              <a:buNone/>
            </a:pPr>
            <a:r>
              <a:rPr lang="en-US" sz="1400" b="1" dirty="0">
                <a:solidFill>
                  <a:srgbClr val="FFFFFF"/>
                </a:solidFill>
              </a:rPr>
              <a:t>Tiếp Nhận &amp; Lưu Trữ CRM</a:t>
            </a:r>
            <a:endParaRPr lang="en-US" sz="1400" dirty="0"/>
          </a:p>
        </p:txBody>
      </p:sp>
      <p:sp>
        <p:nvSpPr>
          <p:cNvPr id="11" name="Text 9"/>
          <p:cNvSpPr/>
          <p:nvPr/>
        </p:nvSpPr>
        <p:spPr>
          <a:xfrm>
            <a:off x="3703320" y="3383280"/>
            <a:ext cx="2103120" cy="2286000"/>
          </a:xfrm>
          <a:prstGeom prst="rect">
            <a:avLst/>
          </a:prstGeom>
          <a:noFill/>
          <a:ln/>
        </p:spPr>
        <p:txBody>
          <a:bodyPr wrap="square" rtlCol="0" anchor="ctr"/>
          <a:lstStyle/>
          <a:p>
            <a:pPr indent="0" marL="0">
              <a:buNone/>
            </a:pPr>
            <a:r>
              <a:rPr lang="en-US" sz="1200" dirty="0">
                <a:solidFill>
                  <a:srgbClr val="94A3B8"/>
                </a:solidFill>
              </a:rPr>
              <a:t>API Backend POST /public/club-registration tiếp nhận và đưa vào hàng đợi thẩm định.</a:t>
            </a:r>
            <a:endParaRPr lang="en-US" sz="1200" dirty="0"/>
          </a:p>
        </p:txBody>
      </p:sp>
      <p:sp>
        <p:nvSpPr>
          <p:cNvPr id="12" name="Shape 10"/>
          <p:cNvSpPr/>
          <p:nvPr/>
        </p:nvSpPr>
        <p:spPr>
          <a:xfrm>
            <a:off x="6217920" y="1645920"/>
            <a:ext cx="2560320" cy="4389120"/>
          </a:xfrm>
          <a:prstGeom prst="rect">
            <a:avLst/>
          </a:prstGeom>
          <a:solidFill>
            <a:srgbClr val="132A56"/>
          </a:solidFill>
          <a:ln w="15240">
            <a:solidFill>
              <a:srgbClr val="F59E0B"/>
            </a:solidFill>
            <a:prstDash val="solid"/>
          </a:ln>
        </p:spPr>
      </p:sp>
      <p:sp>
        <p:nvSpPr>
          <p:cNvPr id="13" name="Text 11"/>
          <p:cNvSpPr/>
          <p:nvPr/>
        </p:nvSpPr>
        <p:spPr>
          <a:xfrm>
            <a:off x="6446520" y="1920240"/>
            <a:ext cx="2103120" cy="365760"/>
          </a:xfrm>
          <a:prstGeom prst="rect">
            <a:avLst/>
          </a:prstGeom>
          <a:noFill/>
          <a:ln/>
        </p:spPr>
        <p:txBody>
          <a:bodyPr wrap="square" rtlCol="0" anchor="ctr"/>
          <a:lstStyle/>
          <a:p>
            <a:pPr indent="0" marL="0">
              <a:buNone/>
            </a:pPr>
            <a:r>
              <a:rPr lang="en-US" sz="1600" b="1" dirty="0">
                <a:solidFill>
                  <a:srgbClr val="F59E0B"/>
                </a:solidFill>
              </a:rPr>
              <a:t>BƯỚC 3</a:t>
            </a:r>
            <a:endParaRPr lang="en-US" sz="1600" dirty="0"/>
          </a:p>
        </p:txBody>
      </p:sp>
      <p:sp>
        <p:nvSpPr>
          <p:cNvPr id="14" name="Text 12"/>
          <p:cNvSpPr/>
          <p:nvPr/>
        </p:nvSpPr>
        <p:spPr>
          <a:xfrm>
            <a:off x="6446520" y="2468880"/>
            <a:ext cx="2103120" cy="731520"/>
          </a:xfrm>
          <a:prstGeom prst="rect">
            <a:avLst/>
          </a:prstGeom>
          <a:noFill/>
          <a:ln/>
        </p:spPr>
        <p:txBody>
          <a:bodyPr wrap="square" rtlCol="0" anchor="ctr"/>
          <a:lstStyle/>
          <a:p>
            <a:pPr indent="0" marL="0">
              <a:buNone/>
            </a:pPr>
            <a:r>
              <a:rPr lang="en-US" sz="1400" b="1" dirty="0">
                <a:solidFill>
                  <a:srgbClr val="FFFFFF"/>
                </a:solidFill>
              </a:rPr>
              <a:t>Tạo Mật Khẩu Ngẫu Nhiên Bảo Mật</a:t>
            </a:r>
            <a:endParaRPr lang="en-US" sz="1400" dirty="0"/>
          </a:p>
        </p:txBody>
      </p:sp>
      <p:sp>
        <p:nvSpPr>
          <p:cNvPr id="15" name="Text 13"/>
          <p:cNvSpPr/>
          <p:nvPr/>
        </p:nvSpPr>
        <p:spPr>
          <a:xfrm>
            <a:off x="6446520" y="3383280"/>
            <a:ext cx="2103120" cy="2286000"/>
          </a:xfrm>
          <a:prstGeom prst="rect">
            <a:avLst/>
          </a:prstGeom>
          <a:noFill/>
          <a:ln/>
        </p:spPr>
        <p:txBody>
          <a:bodyPr wrap="square" rtlCol="0" anchor="ctr"/>
          <a:lstStyle/>
          <a:p>
            <a:pPr indent="0" marL="0">
              <a:buNone/>
            </a:pPr>
            <a:r>
              <a:rPr lang="en-US" sz="1200" dirty="0">
                <a:solidFill>
                  <a:srgbClr val="94A3B8"/>
                </a:solidFill>
              </a:rPr>
              <a:t>Hệ thống tự động sinh mật khẩu ngẫu nhiên phức tạp, chống trùng lặp và mã hóa bcrypt.</a:t>
            </a:r>
            <a:endParaRPr lang="en-US" sz="1200" dirty="0"/>
          </a:p>
        </p:txBody>
      </p:sp>
      <p:sp>
        <p:nvSpPr>
          <p:cNvPr id="16" name="Shape 14"/>
          <p:cNvSpPr/>
          <p:nvPr/>
        </p:nvSpPr>
        <p:spPr>
          <a:xfrm>
            <a:off x="8961120" y="1645920"/>
            <a:ext cx="2560320" cy="4389120"/>
          </a:xfrm>
          <a:prstGeom prst="rect">
            <a:avLst/>
          </a:prstGeom>
          <a:solidFill>
            <a:srgbClr val="132A56"/>
          </a:solidFill>
          <a:ln w="15240">
            <a:solidFill>
              <a:srgbClr val="F59E0B"/>
            </a:solidFill>
            <a:prstDash val="solid"/>
          </a:ln>
        </p:spPr>
      </p:sp>
      <p:sp>
        <p:nvSpPr>
          <p:cNvPr id="17" name="Text 15"/>
          <p:cNvSpPr/>
          <p:nvPr/>
        </p:nvSpPr>
        <p:spPr>
          <a:xfrm>
            <a:off x="9189720" y="1920240"/>
            <a:ext cx="2103120" cy="365760"/>
          </a:xfrm>
          <a:prstGeom prst="rect">
            <a:avLst/>
          </a:prstGeom>
          <a:noFill/>
          <a:ln/>
        </p:spPr>
        <p:txBody>
          <a:bodyPr wrap="square" rtlCol="0" anchor="ctr"/>
          <a:lstStyle/>
          <a:p>
            <a:pPr indent="0" marL="0">
              <a:buNone/>
            </a:pPr>
            <a:r>
              <a:rPr lang="en-US" sz="1600" b="1" dirty="0">
                <a:solidFill>
                  <a:srgbClr val="F59E0B"/>
                </a:solidFill>
              </a:rPr>
              <a:t>BƯỚC 4</a:t>
            </a:r>
            <a:endParaRPr lang="en-US" sz="1600" dirty="0"/>
          </a:p>
        </p:txBody>
      </p:sp>
      <p:sp>
        <p:nvSpPr>
          <p:cNvPr id="18" name="Text 16"/>
          <p:cNvSpPr/>
          <p:nvPr/>
        </p:nvSpPr>
        <p:spPr>
          <a:xfrm>
            <a:off x="9189720" y="2468880"/>
            <a:ext cx="2103120" cy="731520"/>
          </a:xfrm>
          <a:prstGeom prst="rect">
            <a:avLst/>
          </a:prstGeom>
          <a:noFill/>
          <a:ln/>
        </p:spPr>
        <p:txBody>
          <a:bodyPr wrap="square" rtlCol="0" anchor="ctr"/>
          <a:lstStyle/>
          <a:p>
            <a:pPr indent="0" marL="0">
              <a:buNone/>
            </a:pPr>
            <a:r>
              <a:rPr lang="en-US" sz="1400" b="1" dirty="0">
                <a:solidFill>
                  <a:srgbClr val="FFFFFF"/>
                </a:solidFill>
              </a:rPr>
              <a:t>Gửi Email Tự Động Qua SMTP</a:t>
            </a:r>
            <a:endParaRPr lang="en-US" sz="1400" dirty="0"/>
          </a:p>
        </p:txBody>
      </p:sp>
      <p:sp>
        <p:nvSpPr>
          <p:cNvPr id="19" name="Text 17"/>
          <p:cNvSpPr/>
          <p:nvPr/>
        </p:nvSpPr>
        <p:spPr>
          <a:xfrm>
            <a:off x="9189720" y="3383280"/>
            <a:ext cx="2103120" cy="2286000"/>
          </a:xfrm>
          <a:prstGeom prst="rect">
            <a:avLst/>
          </a:prstGeom>
          <a:noFill/>
          <a:ln/>
        </p:spPr>
        <p:txBody>
          <a:bodyPr wrap="square" rtlCol="0" anchor="ctr"/>
          <a:lstStyle/>
          <a:p>
            <a:pPr indent="0" marL="0">
              <a:buNone/>
            </a:pPr>
            <a:r>
              <a:rPr lang="en-US" sz="1200" dirty="0">
                <a:solidFill>
                  <a:srgbClr val="94A3B8"/>
                </a:solidFill>
              </a:rPr>
              <a:t>Thư điện tử HTML thương hiệu CEO 1983 cấp thông tin tài khoản và link cài app.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QUẢN TRỊ GIAO DIỆN CỔNG THÔNG TIN</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Quản Lý Kho Template Landing Web &amp; Tích Hợp Mẫu 3D Vertical</a:t>
            </a:r>
            <a:endParaRPr lang="en-US" sz="2400" dirty="0"/>
          </a:p>
        </p:txBody>
      </p:sp>
      <p:sp>
        <p:nvSpPr>
          <p:cNvPr id="4" name="Shape 2"/>
          <p:cNvSpPr/>
          <p:nvPr/>
        </p:nvSpPr>
        <p:spPr>
          <a:xfrm>
            <a:off x="731520" y="1645920"/>
            <a:ext cx="10607040" cy="1005840"/>
          </a:xfrm>
          <a:prstGeom prst="rect">
            <a:avLst/>
          </a:prstGeom>
          <a:solidFill>
            <a:srgbClr val="132A56"/>
          </a:solidFill>
          <a:ln w="12700">
            <a:solidFill>
              <a:srgbClr val="1E3A8A"/>
            </a:solidFill>
            <a:prstDash val="solid"/>
          </a:ln>
        </p:spPr>
      </p:sp>
      <p:sp>
        <p:nvSpPr>
          <p:cNvPr id="5" name="Text 3"/>
          <p:cNvSpPr/>
          <p:nvPr/>
        </p:nvSpPr>
        <p:spPr>
          <a:xfrm>
            <a:off x="1005840" y="1920240"/>
            <a:ext cx="457200" cy="457200"/>
          </a:xfrm>
          <a:prstGeom prst="rect">
            <a:avLst/>
          </a:prstGeom>
          <a:noFill/>
          <a:ln/>
        </p:spPr>
        <p:txBody>
          <a:bodyPr wrap="square" rtlCol="0" anchor="ctr"/>
          <a:lstStyle/>
          <a:p>
            <a:pPr indent="0" marL="0">
              <a:buNone/>
            </a:pPr>
            <a:r>
              <a:rPr lang="en-US" sz="2000" dirty="0">
                <a:solidFill>
                  <a:srgbClr val="F59E0B"/>
                </a:solidFill>
              </a:rPr>
              <a:t>❖</a:t>
            </a:r>
            <a:endParaRPr lang="en-US" sz="2000" dirty="0"/>
          </a:p>
        </p:txBody>
      </p:sp>
      <p:sp>
        <p:nvSpPr>
          <p:cNvPr id="6" name="Text 4"/>
          <p:cNvSpPr/>
          <p:nvPr/>
        </p:nvSpPr>
        <p:spPr>
          <a:xfrm>
            <a:off x="1554480" y="1828800"/>
            <a:ext cx="8686800" cy="320040"/>
          </a:xfrm>
          <a:prstGeom prst="rect">
            <a:avLst/>
          </a:prstGeom>
          <a:noFill/>
          <a:ln/>
        </p:spPr>
        <p:txBody>
          <a:bodyPr wrap="square" rtlCol="0" anchor="ctr"/>
          <a:lstStyle/>
          <a:p>
            <a:pPr indent="0" marL="0">
              <a:buNone/>
            </a:pPr>
            <a:r>
              <a:rPr lang="en-US" sz="1400" b="1" dirty="0">
                <a:solidFill>
                  <a:srgbClr val="FFFFFF"/>
                </a:solidFill>
              </a:rPr>
              <a:t>Tích Hợp Chuẩn Hóa Template Catalog</a:t>
            </a:r>
            <a:endParaRPr lang="en-US" sz="1400" dirty="0"/>
          </a:p>
        </p:txBody>
      </p:sp>
      <p:sp>
        <p:nvSpPr>
          <p:cNvPr id="7" name="Text 5"/>
          <p:cNvSpPr/>
          <p:nvPr/>
        </p:nvSpPr>
        <p:spPr>
          <a:xfrm>
            <a:off x="1554480" y="2148840"/>
            <a:ext cx="9326880" cy="411480"/>
          </a:xfrm>
          <a:prstGeom prst="rect">
            <a:avLst/>
          </a:prstGeom>
          <a:noFill/>
          <a:ln/>
        </p:spPr>
        <p:txBody>
          <a:bodyPr wrap="square" rtlCol="0" anchor="ctr"/>
          <a:lstStyle/>
          <a:p>
            <a:pPr indent="0" marL="0">
              <a:buNone/>
            </a:pPr>
            <a:r>
              <a:rPr lang="en-US" sz="1200" dirty="0">
                <a:solidFill>
                  <a:srgbClr val="94A3B8"/>
                </a:solidFill>
              </a:rPr>
              <a:t>Đưa mẫu "CEO 1983 - 3D Vertical Landscape" vào danh mục quản lý tập trung landing-templates-catalog.ts với định danh riêng biệt.</a:t>
            </a:r>
            <a:endParaRPr lang="en-US" sz="1200" dirty="0"/>
          </a:p>
        </p:txBody>
      </p:sp>
      <p:sp>
        <p:nvSpPr>
          <p:cNvPr id="8" name="Shape 6"/>
          <p:cNvSpPr/>
          <p:nvPr/>
        </p:nvSpPr>
        <p:spPr>
          <a:xfrm>
            <a:off x="731520" y="2788920"/>
            <a:ext cx="10607040" cy="1005840"/>
          </a:xfrm>
          <a:prstGeom prst="rect">
            <a:avLst/>
          </a:prstGeom>
          <a:solidFill>
            <a:srgbClr val="132A56"/>
          </a:solidFill>
          <a:ln w="12700">
            <a:solidFill>
              <a:srgbClr val="1E3A8A"/>
            </a:solidFill>
            <a:prstDash val="solid"/>
          </a:ln>
        </p:spPr>
      </p:sp>
      <p:sp>
        <p:nvSpPr>
          <p:cNvPr id="9" name="Text 7"/>
          <p:cNvSpPr/>
          <p:nvPr/>
        </p:nvSpPr>
        <p:spPr>
          <a:xfrm>
            <a:off x="1005840" y="3063240"/>
            <a:ext cx="457200" cy="457200"/>
          </a:xfrm>
          <a:prstGeom prst="rect">
            <a:avLst/>
          </a:prstGeom>
          <a:noFill/>
          <a:ln/>
        </p:spPr>
        <p:txBody>
          <a:bodyPr wrap="square" rtlCol="0" anchor="ctr"/>
          <a:lstStyle/>
          <a:p>
            <a:pPr indent="0" marL="0">
              <a:buNone/>
            </a:pPr>
            <a:r>
              <a:rPr lang="en-US" sz="2000" dirty="0">
                <a:solidFill>
                  <a:srgbClr val="F59E0B"/>
                </a:solidFill>
              </a:rPr>
              <a:t>❖</a:t>
            </a:r>
            <a:endParaRPr lang="en-US" sz="2000" dirty="0"/>
          </a:p>
        </p:txBody>
      </p:sp>
      <p:sp>
        <p:nvSpPr>
          <p:cNvPr id="10" name="Text 8"/>
          <p:cNvSpPr/>
          <p:nvPr/>
        </p:nvSpPr>
        <p:spPr>
          <a:xfrm>
            <a:off x="1554480" y="2971800"/>
            <a:ext cx="8686800" cy="320040"/>
          </a:xfrm>
          <a:prstGeom prst="rect">
            <a:avLst/>
          </a:prstGeom>
          <a:noFill/>
          <a:ln/>
        </p:spPr>
        <p:txBody>
          <a:bodyPr wrap="square" rtlCol="0" anchor="ctr"/>
          <a:lstStyle/>
          <a:p>
            <a:pPr indent="0" marL="0">
              <a:buNone/>
            </a:pPr>
            <a:r>
              <a:rPr lang="en-US" sz="1400" b="1" dirty="0">
                <a:solidFill>
                  <a:srgbClr val="FFFFFF"/>
                </a:solidFill>
              </a:rPr>
              <a:t>Chuyển Đổi Nhanh Giữa Các Phiên Bản</a:t>
            </a:r>
            <a:endParaRPr lang="en-US" sz="1400" dirty="0"/>
          </a:p>
        </p:txBody>
      </p:sp>
      <p:sp>
        <p:nvSpPr>
          <p:cNvPr id="11" name="Text 9"/>
          <p:cNvSpPr/>
          <p:nvPr/>
        </p:nvSpPr>
        <p:spPr>
          <a:xfrm>
            <a:off x="1554480" y="3291840"/>
            <a:ext cx="9326880" cy="411480"/>
          </a:xfrm>
          <a:prstGeom prst="rect">
            <a:avLst/>
          </a:prstGeom>
          <a:noFill/>
          <a:ln/>
        </p:spPr>
        <p:txBody>
          <a:bodyPr wrap="square" rtlCol="0" anchor="ctr"/>
          <a:lstStyle/>
          <a:p>
            <a:pPr indent="0" marL="0">
              <a:buNone/>
            </a:pPr>
            <a:r>
              <a:rPr lang="en-US" sz="1200" dirty="0">
                <a:solidFill>
                  <a:srgbClr val="94A3B8"/>
                </a:solidFill>
              </a:rPr>
              <a:t>Ban Truyền thông có thể linh hoạt chuyển đổi giữa mẫu Blue-White kinh điển, mẫu Cinematic Parallax hoặc mẫu 3D Vertical mới.</a:t>
            </a:r>
            <a:endParaRPr lang="en-US" sz="1200" dirty="0"/>
          </a:p>
        </p:txBody>
      </p:sp>
      <p:sp>
        <p:nvSpPr>
          <p:cNvPr id="12" name="Shape 10"/>
          <p:cNvSpPr/>
          <p:nvPr/>
        </p:nvSpPr>
        <p:spPr>
          <a:xfrm>
            <a:off x="731520" y="3931920"/>
            <a:ext cx="10607040" cy="1005840"/>
          </a:xfrm>
          <a:prstGeom prst="rect">
            <a:avLst/>
          </a:prstGeom>
          <a:solidFill>
            <a:srgbClr val="132A56"/>
          </a:solidFill>
          <a:ln w="12700">
            <a:solidFill>
              <a:srgbClr val="1E3A8A"/>
            </a:solidFill>
            <a:prstDash val="solid"/>
          </a:ln>
        </p:spPr>
      </p:sp>
      <p:sp>
        <p:nvSpPr>
          <p:cNvPr id="13" name="Text 11"/>
          <p:cNvSpPr/>
          <p:nvPr/>
        </p:nvSpPr>
        <p:spPr>
          <a:xfrm>
            <a:off x="1005840" y="4206240"/>
            <a:ext cx="457200" cy="457200"/>
          </a:xfrm>
          <a:prstGeom prst="rect">
            <a:avLst/>
          </a:prstGeom>
          <a:noFill/>
          <a:ln/>
        </p:spPr>
        <p:txBody>
          <a:bodyPr wrap="square" rtlCol="0" anchor="ctr"/>
          <a:lstStyle/>
          <a:p>
            <a:pPr indent="0" marL="0">
              <a:buNone/>
            </a:pPr>
            <a:r>
              <a:rPr lang="en-US" sz="2000" dirty="0">
                <a:solidFill>
                  <a:srgbClr val="F59E0B"/>
                </a:solidFill>
              </a:rPr>
              <a:t>❖</a:t>
            </a:r>
            <a:endParaRPr lang="en-US" sz="2000" dirty="0"/>
          </a:p>
        </p:txBody>
      </p:sp>
      <p:sp>
        <p:nvSpPr>
          <p:cNvPr id="14" name="Text 12"/>
          <p:cNvSpPr/>
          <p:nvPr/>
        </p:nvSpPr>
        <p:spPr>
          <a:xfrm>
            <a:off x="1554480" y="4114800"/>
            <a:ext cx="8686800" cy="320040"/>
          </a:xfrm>
          <a:prstGeom prst="rect">
            <a:avLst/>
          </a:prstGeom>
          <a:noFill/>
          <a:ln/>
        </p:spPr>
        <p:txBody>
          <a:bodyPr wrap="square" rtlCol="0" anchor="ctr"/>
          <a:lstStyle/>
          <a:p>
            <a:pPr indent="0" marL="0">
              <a:buNone/>
            </a:pPr>
            <a:r>
              <a:rPr lang="en-US" sz="1400" b="1" dirty="0">
                <a:solidFill>
                  <a:srgbClr val="FFFFFF"/>
                </a:solidFill>
              </a:rPr>
              <a:t>Xem Trước Đa Thiết Bị (Device Preview)</a:t>
            </a:r>
            <a:endParaRPr lang="en-US" sz="1400" dirty="0"/>
          </a:p>
        </p:txBody>
      </p:sp>
      <p:sp>
        <p:nvSpPr>
          <p:cNvPr id="15" name="Text 13"/>
          <p:cNvSpPr/>
          <p:nvPr/>
        </p:nvSpPr>
        <p:spPr>
          <a:xfrm>
            <a:off x="1554480" y="4434840"/>
            <a:ext cx="9326880" cy="411480"/>
          </a:xfrm>
          <a:prstGeom prst="rect">
            <a:avLst/>
          </a:prstGeom>
          <a:noFill/>
          <a:ln/>
        </p:spPr>
        <p:txBody>
          <a:bodyPr wrap="square" rtlCol="0" anchor="ctr"/>
          <a:lstStyle/>
          <a:p>
            <a:pPr indent="0" marL="0">
              <a:buNone/>
            </a:pPr>
            <a:r>
              <a:rPr lang="en-US" sz="1200" dirty="0">
                <a:solidFill>
                  <a:srgbClr val="94A3B8"/>
                </a:solidFill>
              </a:rPr>
              <a:t>Tích hợp màn hình xem trước trực quan trên Desktop (1440px), Tablet (768px) và Mobile (390px) trước khi bấm áp dụng xuất bản.</a:t>
            </a:r>
            <a:endParaRPr lang="en-US" sz="1200" dirty="0"/>
          </a:p>
        </p:txBody>
      </p:sp>
      <p:sp>
        <p:nvSpPr>
          <p:cNvPr id="16" name="Shape 14"/>
          <p:cNvSpPr/>
          <p:nvPr/>
        </p:nvSpPr>
        <p:spPr>
          <a:xfrm>
            <a:off x="731520" y="5074920"/>
            <a:ext cx="10607040" cy="1005840"/>
          </a:xfrm>
          <a:prstGeom prst="rect">
            <a:avLst/>
          </a:prstGeom>
          <a:solidFill>
            <a:srgbClr val="132A56"/>
          </a:solidFill>
          <a:ln w="12700">
            <a:solidFill>
              <a:srgbClr val="1E3A8A"/>
            </a:solidFill>
            <a:prstDash val="solid"/>
          </a:ln>
        </p:spPr>
      </p:sp>
      <p:sp>
        <p:nvSpPr>
          <p:cNvPr id="17" name="Text 15"/>
          <p:cNvSpPr/>
          <p:nvPr/>
        </p:nvSpPr>
        <p:spPr>
          <a:xfrm>
            <a:off x="1005840" y="5349240"/>
            <a:ext cx="457200" cy="457200"/>
          </a:xfrm>
          <a:prstGeom prst="rect">
            <a:avLst/>
          </a:prstGeom>
          <a:noFill/>
          <a:ln/>
        </p:spPr>
        <p:txBody>
          <a:bodyPr wrap="square" rtlCol="0" anchor="ctr"/>
          <a:lstStyle/>
          <a:p>
            <a:pPr indent="0" marL="0">
              <a:buNone/>
            </a:pPr>
            <a:r>
              <a:rPr lang="en-US" sz="2000" dirty="0">
                <a:solidFill>
                  <a:srgbClr val="F59E0B"/>
                </a:solidFill>
              </a:rPr>
              <a:t>❖</a:t>
            </a:r>
            <a:endParaRPr lang="en-US" sz="2000" dirty="0"/>
          </a:p>
        </p:txBody>
      </p:sp>
      <p:sp>
        <p:nvSpPr>
          <p:cNvPr id="18" name="Text 16"/>
          <p:cNvSpPr/>
          <p:nvPr/>
        </p:nvSpPr>
        <p:spPr>
          <a:xfrm>
            <a:off x="1554480" y="5257800"/>
            <a:ext cx="8686800" cy="320040"/>
          </a:xfrm>
          <a:prstGeom prst="rect">
            <a:avLst/>
          </a:prstGeom>
          <a:noFill/>
          <a:ln/>
        </p:spPr>
        <p:txBody>
          <a:bodyPr wrap="square" rtlCol="0" anchor="ctr"/>
          <a:lstStyle/>
          <a:p>
            <a:pPr indent="0" marL="0">
              <a:buNone/>
            </a:pPr>
            <a:r>
              <a:rPr lang="en-US" sz="1400" b="1" dirty="0">
                <a:solidFill>
                  <a:srgbClr val="FFFFFF"/>
                </a:solidFill>
              </a:rPr>
              <a:t>Đồng Bộ Dữ Liệu Form Đăng Ký Trực Tiếp</a:t>
            </a:r>
            <a:endParaRPr lang="en-US" sz="1400" dirty="0"/>
          </a:p>
        </p:txBody>
      </p:sp>
      <p:sp>
        <p:nvSpPr>
          <p:cNvPr id="19" name="Text 17"/>
          <p:cNvSpPr/>
          <p:nvPr/>
        </p:nvSpPr>
        <p:spPr>
          <a:xfrm>
            <a:off x="1554480" y="5577840"/>
            <a:ext cx="9326880" cy="411480"/>
          </a:xfrm>
          <a:prstGeom prst="rect">
            <a:avLst/>
          </a:prstGeom>
          <a:noFill/>
          <a:ln/>
        </p:spPr>
        <p:txBody>
          <a:bodyPr wrap="square" rtlCol="0" anchor="ctr"/>
          <a:lstStyle/>
          <a:p>
            <a:pPr indent="0" marL="0">
              <a:buNone/>
            </a:pPr>
            <a:r>
              <a:rPr lang="en-US" sz="1200" dirty="0">
                <a:solidFill>
                  <a:srgbClr val="94A3B8"/>
                </a:solidFill>
              </a:rPr>
              <a:t>Mọi đơn đăng ký từ bất kỳ mẫu landing nào đều được kết nối trực tiếp vào cùng một pipeline thẩm định hồ sơ của Web CRM.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ĐIỀU HÀNH SỰ KIỆN TOÀN DIỆN</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Cấu Hình Vé 0đ, Upload Banner MinIO &amp; Sơ Đồ Ghế Khán Phòng</a:t>
            </a:r>
            <a:endParaRPr lang="en-US" sz="2400" dirty="0"/>
          </a:p>
        </p:txBody>
      </p:sp>
      <p:sp>
        <p:nvSpPr>
          <p:cNvPr id="4" name="Shape 2"/>
          <p:cNvSpPr/>
          <p:nvPr/>
        </p:nvSpPr>
        <p:spPr>
          <a:xfrm>
            <a:off x="731520" y="1645920"/>
            <a:ext cx="3383280" cy="4389120"/>
          </a:xfrm>
          <a:prstGeom prst="rect">
            <a:avLst/>
          </a:prstGeom>
          <a:solidFill>
            <a:srgbClr val="132A56"/>
          </a:solidFill>
          <a:ln w="15240">
            <a:solidFill>
              <a:srgbClr val="F59E0B"/>
            </a:solidFill>
            <a:prstDash val="solid"/>
          </a:ln>
        </p:spPr>
      </p:sp>
      <p:sp>
        <p:nvSpPr>
          <p:cNvPr id="5" name="Text 3"/>
          <p:cNvSpPr/>
          <p:nvPr/>
        </p:nvSpPr>
        <p:spPr>
          <a:xfrm>
            <a:off x="1005840" y="1920240"/>
            <a:ext cx="2834640" cy="640080"/>
          </a:xfrm>
          <a:prstGeom prst="rect">
            <a:avLst/>
          </a:prstGeom>
          <a:noFill/>
          <a:ln/>
        </p:spPr>
        <p:txBody>
          <a:bodyPr wrap="square" rtlCol="0" anchor="ctr"/>
          <a:lstStyle/>
          <a:p>
            <a:pPr indent="0" marL="0">
              <a:buNone/>
            </a:pPr>
            <a:r>
              <a:rPr lang="en-US" sz="1500" b="1" dirty="0">
                <a:solidFill>
                  <a:srgbClr val="F59E0B"/>
                </a:solidFill>
              </a:rPr>
              <a:t>Cấu Hình Vé 0đ Linh Hoạt</a:t>
            </a:r>
            <a:endParaRPr lang="en-US" sz="1500" dirty="0"/>
          </a:p>
        </p:txBody>
      </p:sp>
      <p:sp>
        <p:nvSpPr>
          <p:cNvPr id="6" name="Text 4"/>
          <p:cNvSpPr/>
          <p:nvPr/>
        </p:nvSpPr>
        <p:spPr>
          <a:xfrm>
            <a:off x="1005840" y="2651760"/>
            <a:ext cx="2834640" cy="1005840"/>
          </a:xfrm>
          <a:prstGeom prst="rect">
            <a:avLst/>
          </a:prstGeom>
          <a:noFill/>
          <a:ln/>
        </p:spPr>
        <p:txBody>
          <a:bodyPr wrap="square" rtlCol="0" anchor="ctr"/>
          <a:lstStyle/>
          <a:p>
            <a:pPr indent="0" marL="0">
              <a:buNone/>
            </a:pPr>
            <a:r>
              <a:rPr lang="en-US" sz="1200" dirty="0">
                <a:solidFill>
                  <a:srgbClr val="FFFFFF"/>
                </a:solidFill>
              </a:rPr>
              <a:t>✔ Thiết lập giá vé 0đ cho họp định kỳ và đại hội nội bộ.</a:t>
            </a:r>
            <a:endParaRPr lang="en-US" sz="1200" dirty="0"/>
          </a:p>
        </p:txBody>
      </p:sp>
      <p:sp>
        <p:nvSpPr>
          <p:cNvPr id="7" name="Text 5"/>
          <p:cNvSpPr/>
          <p:nvPr/>
        </p:nvSpPr>
        <p:spPr>
          <a:xfrm>
            <a:off x="1005840" y="3749040"/>
            <a:ext cx="2834640" cy="1005840"/>
          </a:xfrm>
          <a:prstGeom prst="rect">
            <a:avLst/>
          </a:prstGeom>
          <a:noFill/>
          <a:ln/>
        </p:spPr>
        <p:txBody>
          <a:bodyPr wrap="square" rtlCol="0" anchor="ctr"/>
          <a:lstStyle/>
          <a:p>
            <a:pPr indent="0" marL="0">
              <a:buNone/>
            </a:pPr>
            <a:r>
              <a:rPr lang="en-US" sz="1200" dirty="0">
                <a:solidFill>
                  <a:srgbClr val="FFFFFF"/>
                </a:solidFill>
              </a:rPr>
              <a:t>✔ Hệ thống tự động cấp Vé Pass có mã QR check-in.</a:t>
            </a:r>
            <a:endParaRPr lang="en-US" sz="1200" dirty="0"/>
          </a:p>
        </p:txBody>
      </p:sp>
      <p:sp>
        <p:nvSpPr>
          <p:cNvPr id="8" name="Text 6"/>
          <p:cNvSpPr/>
          <p:nvPr/>
        </p:nvSpPr>
        <p:spPr>
          <a:xfrm>
            <a:off x="1005840" y="4846320"/>
            <a:ext cx="2834640" cy="1005840"/>
          </a:xfrm>
          <a:prstGeom prst="rect">
            <a:avLst/>
          </a:prstGeom>
          <a:noFill/>
          <a:ln/>
        </p:spPr>
        <p:txBody>
          <a:bodyPr wrap="square" rtlCol="0" anchor="ctr"/>
          <a:lstStyle/>
          <a:p>
            <a:pPr indent="0" marL="0">
              <a:buNone/>
            </a:pPr>
            <a:r>
              <a:rPr lang="en-US" sz="1200" dirty="0">
                <a:solidFill>
                  <a:srgbClr val="FFFFFF"/>
                </a:solidFill>
              </a:rPr>
              <a:t>✔ Loại bỏ cổng thanh toán bắt buộc cho sự kiện miễn phí.</a:t>
            </a:r>
            <a:endParaRPr lang="en-US" sz="1200" dirty="0"/>
          </a:p>
        </p:txBody>
      </p:sp>
      <p:sp>
        <p:nvSpPr>
          <p:cNvPr id="9" name="Shape 7"/>
          <p:cNvSpPr/>
          <p:nvPr/>
        </p:nvSpPr>
        <p:spPr>
          <a:xfrm>
            <a:off x="4389120" y="1645920"/>
            <a:ext cx="3383280" cy="4389120"/>
          </a:xfrm>
          <a:prstGeom prst="rect">
            <a:avLst/>
          </a:prstGeom>
          <a:solidFill>
            <a:srgbClr val="132A56"/>
          </a:solidFill>
          <a:ln w="15240">
            <a:solidFill>
              <a:srgbClr val="F59E0B"/>
            </a:solidFill>
            <a:prstDash val="solid"/>
          </a:ln>
        </p:spPr>
      </p:sp>
      <p:sp>
        <p:nvSpPr>
          <p:cNvPr id="10" name="Text 8"/>
          <p:cNvSpPr/>
          <p:nvPr/>
        </p:nvSpPr>
        <p:spPr>
          <a:xfrm>
            <a:off x="4663440" y="1920240"/>
            <a:ext cx="2834640" cy="640080"/>
          </a:xfrm>
          <a:prstGeom prst="rect">
            <a:avLst/>
          </a:prstGeom>
          <a:noFill/>
          <a:ln/>
        </p:spPr>
        <p:txBody>
          <a:bodyPr wrap="square" rtlCol="0" anchor="ctr"/>
          <a:lstStyle/>
          <a:p>
            <a:pPr indent="0" marL="0">
              <a:buNone/>
            </a:pPr>
            <a:r>
              <a:rPr lang="en-US" sz="1500" b="1" dirty="0">
                <a:solidFill>
                  <a:srgbClr val="F59E0B"/>
                </a:solidFill>
              </a:rPr>
              <a:t>MinIO Storage Cho Banner Sự Kiện</a:t>
            </a:r>
            <a:endParaRPr lang="en-US" sz="1500" dirty="0"/>
          </a:p>
        </p:txBody>
      </p:sp>
      <p:sp>
        <p:nvSpPr>
          <p:cNvPr id="11" name="Text 9"/>
          <p:cNvSpPr/>
          <p:nvPr/>
        </p:nvSpPr>
        <p:spPr>
          <a:xfrm>
            <a:off x="4663440" y="2651760"/>
            <a:ext cx="2834640" cy="1005840"/>
          </a:xfrm>
          <a:prstGeom prst="rect">
            <a:avLst/>
          </a:prstGeom>
          <a:noFill/>
          <a:ln/>
        </p:spPr>
        <p:txBody>
          <a:bodyPr wrap="square" rtlCol="0" anchor="ctr"/>
          <a:lstStyle/>
          <a:p>
            <a:pPr indent="0" marL="0">
              <a:buNone/>
            </a:pPr>
            <a:r>
              <a:rPr lang="en-US" sz="1200" dirty="0">
                <a:solidFill>
                  <a:srgbClr val="FFFFFF"/>
                </a:solidFill>
              </a:rPr>
              <a:t>✔ Ảnh banner upload qua CRM lưu an toàn trên MinIO S3.</a:t>
            </a:r>
            <a:endParaRPr lang="en-US" sz="1200" dirty="0"/>
          </a:p>
        </p:txBody>
      </p:sp>
      <p:sp>
        <p:nvSpPr>
          <p:cNvPr id="12" name="Text 10"/>
          <p:cNvSpPr/>
          <p:nvPr/>
        </p:nvSpPr>
        <p:spPr>
          <a:xfrm>
            <a:off x="4663440" y="3749040"/>
            <a:ext cx="2834640" cy="1005840"/>
          </a:xfrm>
          <a:prstGeom prst="rect">
            <a:avLst/>
          </a:prstGeom>
          <a:noFill/>
          <a:ln/>
        </p:spPr>
        <p:txBody>
          <a:bodyPr wrap="square" rtlCol="0" anchor="ctr"/>
          <a:lstStyle/>
          <a:p>
            <a:pPr indent="0" marL="0">
              <a:buNone/>
            </a:pPr>
            <a:r>
              <a:rPr lang="en-US" sz="1200" dirty="0">
                <a:solidFill>
                  <a:srgbClr val="FFFFFF"/>
                </a:solidFill>
              </a:rPr>
              <a:t>✔ Mobile App tự động tải ảnh thực tế, không dùng ảnh demo.</a:t>
            </a:r>
            <a:endParaRPr lang="en-US" sz="1200" dirty="0"/>
          </a:p>
        </p:txBody>
      </p:sp>
      <p:sp>
        <p:nvSpPr>
          <p:cNvPr id="13" name="Text 11"/>
          <p:cNvSpPr/>
          <p:nvPr/>
        </p:nvSpPr>
        <p:spPr>
          <a:xfrm>
            <a:off x="4663440" y="4846320"/>
            <a:ext cx="2834640" cy="1005840"/>
          </a:xfrm>
          <a:prstGeom prst="rect">
            <a:avLst/>
          </a:prstGeom>
          <a:noFill/>
          <a:ln/>
        </p:spPr>
        <p:txBody>
          <a:bodyPr wrap="square" rtlCol="0" anchor="ctr"/>
          <a:lstStyle/>
          <a:p>
            <a:pPr indent="0" marL="0">
              <a:buNone/>
            </a:pPr>
            <a:r>
              <a:rPr lang="en-US" sz="1200" dirty="0">
                <a:solidFill>
                  <a:srgbClr val="FFFFFF"/>
                </a:solidFill>
              </a:rPr>
              <a:t>✔ Tốc độ truyền tải CDN tối ưu hóa cho hàng nghìn truy cập.</a:t>
            </a:r>
            <a:endParaRPr lang="en-US" sz="1200" dirty="0"/>
          </a:p>
        </p:txBody>
      </p:sp>
      <p:sp>
        <p:nvSpPr>
          <p:cNvPr id="14" name="Shape 12"/>
          <p:cNvSpPr/>
          <p:nvPr/>
        </p:nvSpPr>
        <p:spPr>
          <a:xfrm>
            <a:off x="8046720" y="1645920"/>
            <a:ext cx="3383280" cy="4389120"/>
          </a:xfrm>
          <a:prstGeom prst="rect">
            <a:avLst/>
          </a:prstGeom>
          <a:solidFill>
            <a:srgbClr val="132A56"/>
          </a:solidFill>
          <a:ln w="15240">
            <a:solidFill>
              <a:srgbClr val="F59E0B"/>
            </a:solidFill>
            <a:prstDash val="solid"/>
          </a:ln>
        </p:spPr>
      </p:sp>
      <p:sp>
        <p:nvSpPr>
          <p:cNvPr id="15" name="Text 13"/>
          <p:cNvSpPr/>
          <p:nvPr/>
        </p:nvSpPr>
        <p:spPr>
          <a:xfrm>
            <a:off x="8321040" y="1920240"/>
            <a:ext cx="2834640" cy="640080"/>
          </a:xfrm>
          <a:prstGeom prst="rect">
            <a:avLst/>
          </a:prstGeom>
          <a:noFill/>
          <a:ln/>
        </p:spPr>
        <p:txBody>
          <a:bodyPr wrap="square" rtlCol="0" anchor="ctr"/>
          <a:lstStyle/>
          <a:p>
            <a:pPr indent="0" marL="0">
              <a:buNone/>
            </a:pPr>
            <a:r>
              <a:rPr lang="en-US" sz="1500" b="1" dirty="0">
                <a:solidFill>
                  <a:srgbClr val="F59E0B"/>
                </a:solidFill>
              </a:rPr>
              <a:t>Sơ Đồ Cinema Seating Map &amp; Check-in</a:t>
            </a:r>
            <a:endParaRPr lang="en-US" sz="1500" dirty="0"/>
          </a:p>
        </p:txBody>
      </p:sp>
      <p:sp>
        <p:nvSpPr>
          <p:cNvPr id="16" name="Text 14"/>
          <p:cNvSpPr/>
          <p:nvPr/>
        </p:nvSpPr>
        <p:spPr>
          <a:xfrm>
            <a:off x="8321040" y="2651760"/>
            <a:ext cx="2834640" cy="1005840"/>
          </a:xfrm>
          <a:prstGeom prst="rect">
            <a:avLst/>
          </a:prstGeom>
          <a:noFill/>
          <a:ln/>
        </p:spPr>
        <p:txBody>
          <a:bodyPr wrap="square" rtlCol="0" anchor="ctr"/>
          <a:lstStyle/>
          <a:p>
            <a:pPr indent="0" marL="0">
              <a:buNone/>
            </a:pPr>
            <a:r>
              <a:rPr lang="en-US" sz="1200" dirty="0">
                <a:solidFill>
                  <a:srgbClr val="FFFFFF"/>
                </a:solidFill>
              </a:rPr>
              <a:t>✔ Kéo thả phân bổ ghế ngồi Bàn VIP, Khách mời, Ban Chấp Hành.</a:t>
            </a:r>
            <a:endParaRPr lang="en-US" sz="1200" dirty="0"/>
          </a:p>
        </p:txBody>
      </p:sp>
      <p:sp>
        <p:nvSpPr>
          <p:cNvPr id="17" name="Text 15"/>
          <p:cNvSpPr/>
          <p:nvPr/>
        </p:nvSpPr>
        <p:spPr>
          <a:xfrm>
            <a:off x="8321040" y="3749040"/>
            <a:ext cx="2834640" cy="1005840"/>
          </a:xfrm>
          <a:prstGeom prst="rect">
            <a:avLst/>
          </a:prstGeom>
          <a:noFill/>
          <a:ln/>
        </p:spPr>
        <p:txBody>
          <a:bodyPr wrap="square" rtlCol="0" anchor="ctr"/>
          <a:lstStyle/>
          <a:p>
            <a:pPr indent="0" marL="0">
              <a:buNone/>
            </a:pPr>
            <a:r>
              <a:rPr lang="en-US" sz="1200" dirty="0">
                <a:solidFill>
                  <a:srgbClr val="FFFFFF"/>
                </a:solidFill>
              </a:rPr>
              <a:t>✔ Quản lý danh sách check-in thời gian thực theo từng giây.</a:t>
            </a:r>
            <a:endParaRPr lang="en-US" sz="1200" dirty="0"/>
          </a:p>
        </p:txBody>
      </p:sp>
      <p:sp>
        <p:nvSpPr>
          <p:cNvPr id="18" name="Text 16"/>
          <p:cNvSpPr/>
          <p:nvPr/>
        </p:nvSpPr>
        <p:spPr>
          <a:xfrm>
            <a:off x="8321040" y="4846320"/>
            <a:ext cx="2834640" cy="1005840"/>
          </a:xfrm>
          <a:prstGeom prst="rect">
            <a:avLst/>
          </a:prstGeom>
          <a:noFill/>
          <a:ln/>
        </p:spPr>
        <p:txBody>
          <a:bodyPr wrap="square" rtlCol="0" anchor="ctr"/>
          <a:lstStyle/>
          <a:p>
            <a:pPr indent="0" marL="0">
              <a:buNone/>
            </a:pPr>
            <a:r>
              <a:rPr lang="en-US" sz="1200" dirty="0">
                <a:solidFill>
                  <a:srgbClr val="FFFFFF"/>
                </a:solidFill>
              </a:rPr>
              <a:t>✔ Màn hình Kiosk Check-in QR tốc độ cao đón tiếp đại biểu.</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ĐIỀU HÀNH ĐẠI HỘI &amp; GALA</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Điều Phối Biểu Quyết Live Voting &amp; Vòng Quay May Mắn Lucky Draw</a:t>
            </a:r>
            <a:endParaRPr lang="en-US" sz="2400" dirty="0"/>
          </a:p>
        </p:txBody>
      </p:sp>
      <p:sp>
        <p:nvSpPr>
          <p:cNvPr id="4" name="Shape 2"/>
          <p:cNvSpPr/>
          <p:nvPr/>
        </p:nvSpPr>
        <p:spPr>
          <a:xfrm>
            <a:off x="731520" y="1645920"/>
            <a:ext cx="3383280" cy="4389120"/>
          </a:xfrm>
          <a:prstGeom prst="rect">
            <a:avLst/>
          </a:prstGeom>
          <a:solidFill>
            <a:srgbClr val="132A56"/>
          </a:solidFill>
          <a:ln w="12700">
            <a:solidFill>
              <a:srgbClr val="1E3A8A"/>
            </a:solidFill>
            <a:prstDash val="solid"/>
          </a:ln>
        </p:spPr>
      </p:sp>
      <p:sp>
        <p:nvSpPr>
          <p:cNvPr id="5" name="Text 3"/>
          <p:cNvSpPr/>
          <p:nvPr/>
        </p:nvSpPr>
        <p:spPr>
          <a:xfrm>
            <a:off x="1005840" y="1920240"/>
            <a:ext cx="1371600" cy="457200"/>
          </a:xfrm>
          <a:prstGeom prst="rect">
            <a:avLst/>
          </a:prstGeom>
          <a:noFill/>
          <a:ln/>
        </p:spPr>
        <p:txBody>
          <a:bodyPr wrap="square" rtlCol="0" anchor="ctr"/>
          <a:lstStyle/>
          <a:p>
            <a:pPr indent="0" marL="0">
              <a:buNone/>
            </a:pPr>
            <a:r>
              <a:rPr lang="en-US" sz="2400" b="1" dirty="0">
                <a:solidFill>
                  <a:srgbClr val="F59E0B"/>
                </a:solidFill>
              </a:rPr>
              <a:t>01</a:t>
            </a:r>
            <a:endParaRPr lang="en-US" sz="2400" dirty="0"/>
          </a:p>
        </p:txBody>
      </p:sp>
      <p:sp>
        <p:nvSpPr>
          <p:cNvPr id="6" name="Text 4"/>
          <p:cNvSpPr/>
          <p:nvPr/>
        </p:nvSpPr>
        <p:spPr>
          <a:xfrm>
            <a:off x="1005840" y="2560320"/>
            <a:ext cx="2834640" cy="731520"/>
          </a:xfrm>
          <a:prstGeom prst="rect">
            <a:avLst/>
          </a:prstGeom>
          <a:noFill/>
          <a:ln/>
        </p:spPr>
        <p:txBody>
          <a:bodyPr wrap="square" rtlCol="0" anchor="ctr"/>
          <a:lstStyle/>
          <a:p>
            <a:pPr indent="0" marL="0">
              <a:buNone/>
            </a:pPr>
            <a:r>
              <a:rPr lang="en-US" sz="1500" b="1" dirty="0">
                <a:solidFill>
                  <a:srgbClr val="FFFFFF"/>
                </a:solidFill>
              </a:rPr>
              <a:t>Phiên Biểu Quyết Đại Hội Live Voting</a:t>
            </a:r>
            <a:endParaRPr lang="en-US" sz="1500" dirty="0"/>
          </a:p>
        </p:txBody>
      </p:sp>
      <p:sp>
        <p:nvSpPr>
          <p:cNvPr id="7" name="Text 5"/>
          <p:cNvSpPr/>
          <p:nvPr/>
        </p:nvSpPr>
        <p:spPr>
          <a:xfrm>
            <a:off x="1005840" y="3383280"/>
            <a:ext cx="2834640" cy="2286000"/>
          </a:xfrm>
          <a:prstGeom prst="rect">
            <a:avLst/>
          </a:prstGeom>
          <a:noFill/>
          <a:ln/>
        </p:spPr>
        <p:txBody>
          <a:bodyPr wrap="square" rtlCol="0" anchor="ctr"/>
          <a:lstStyle/>
          <a:p>
            <a:pPr indent="0" marL="0">
              <a:buNone/>
            </a:pPr>
            <a:r>
              <a:rPr lang="en-US" sz="1200" dirty="0">
                <a:solidFill>
                  <a:srgbClr val="94A3B8"/>
                </a:solidFill>
              </a:rPr>
              <a:t>Khởi tạo phiên biểu quyết điện tử cho các nghị quyết quan trọng. Đại biểu bỏ phiếu trực tiếp trên Mobile App. CRM hiển thị biểu đồ kết quả thời gian thực với tỷ lệ % chuẩn xác.</a:t>
            </a:r>
            <a:endParaRPr lang="en-US" sz="1200" dirty="0"/>
          </a:p>
        </p:txBody>
      </p:sp>
      <p:sp>
        <p:nvSpPr>
          <p:cNvPr id="8" name="Shape 6"/>
          <p:cNvSpPr/>
          <p:nvPr/>
        </p:nvSpPr>
        <p:spPr>
          <a:xfrm>
            <a:off x="4389120" y="1645920"/>
            <a:ext cx="3383280" cy="4389120"/>
          </a:xfrm>
          <a:prstGeom prst="rect">
            <a:avLst/>
          </a:prstGeom>
          <a:solidFill>
            <a:srgbClr val="132A56"/>
          </a:solidFill>
          <a:ln w="12700">
            <a:solidFill>
              <a:srgbClr val="1E3A8A"/>
            </a:solidFill>
            <a:prstDash val="solid"/>
          </a:ln>
        </p:spPr>
      </p:sp>
      <p:sp>
        <p:nvSpPr>
          <p:cNvPr id="9" name="Text 7"/>
          <p:cNvSpPr/>
          <p:nvPr/>
        </p:nvSpPr>
        <p:spPr>
          <a:xfrm>
            <a:off x="4663440" y="1920240"/>
            <a:ext cx="1371600" cy="457200"/>
          </a:xfrm>
          <a:prstGeom prst="rect">
            <a:avLst/>
          </a:prstGeom>
          <a:noFill/>
          <a:ln/>
        </p:spPr>
        <p:txBody>
          <a:bodyPr wrap="square" rtlCol="0" anchor="ctr"/>
          <a:lstStyle/>
          <a:p>
            <a:pPr indent="0" marL="0">
              <a:buNone/>
            </a:pPr>
            <a:r>
              <a:rPr lang="en-US" sz="2400" b="1" dirty="0">
                <a:solidFill>
                  <a:srgbClr val="F59E0B"/>
                </a:solidFill>
              </a:rPr>
              <a:t>02</a:t>
            </a:r>
            <a:endParaRPr lang="en-US" sz="2400" dirty="0"/>
          </a:p>
        </p:txBody>
      </p:sp>
      <p:sp>
        <p:nvSpPr>
          <p:cNvPr id="10" name="Text 8"/>
          <p:cNvSpPr/>
          <p:nvPr/>
        </p:nvSpPr>
        <p:spPr>
          <a:xfrm>
            <a:off x="4663440" y="2560320"/>
            <a:ext cx="2834640" cy="731520"/>
          </a:xfrm>
          <a:prstGeom prst="rect">
            <a:avLst/>
          </a:prstGeom>
          <a:noFill/>
          <a:ln/>
        </p:spPr>
        <p:txBody>
          <a:bodyPr wrap="square" rtlCol="0" anchor="ctr"/>
          <a:lstStyle/>
          <a:p>
            <a:pPr indent="0" marL="0">
              <a:buNone/>
            </a:pPr>
            <a:r>
              <a:rPr lang="en-US" sz="1500" b="1" dirty="0">
                <a:solidFill>
                  <a:srgbClr val="FFFFFF"/>
                </a:solidFill>
              </a:rPr>
              <a:t>Chốt Kết Quả &amp; Phát Sóng Đa Kênh</a:t>
            </a:r>
            <a:endParaRPr lang="en-US" sz="1500" dirty="0"/>
          </a:p>
        </p:txBody>
      </p:sp>
      <p:sp>
        <p:nvSpPr>
          <p:cNvPr id="11" name="Text 9"/>
          <p:cNvSpPr/>
          <p:nvPr/>
        </p:nvSpPr>
        <p:spPr>
          <a:xfrm>
            <a:off x="4663440" y="3383280"/>
            <a:ext cx="2834640" cy="2286000"/>
          </a:xfrm>
          <a:prstGeom prst="rect">
            <a:avLst/>
          </a:prstGeom>
          <a:noFill/>
          <a:ln/>
        </p:spPr>
        <p:txBody>
          <a:bodyPr wrap="square" rtlCol="0" anchor="ctr"/>
          <a:lstStyle/>
          <a:p>
            <a:pPr indent="0" marL="0">
              <a:buNone/>
            </a:pPr>
            <a:r>
              <a:rPr lang="en-US" sz="1200" dirty="0">
                <a:solidFill>
                  <a:srgbClr val="94A3B8"/>
                </a:solidFill>
              </a:rPr>
              <a:t>Khi kết thúc phiên bỏ phiếu, CRM tự động tổng hợp tỷ lệ tán thành và phát sóng thông báo kết quả chính thức đến toàn bộ hội viên qua cả chuông thông báo và kênh tin nhắn.</a:t>
            </a:r>
            <a:endParaRPr lang="en-US" sz="1200" dirty="0"/>
          </a:p>
        </p:txBody>
      </p:sp>
      <p:sp>
        <p:nvSpPr>
          <p:cNvPr id="12" name="Shape 10"/>
          <p:cNvSpPr/>
          <p:nvPr/>
        </p:nvSpPr>
        <p:spPr>
          <a:xfrm>
            <a:off x="8046720" y="1645920"/>
            <a:ext cx="3383280" cy="4389120"/>
          </a:xfrm>
          <a:prstGeom prst="rect">
            <a:avLst/>
          </a:prstGeom>
          <a:solidFill>
            <a:srgbClr val="132A56"/>
          </a:solidFill>
          <a:ln w="12700">
            <a:solidFill>
              <a:srgbClr val="1E3A8A"/>
            </a:solidFill>
            <a:prstDash val="solid"/>
          </a:ln>
        </p:spPr>
      </p:sp>
      <p:sp>
        <p:nvSpPr>
          <p:cNvPr id="13" name="Text 11"/>
          <p:cNvSpPr/>
          <p:nvPr/>
        </p:nvSpPr>
        <p:spPr>
          <a:xfrm>
            <a:off x="8321040" y="1920240"/>
            <a:ext cx="1371600" cy="457200"/>
          </a:xfrm>
          <a:prstGeom prst="rect">
            <a:avLst/>
          </a:prstGeom>
          <a:noFill/>
          <a:ln/>
        </p:spPr>
        <p:txBody>
          <a:bodyPr wrap="square" rtlCol="0" anchor="ctr"/>
          <a:lstStyle/>
          <a:p>
            <a:pPr indent="0" marL="0">
              <a:buNone/>
            </a:pPr>
            <a:r>
              <a:rPr lang="en-US" sz="2400" b="1" dirty="0">
                <a:solidFill>
                  <a:srgbClr val="F59E0B"/>
                </a:solidFill>
              </a:rPr>
              <a:t>03</a:t>
            </a:r>
            <a:endParaRPr lang="en-US" sz="2400" dirty="0"/>
          </a:p>
        </p:txBody>
      </p:sp>
      <p:sp>
        <p:nvSpPr>
          <p:cNvPr id="14" name="Text 12"/>
          <p:cNvSpPr/>
          <p:nvPr/>
        </p:nvSpPr>
        <p:spPr>
          <a:xfrm>
            <a:off x="8321040" y="2560320"/>
            <a:ext cx="2834640" cy="731520"/>
          </a:xfrm>
          <a:prstGeom prst="rect">
            <a:avLst/>
          </a:prstGeom>
          <a:noFill/>
          <a:ln/>
        </p:spPr>
        <p:txBody>
          <a:bodyPr wrap="square" rtlCol="0" anchor="ctr"/>
          <a:lstStyle/>
          <a:p>
            <a:pPr indent="0" marL="0">
              <a:buNone/>
            </a:pPr>
            <a:r>
              <a:rPr lang="en-US" sz="1500" b="1" dirty="0">
                <a:solidFill>
                  <a:srgbClr val="FFFFFF"/>
                </a:solidFill>
              </a:rPr>
              <a:t>Vận Hành Vòng Quay Lucky Draw</a:t>
            </a:r>
            <a:endParaRPr lang="en-US" sz="1500" dirty="0"/>
          </a:p>
        </p:txBody>
      </p:sp>
      <p:sp>
        <p:nvSpPr>
          <p:cNvPr id="15" name="Text 13"/>
          <p:cNvSpPr/>
          <p:nvPr/>
        </p:nvSpPr>
        <p:spPr>
          <a:xfrm>
            <a:off x="8321040" y="3383280"/>
            <a:ext cx="2834640" cy="2286000"/>
          </a:xfrm>
          <a:prstGeom prst="rect">
            <a:avLst/>
          </a:prstGeom>
          <a:noFill/>
          <a:ln/>
        </p:spPr>
        <p:txBody>
          <a:bodyPr wrap="square" rtlCol="0" anchor="ctr"/>
          <a:lstStyle/>
          <a:p>
            <a:pPr indent="0" marL="0">
              <a:buNone/>
            </a:pPr>
            <a:r>
              <a:rPr lang="en-US" sz="1200" dirty="0">
                <a:solidFill>
                  <a:srgbClr val="94A3B8"/>
                </a:solidFill>
              </a:rPr>
              <a:t>Cấu hình danh sách giải thưởng (Giải Đặc Biệt, Giải Nhất, Nhì, Ba), quay số ngẫu nhiên minh bạch trên màn hình LED sân khấu và tự động trao thưởng cho đại biểu tham dự.</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KIỂM DUYỆT &amp; THÚC ĐẨY GIAO THƯƠNG</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Kiểm Duyệt Sản Phẩm Marketplace &amp; Giám Sát Cơ Hội B2B Hai Chiều</a:t>
            </a:r>
            <a:endParaRPr lang="en-US" sz="2400" dirty="0"/>
          </a:p>
        </p:txBody>
      </p:sp>
      <p:sp>
        <p:nvSpPr>
          <p:cNvPr id="4" name="Shape 2"/>
          <p:cNvSpPr/>
          <p:nvPr/>
        </p:nvSpPr>
        <p:spPr>
          <a:xfrm>
            <a:off x="731520" y="1645920"/>
            <a:ext cx="10607040" cy="1005840"/>
          </a:xfrm>
          <a:prstGeom prst="rect">
            <a:avLst/>
          </a:prstGeom>
          <a:solidFill>
            <a:srgbClr val="132A56"/>
          </a:solidFill>
          <a:ln w="12700">
            <a:solidFill>
              <a:srgbClr val="1E3A8A"/>
            </a:solidFill>
            <a:prstDash val="solid"/>
          </a:ln>
        </p:spPr>
      </p:sp>
      <p:sp>
        <p:nvSpPr>
          <p:cNvPr id="5" name="Text 3"/>
          <p:cNvSpPr/>
          <p:nvPr/>
        </p:nvSpPr>
        <p:spPr>
          <a:xfrm>
            <a:off x="1005840" y="1920240"/>
            <a:ext cx="457200" cy="457200"/>
          </a:xfrm>
          <a:prstGeom prst="rect">
            <a:avLst/>
          </a:prstGeom>
          <a:noFill/>
          <a:ln/>
        </p:spPr>
        <p:txBody>
          <a:bodyPr wrap="square" rtlCol="0" anchor="ctr"/>
          <a:lstStyle/>
          <a:p>
            <a:pPr indent="0" marL="0">
              <a:buNone/>
            </a:pPr>
            <a:r>
              <a:rPr lang="en-US" sz="1800" dirty="0">
                <a:solidFill>
                  <a:srgbClr val="F59E0B"/>
                </a:solidFill>
              </a:rPr>
              <a:t>★</a:t>
            </a:r>
            <a:endParaRPr lang="en-US" sz="1800" dirty="0"/>
          </a:p>
        </p:txBody>
      </p:sp>
      <p:sp>
        <p:nvSpPr>
          <p:cNvPr id="6" name="Text 4"/>
          <p:cNvSpPr/>
          <p:nvPr/>
        </p:nvSpPr>
        <p:spPr>
          <a:xfrm>
            <a:off x="1554480" y="1828800"/>
            <a:ext cx="8686800" cy="320040"/>
          </a:xfrm>
          <a:prstGeom prst="rect">
            <a:avLst/>
          </a:prstGeom>
          <a:noFill/>
          <a:ln/>
        </p:spPr>
        <p:txBody>
          <a:bodyPr wrap="square" rtlCol="0" anchor="ctr"/>
          <a:lstStyle/>
          <a:p>
            <a:pPr indent="0" marL="0">
              <a:buNone/>
            </a:pPr>
            <a:r>
              <a:rPr lang="en-US" sz="1400" b="1" dirty="0">
                <a:solidFill>
                  <a:srgbClr val="FFFFFF"/>
                </a:solidFill>
              </a:rPr>
              <a:t>Thẩm Định Pháp Nhân Doanh Nghiệp Cung Cấp</a:t>
            </a:r>
            <a:endParaRPr lang="en-US" sz="1400" dirty="0"/>
          </a:p>
        </p:txBody>
      </p:sp>
      <p:sp>
        <p:nvSpPr>
          <p:cNvPr id="7" name="Text 5"/>
          <p:cNvSpPr/>
          <p:nvPr/>
        </p:nvSpPr>
        <p:spPr>
          <a:xfrm>
            <a:off x="1554480" y="2148840"/>
            <a:ext cx="9326880" cy="411480"/>
          </a:xfrm>
          <a:prstGeom prst="rect">
            <a:avLst/>
          </a:prstGeom>
          <a:noFill/>
          <a:ln/>
        </p:spPr>
        <p:txBody>
          <a:bodyPr wrap="square" rtlCol="0" anchor="ctr"/>
          <a:lstStyle/>
          <a:p>
            <a:pPr indent="0" marL="0">
              <a:buNone/>
            </a:pPr>
            <a:r>
              <a:rPr lang="en-US" sz="1200" dirty="0">
                <a:solidFill>
                  <a:srgbClr val="94A3B8"/>
                </a:solidFill>
              </a:rPr>
              <a:t>Kiểm tra giấy phép đăng ký kinh doanh, tư cách hội viên chính thức trước khi duyệt sản phẩm lên sàn thương mại nội khối.</a:t>
            </a:r>
            <a:endParaRPr lang="en-US" sz="1200" dirty="0"/>
          </a:p>
        </p:txBody>
      </p:sp>
      <p:sp>
        <p:nvSpPr>
          <p:cNvPr id="8" name="Shape 6"/>
          <p:cNvSpPr/>
          <p:nvPr/>
        </p:nvSpPr>
        <p:spPr>
          <a:xfrm>
            <a:off x="731520" y="2788920"/>
            <a:ext cx="10607040" cy="1005840"/>
          </a:xfrm>
          <a:prstGeom prst="rect">
            <a:avLst/>
          </a:prstGeom>
          <a:solidFill>
            <a:srgbClr val="132A56"/>
          </a:solidFill>
          <a:ln w="12700">
            <a:solidFill>
              <a:srgbClr val="1E3A8A"/>
            </a:solidFill>
            <a:prstDash val="solid"/>
          </a:ln>
        </p:spPr>
      </p:sp>
      <p:sp>
        <p:nvSpPr>
          <p:cNvPr id="9" name="Text 7"/>
          <p:cNvSpPr/>
          <p:nvPr/>
        </p:nvSpPr>
        <p:spPr>
          <a:xfrm>
            <a:off x="1005840" y="3063240"/>
            <a:ext cx="457200" cy="457200"/>
          </a:xfrm>
          <a:prstGeom prst="rect">
            <a:avLst/>
          </a:prstGeom>
          <a:noFill/>
          <a:ln/>
        </p:spPr>
        <p:txBody>
          <a:bodyPr wrap="square" rtlCol="0" anchor="ctr"/>
          <a:lstStyle/>
          <a:p>
            <a:pPr indent="0" marL="0">
              <a:buNone/>
            </a:pPr>
            <a:r>
              <a:rPr lang="en-US" sz="1800" dirty="0">
                <a:solidFill>
                  <a:srgbClr val="F59E0B"/>
                </a:solidFill>
              </a:rPr>
              <a:t>★</a:t>
            </a:r>
            <a:endParaRPr lang="en-US" sz="1800" dirty="0"/>
          </a:p>
        </p:txBody>
      </p:sp>
      <p:sp>
        <p:nvSpPr>
          <p:cNvPr id="10" name="Text 8"/>
          <p:cNvSpPr/>
          <p:nvPr/>
        </p:nvSpPr>
        <p:spPr>
          <a:xfrm>
            <a:off x="1554480" y="2971800"/>
            <a:ext cx="8686800" cy="320040"/>
          </a:xfrm>
          <a:prstGeom prst="rect">
            <a:avLst/>
          </a:prstGeom>
          <a:noFill/>
          <a:ln/>
        </p:spPr>
        <p:txBody>
          <a:bodyPr wrap="square" rtlCol="0" anchor="ctr"/>
          <a:lstStyle/>
          <a:p>
            <a:pPr indent="0" marL="0">
              <a:buNone/>
            </a:pPr>
            <a:r>
              <a:rPr lang="en-US" sz="1400" b="1" dirty="0">
                <a:solidFill>
                  <a:srgbClr val="FFFFFF"/>
                </a:solidFill>
              </a:rPr>
              <a:t>Cấp Chứng Nhận "Verified CEO 1983"</a:t>
            </a:r>
            <a:endParaRPr lang="en-US" sz="1400" dirty="0"/>
          </a:p>
        </p:txBody>
      </p:sp>
      <p:sp>
        <p:nvSpPr>
          <p:cNvPr id="11" name="Text 9"/>
          <p:cNvSpPr/>
          <p:nvPr/>
        </p:nvSpPr>
        <p:spPr>
          <a:xfrm>
            <a:off x="1554480" y="3291840"/>
            <a:ext cx="9326880" cy="411480"/>
          </a:xfrm>
          <a:prstGeom prst="rect">
            <a:avLst/>
          </a:prstGeom>
          <a:noFill/>
          <a:ln/>
        </p:spPr>
        <p:txBody>
          <a:bodyPr wrap="square" rtlCol="0" anchor="ctr"/>
          <a:lstStyle/>
          <a:p>
            <a:pPr indent="0" marL="0">
              <a:buNone/>
            </a:pPr>
            <a:r>
              <a:rPr lang="en-US" sz="1200" dirty="0">
                <a:solidFill>
                  <a:srgbClr val="94A3B8"/>
                </a:solidFill>
              </a:rPr>
              <a:t>Huy hiệu bảo chứng chất lượng dành cho các doanh nghiệp thành viên cam kết chính sách giá ưu đãi đặc quyền cho hội viên.</a:t>
            </a:r>
            <a:endParaRPr lang="en-US" sz="1200" dirty="0"/>
          </a:p>
        </p:txBody>
      </p:sp>
      <p:sp>
        <p:nvSpPr>
          <p:cNvPr id="12" name="Shape 10"/>
          <p:cNvSpPr/>
          <p:nvPr/>
        </p:nvSpPr>
        <p:spPr>
          <a:xfrm>
            <a:off x="731520" y="3931920"/>
            <a:ext cx="10607040" cy="1005840"/>
          </a:xfrm>
          <a:prstGeom prst="rect">
            <a:avLst/>
          </a:prstGeom>
          <a:solidFill>
            <a:srgbClr val="132A56"/>
          </a:solidFill>
          <a:ln w="12700">
            <a:solidFill>
              <a:srgbClr val="1E3A8A"/>
            </a:solidFill>
            <a:prstDash val="solid"/>
          </a:ln>
        </p:spPr>
      </p:sp>
      <p:sp>
        <p:nvSpPr>
          <p:cNvPr id="13" name="Text 11"/>
          <p:cNvSpPr/>
          <p:nvPr/>
        </p:nvSpPr>
        <p:spPr>
          <a:xfrm>
            <a:off x="1005840" y="4206240"/>
            <a:ext cx="457200" cy="457200"/>
          </a:xfrm>
          <a:prstGeom prst="rect">
            <a:avLst/>
          </a:prstGeom>
          <a:noFill/>
          <a:ln/>
        </p:spPr>
        <p:txBody>
          <a:bodyPr wrap="square" rtlCol="0" anchor="ctr"/>
          <a:lstStyle/>
          <a:p>
            <a:pPr indent="0" marL="0">
              <a:buNone/>
            </a:pPr>
            <a:r>
              <a:rPr lang="en-US" sz="1800" dirty="0">
                <a:solidFill>
                  <a:srgbClr val="F59E0B"/>
                </a:solidFill>
              </a:rPr>
              <a:t>★</a:t>
            </a:r>
            <a:endParaRPr lang="en-US" sz="1800" dirty="0"/>
          </a:p>
        </p:txBody>
      </p:sp>
      <p:sp>
        <p:nvSpPr>
          <p:cNvPr id="14" name="Text 12"/>
          <p:cNvSpPr/>
          <p:nvPr/>
        </p:nvSpPr>
        <p:spPr>
          <a:xfrm>
            <a:off x="1554480" y="4114800"/>
            <a:ext cx="8686800" cy="320040"/>
          </a:xfrm>
          <a:prstGeom prst="rect">
            <a:avLst/>
          </a:prstGeom>
          <a:noFill/>
          <a:ln/>
        </p:spPr>
        <p:txBody>
          <a:bodyPr wrap="square" rtlCol="0" anchor="ctr"/>
          <a:lstStyle/>
          <a:p>
            <a:pPr indent="0" marL="0">
              <a:buNone/>
            </a:pPr>
            <a:r>
              <a:rPr lang="en-US" sz="1400" b="1" dirty="0">
                <a:solidFill>
                  <a:srgbClr val="FFFFFF"/>
                </a:solidFill>
              </a:rPr>
              <a:t>Theo Dõi Phễu Cơ Hội Kinh Doanh (Deal Pipeline)</a:t>
            </a:r>
            <a:endParaRPr lang="en-US" sz="1400" dirty="0"/>
          </a:p>
        </p:txBody>
      </p:sp>
      <p:sp>
        <p:nvSpPr>
          <p:cNvPr id="15" name="Text 13"/>
          <p:cNvSpPr/>
          <p:nvPr/>
        </p:nvSpPr>
        <p:spPr>
          <a:xfrm>
            <a:off x="1554480" y="4434840"/>
            <a:ext cx="9326880" cy="411480"/>
          </a:xfrm>
          <a:prstGeom prst="rect">
            <a:avLst/>
          </a:prstGeom>
          <a:noFill/>
          <a:ln/>
        </p:spPr>
        <p:txBody>
          <a:bodyPr wrap="square" rtlCol="0" anchor="ctr"/>
          <a:lstStyle/>
          <a:p>
            <a:pPr indent="0" marL="0">
              <a:buNone/>
            </a:pPr>
            <a:r>
              <a:rPr lang="en-US" sz="1200" dirty="0">
                <a:solidFill>
                  <a:srgbClr val="94A3B8"/>
                </a:solidFill>
              </a:rPr>
              <a:t>Giám sát tổng giá trị giao dịch, số lượng bài đăng chào mua, chào bán, các cơ hội hợp tác đầu tư và tỷ lệ khớp lệnh thành công.</a:t>
            </a:r>
            <a:endParaRPr lang="en-US" sz="1200" dirty="0"/>
          </a:p>
        </p:txBody>
      </p:sp>
      <p:sp>
        <p:nvSpPr>
          <p:cNvPr id="16" name="Shape 14"/>
          <p:cNvSpPr/>
          <p:nvPr/>
        </p:nvSpPr>
        <p:spPr>
          <a:xfrm>
            <a:off x="731520" y="5074920"/>
            <a:ext cx="10607040" cy="1005840"/>
          </a:xfrm>
          <a:prstGeom prst="rect">
            <a:avLst/>
          </a:prstGeom>
          <a:solidFill>
            <a:srgbClr val="132A56"/>
          </a:solidFill>
          <a:ln w="12700">
            <a:solidFill>
              <a:srgbClr val="1E3A8A"/>
            </a:solidFill>
            <a:prstDash val="solid"/>
          </a:ln>
        </p:spPr>
      </p:sp>
      <p:sp>
        <p:nvSpPr>
          <p:cNvPr id="17" name="Text 15"/>
          <p:cNvSpPr/>
          <p:nvPr/>
        </p:nvSpPr>
        <p:spPr>
          <a:xfrm>
            <a:off x="1005840" y="5349240"/>
            <a:ext cx="457200" cy="457200"/>
          </a:xfrm>
          <a:prstGeom prst="rect">
            <a:avLst/>
          </a:prstGeom>
          <a:noFill/>
          <a:ln/>
        </p:spPr>
        <p:txBody>
          <a:bodyPr wrap="square" rtlCol="0" anchor="ctr"/>
          <a:lstStyle/>
          <a:p>
            <a:pPr indent="0" marL="0">
              <a:buNone/>
            </a:pPr>
            <a:r>
              <a:rPr lang="en-US" sz="1800" dirty="0">
                <a:solidFill>
                  <a:srgbClr val="F59E0B"/>
                </a:solidFill>
              </a:rPr>
              <a:t>★</a:t>
            </a:r>
            <a:endParaRPr lang="en-US" sz="1800" dirty="0"/>
          </a:p>
        </p:txBody>
      </p:sp>
      <p:sp>
        <p:nvSpPr>
          <p:cNvPr id="18" name="Text 16"/>
          <p:cNvSpPr/>
          <p:nvPr/>
        </p:nvSpPr>
        <p:spPr>
          <a:xfrm>
            <a:off x="1554480" y="5257800"/>
            <a:ext cx="8686800" cy="320040"/>
          </a:xfrm>
          <a:prstGeom prst="rect">
            <a:avLst/>
          </a:prstGeom>
          <a:noFill/>
          <a:ln/>
        </p:spPr>
        <p:txBody>
          <a:bodyPr wrap="square" rtlCol="0" anchor="ctr"/>
          <a:lstStyle/>
          <a:p>
            <a:pPr indent="0" marL="0">
              <a:buNone/>
            </a:pPr>
            <a:r>
              <a:rPr lang="en-US" sz="1400" b="1" dirty="0">
                <a:solidFill>
                  <a:srgbClr val="FFFFFF"/>
                </a:solidFill>
              </a:rPr>
              <a:t>Đồng Bộ Dữ Liệu Thời Gian Thực 2 Chiều</a:t>
            </a:r>
            <a:endParaRPr lang="en-US" sz="1400" dirty="0"/>
          </a:p>
        </p:txBody>
      </p:sp>
      <p:sp>
        <p:nvSpPr>
          <p:cNvPr id="19" name="Text 17"/>
          <p:cNvSpPr/>
          <p:nvPr/>
        </p:nvSpPr>
        <p:spPr>
          <a:xfrm>
            <a:off x="1554480" y="5577840"/>
            <a:ext cx="9326880" cy="411480"/>
          </a:xfrm>
          <a:prstGeom prst="rect">
            <a:avLst/>
          </a:prstGeom>
          <a:noFill/>
          <a:ln/>
        </p:spPr>
        <p:txBody>
          <a:bodyPr wrap="square" rtlCol="0" anchor="ctr"/>
          <a:lstStyle/>
          <a:p>
            <a:pPr indent="0" marL="0">
              <a:buNone/>
            </a:pPr>
            <a:r>
              <a:rPr lang="en-US" sz="1200" dirty="0">
                <a:solidFill>
                  <a:srgbClr val="94A3B8"/>
                </a:solidFill>
              </a:rPr>
              <a:t>Mọi chỉnh sửa về giá ưu đãi, hình ảnh hoặc trạng thái mở/đóng cơ hội trên App được cập nhật lập tức về trung tâm CRM.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TÀI CHÍNH HIỆP HỘI MINH BẠCH</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Quản Lý Thu Hội Phí Thường Niên, Gạch Nợ Linh Hoạt &amp; Cổng VietQR</a:t>
            </a:r>
            <a:endParaRPr lang="en-US" sz="2400" dirty="0"/>
          </a:p>
        </p:txBody>
      </p:sp>
      <p:sp>
        <p:nvSpPr>
          <p:cNvPr id="4" name="Shape 2"/>
          <p:cNvSpPr/>
          <p:nvPr/>
        </p:nvSpPr>
        <p:spPr>
          <a:xfrm>
            <a:off x="731520" y="1645920"/>
            <a:ext cx="5120640" cy="2011680"/>
          </a:xfrm>
          <a:prstGeom prst="rect">
            <a:avLst/>
          </a:prstGeom>
          <a:solidFill>
            <a:srgbClr val="132A56"/>
          </a:solidFill>
          <a:ln w="15240">
            <a:solidFill>
              <a:srgbClr val="F59E0B"/>
            </a:solidFill>
            <a:prstDash val="solid"/>
          </a:ln>
        </p:spPr>
      </p:sp>
      <p:sp>
        <p:nvSpPr>
          <p:cNvPr id="5" name="Text 3"/>
          <p:cNvSpPr/>
          <p:nvPr/>
        </p:nvSpPr>
        <p:spPr>
          <a:xfrm>
            <a:off x="1097280" y="1920240"/>
            <a:ext cx="4389120" cy="365760"/>
          </a:xfrm>
          <a:prstGeom prst="rect">
            <a:avLst/>
          </a:prstGeom>
          <a:noFill/>
          <a:ln/>
        </p:spPr>
        <p:txBody>
          <a:bodyPr wrap="square" rtlCol="0" anchor="ctr"/>
          <a:lstStyle/>
          <a:p>
            <a:pPr indent="0" marL="0">
              <a:buNone/>
            </a:pPr>
            <a:r>
              <a:rPr lang="en-US" sz="1600" b="1" dirty="0">
                <a:solidFill>
                  <a:srgbClr val="FFFFFF"/>
                </a:solidFill>
              </a:rPr>
              <a:t>Theo Dõi Thu Phí Niên Khóa</a:t>
            </a:r>
            <a:endParaRPr lang="en-US" sz="1600" dirty="0"/>
          </a:p>
        </p:txBody>
      </p:sp>
      <p:sp>
        <p:nvSpPr>
          <p:cNvPr id="6" name="Text 4"/>
          <p:cNvSpPr/>
          <p:nvPr/>
        </p:nvSpPr>
        <p:spPr>
          <a:xfrm>
            <a:off x="1097280" y="2377440"/>
            <a:ext cx="4389120" cy="1097280"/>
          </a:xfrm>
          <a:prstGeom prst="rect">
            <a:avLst/>
          </a:prstGeom>
          <a:noFill/>
          <a:ln/>
        </p:spPr>
        <p:txBody>
          <a:bodyPr wrap="square" rtlCol="0" anchor="ctr"/>
          <a:lstStyle/>
          <a:p>
            <a:pPr indent="0" marL="0">
              <a:buNone/>
            </a:pPr>
            <a:r>
              <a:rPr lang="en-US" sz="1200" dirty="0">
                <a:solidFill>
                  <a:srgbClr val="94A3B8"/>
                </a:solidFill>
              </a:rPr>
              <a:t>Quản lý danh sách chi tiết các doanh nghiệp: Đã nộp, Chưa nộp, Sắp đến hạn gia hạn thẻ hội viên thường niên.</a:t>
            </a:r>
            <a:endParaRPr lang="en-US" sz="1200" dirty="0"/>
          </a:p>
        </p:txBody>
      </p:sp>
      <p:sp>
        <p:nvSpPr>
          <p:cNvPr id="7" name="Shape 5"/>
          <p:cNvSpPr/>
          <p:nvPr/>
        </p:nvSpPr>
        <p:spPr>
          <a:xfrm>
            <a:off x="6217920" y="1645920"/>
            <a:ext cx="5120640" cy="2011680"/>
          </a:xfrm>
          <a:prstGeom prst="rect">
            <a:avLst/>
          </a:prstGeom>
          <a:solidFill>
            <a:srgbClr val="132A56"/>
          </a:solidFill>
          <a:ln w="15240">
            <a:solidFill>
              <a:srgbClr val="F59E0B"/>
            </a:solidFill>
            <a:prstDash val="solid"/>
          </a:ln>
        </p:spPr>
      </p:sp>
      <p:sp>
        <p:nvSpPr>
          <p:cNvPr id="8" name="Text 6"/>
          <p:cNvSpPr/>
          <p:nvPr/>
        </p:nvSpPr>
        <p:spPr>
          <a:xfrm>
            <a:off x="6583680" y="1920240"/>
            <a:ext cx="4389120" cy="365760"/>
          </a:xfrm>
          <a:prstGeom prst="rect">
            <a:avLst/>
          </a:prstGeom>
          <a:noFill/>
          <a:ln/>
        </p:spPr>
        <p:txBody>
          <a:bodyPr wrap="square" rtlCol="0" anchor="ctr"/>
          <a:lstStyle/>
          <a:p>
            <a:pPr indent="0" marL="0">
              <a:buNone/>
            </a:pPr>
            <a:r>
              <a:rPr lang="en-US" sz="1600" b="1" dirty="0">
                <a:solidFill>
                  <a:srgbClr val="FFFFFF"/>
                </a:solidFill>
              </a:rPr>
              <a:t>Tính Năng "Nhắc Phí" Tự Động</a:t>
            </a:r>
            <a:endParaRPr lang="en-US" sz="1600" dirty="0"/>
          </a:p>
        </p:txBody>
      </p:sp>
      <p:sp>
        <p:nvSpPr>
          <p:cNvPr id="9" name="Text 7"/>
          <p:cNvSpPr/>
          <p:nvPr/>
        </p:nvSpPr>
        <p:spPr>
          <a:xfrm>
            <a:off x="6583680" y="2377440"/>
            <a:ext cx="4389120" cy="1097280"/>
          </a:xfrm>
          <a:prstGeom prst="rect">
            <a:avLst/>
          </a:prstGeom>
          <a:noFill/>
          <a:ln/>
        </p:spPr>
        <p:txBody>
          <a:bodyPr wrap="square" rtlCol="0" anchor="ctr"/>
          <a:lstStyle/>
          <a:p>
            <a:pPr indent="0" marL="0">
              <a:buNone/>
            </a:pPr>
            <a:r>
              <a:rPr lang="en-US" sz="1200" dirty="0">
                <a:solidFill>
                  <a:srgbClr val="94A3B8"/>
                </a:solidFill>
              </a:rPr>
              <a:t>1-click gửi email thông báo kèm hóa đơn và mã VietQR có sẵn cú pháp chuyển khoản chính xác đến kế toán doanh nghiệp.</a:t>
            </a:r>
            <a:endParaRPr lang="en-US" sz="1200" dirty="0"/>
          </a:p>
        </p:txBody>
      </p:sp>
      <p:sp>
        <p:nvSpPr>
          <p:cNvPr id="10" name="Shape 8"/>
          <p:cNvSpPr/>
          <p:nvPr/>
        </p:nvSpPr>
        <p:spPr>
          <a:xfrm>
            <a:off x="731520" y="3931920"/>
            <a:ext cx="5120640" cy="2011680"/>
          </a:xfrm>
          <a:prstGeom prst="rect">
            <a:avLst/>
          </a:prstGeom>
          <a:solidFill>
            <a:srgbClr val="132A56"/>
          </a:solidFill>
          <a:ln w="15240">
            <a:solidFill>
              <a:srgbClr val="F59E0B"/>
            </a:solidFill>
            <a:prstDash val="solid"/>
          </a:ln>
        </p:spPr>
      </p:sp>
      <p:sp>
        <p:nvSpPr>
          <p:cNvPr id="11" name="Text 9"/>
          <p:cNvSpPr/>
          <p:nvPr/>
        </p:nvSpPr>
        <p:spPr>
          <a:xfrm>
            <a:off x="1097280" y="4206240"/>
            <a:ext cx="4389120" cy="365760"/>
          </a:xfrm>
          <a:prstGeom prst="rect">
            <a:avLst/>
          </a:prstGeom>
          <a:noFill/>
          <a:ln/>
        </p:spPr>
        <p:txBody>
          <a:bodyPr wrap="square" rtlCol="0" anchor="ctr"/>
          <a:lstStyle/>
          <a:p>
            <a:pPr indent="0" marL="0">
              <a:buNone/>
            </a:pPr>
            <a:r>
              <a:rPr lang="en-US" sz="1600" b="1" dirty="0">
                <a:solidFill>
                  <a:srgbClr val="FFFFFF"/>
                </a:solidFill>
              </a:rPr>
              <a:t>Thao Tác "Gạch Nợ" 1 Chạm</a:t>
            </a:r>
            <a:endParaRPr lang="en-US" sz="1600" dirty="0"/>
          </a:p>
        </p:txBody>
      </p:sp>
      <p:sp>
        <p:nvSpPr>
          <p:cNvPr id="12" name="Text 10"/>
          <p:cNvSpPr/>
          <p:nvPr/>
        </p:nvSpPr>
        <p:spPr>
          <a:xfrm>
            <a:off x="1097280" y="4663440"/>
            <a:ext cx="4389120" cy="1097280"/>
          </a:xfrm>
          <a:prstGeom prst="rect">
            <a:avLst/>
          </a:prstGeom>
          <a:noFill/>
          <a:ln/>
        </p:spPr>
        <p:txBody>
          <a:bodyPr wrap="square" rtlCol="0" anchor="ctr"/>
          <a:lstStyle/>
          <a:p>
            <a:pPr indent="0" marL="0">
              <a:buNone/>
            </a:pPr>
            <a:r>
              <a:rPr lang="en-US" sz="1200" dirty="0">
                <a:solidFill>
                  <a:srgbClr val="94A3B8"/>
                </a:solidFill>
              </a:rPr>
              <a:t>Ban Thư ký đối soát và gạch nợ trực tiếp trên CRM, hệ thống lập tức mở khóa gia hạn thẻ VIP và quyền lợi trên App.</a:t>
            </a:r>
            <a:endParaRPr lang="en-US" sz="1200" dirty="0"/>
          </a:p>
        </p:txBody>
      </p:sp>
      <p:sp>
        <p:nvSpPr>
          <p:cNvPr id="13" name="Shape 11"/>
          <p:cNvSpPr/>
          <p:nvPr/>
        </p:nvSpPr>
        <p:spPr>
          <a:xfrm>
            <a:off x="6217920" y="3931920"/>
            <a:ext cx="5120640" cy="2011680"/>
          </a:xfrm>
          <a:prstGeom prst="rect">
            <a:avLst/>
          </a:prstGeom>
          <a:solidFill>
            <a:srgbClr val="132A56"/>
          </a:solidFill>
          <a:ln w="15240">
            <a:solidFill>
              <a:srgbClr val="F59E0B"/>
            </a:solidFill>
            <a:prstDash val="solid"/>
          </a:ln>
        </p:spPr>
      </p:sp>
      <p:sp>
        <p:nvSpPr>
          <p:cNvPr id="14" name="Text 12"/>
          <p:cNvSpPr/>
          <p:nvPr/>
        </p:nvSpPr>
        <p:spPr>
          <a:xfrm>
            <a:off x="6583680" y="4206240"/>
            <a:ext cx="4389120" cy="365760"/>
          </a:xfrm>
          <a:prstGeom prst="rect">
            <a:avLst/>
          </a:prstGeom>
          <a:noFill/>
          <a:ln/>
        </p:spPr>
        <p:txBody>
          <a:bodyPr wrap="square" rtlCol="0" anchor="ctr"/>
          <a:lstStyle/>
          <a:p>
            <a:pPr indent="0" marL="0">
              <a:buNone/>
            </a:pPr>
            <a:r>
              <a:rPr lang="en-US" sz="1600" b="1" dirty="0">
                <a:solidFill>
                  <a:srgbClr val="FFFFFF"/>
                </a:solidFill>
              </a:rPr>
              <a:t>Cấu Hình Tài Khoản Ngân Hàng &amp; VietQR</a:t>
            </a:r>
            <a:endParaRPr lang="en-US" sz="1600" dirty="0"/>
          </a:p>
        </p:txBody>
      </p:sp>
      <p:sp>
        <p:nvSpPr>
          <p:cNvPr id="15" name="Text 13"/>
          <p:cNvSpPr/>
          <p:nvPr/>
        </p:nvSpPr>
        <p:spPr>
          <a:xfrm>
            <a:off x="6583680" y="4663440"/>
            <a:ext cx="4389120" cy="1097280"/>
          </a:xfrm>
          <a:prstGeom prst="rect">
            <a:avLst/>
          </a:prstGeom>
          <a:noFill/>
          <a:ln/>
        </p:spPr>
        <p:txBody>
          <a:bodyPr wrap="square" rtlCol="0" anchor="ctr"/>
          <a:lstStyle/>
          <a:p>
            <a:pPr indent="0" marL="0">
              <a:buNone/>
            </a:pPr>
            <a:r>
              <a:rPr lang="en-US" sz="1200" dirty="0">
                <a:solidFill>
                  <a:srgbClr val="94A3B8"/>
                </a:solidFill>
              </a:rPr>
              <a:t>Thiết lập số tài khoản ngân hàng chính thức của CLB CEO 1983, mã ngân hàng NAPAS và tạo mã VietQR động theo từng hóa đơn.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BẢO MẬT &amp; QUY CHUẨN ĐIỀU HÀNH</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Nhật Ký Kiểm Toán (Audit Logs) &amp; Hướng Dẫn Vận Hành Ban Thư Ký</a:t>
            </a:r>
            <a:endParaRPr lang="en-US" sz="2400" dirty="0"/>
          </a:p>
        </p:txBody>
      </p:sp>
      <p:sp>
        <p:nvSpPr>
          <p:cNvPr id="4" name="Shape 2"/>
          <p:cNvSpPr/>
          <p:nvPr/>
        </p:nvSpPr>
        <p:spPr>
          <a:xfrm>
            <a:off x="731520" y="1645920"/>
            <a:ext cx="10607040" cy="4389120"/>
          </a:xfrm>
          <a:prstGeom prst="rect">
            <a:avLst/>
          </a:prstGeom>
          <a:solidFill>
            <a:srgbClr val="132A56"/>
          </a:solidFill>
          <a:ln w="25400">
            <a:solidFill>
              <a:srgbClr val="F59E0B"/>
            </a:solidFill>
            <a:prstDash val="solid"/>
          </a:ln>
        </p:spPr>
      </p:sp>
      <p:sp>
        <p:nvSpPr>
          <p:cNvPr id="5" name="Text 3"/>
          <p:cNvSpPr/>
          <p:nvPr/>
        </p:nvSpPr>
        <p:spPr>
          <a:xfrm>
            <a:off x="1097280" y="2011680"/>
            <a:ext cx="9875520" cy="365760"/>
          </a:xfrm>
          <a:prstGeom prst="rect">
            <a:avLst/>
          </a:prstGeom>
          <a:noFill/>
          <a:ln/>
        </p:spPr>
        <p:txBody>
          <a:bodyPr wrap="square" rtlCol="0" anchor="ctr"/>
          <a:lstStyle/>
          <a:p>
            <a:pPr indent="0" marL="0">
              <a:buNone/>
            </a:pPr>
            <a:r>
              <a:rPr lang="en-US" sz="1800" b="1" dirty="0">
                <a:solidFill>
                  <a:srgbClr val="F59E0B"/>
                </a:solidFill>
              </a:rPr>
              <a:t>HỆ THỐNG AN NINH &amp; QUY TRÌNH VẬN HÀNH</a:t>
            </a:r>
            <a:endParaRPr lang="en-US" sz="1800" dirty="0"/>
          </a:p>
        </p:txBody>
      </p:sp>
      <p:sp>
        <p:nvSpPr>
          <p:cNvPr id="6" name="Text 4"/>
          <p:cNvSpPr/>
          <p:nvPr/>
        </p:nvSpPr>
        <p:spPr>
          <a:xfrm>
            <a:off x="1097280" y="2560320"/>
            <a:ext cx="9875520" cy="777240"/>
          </a:xfrm>
          <a:prstGeom prst="rect">
            <a:avLst/>
          </a:prstGeom>
          <a:noFill/>
          <a:ln/>
        </p:spPr>
        <p:txBody>
          <a:bodyPr wrap="square" rtlCol="0" anchor="ctr"/>
          <a:lstStyle/>
          <a:p>
            <a:pPr indent="0" marL="0">
              <a:buNone/>
            </a:pPr>
            <a:r>
              <a:rPr lang="en-US" sz="1300" dirty="0">
                <a:solidFill>
                  <a:srgbClr val="FFFFFF"/>
                </a:solidFill>
              </a:rPr>
              <a:t>🔒 Nhật Ký Kiểm Toán Toàn Diện (Audit Trail): Ghi nhận chi tiết mọi thao tác phê duyệt, chỉnh sửa hồ sơ, xóa sản phẩm, thời gian và địa chỉ IP của từng cán bộ quản trị.</a:t>
            </a:r>
            <a:endParaRPr lang="en-US" sz="1300" dirty="0"/>
          </a:p>
        </p:txBody>
      </p:sp>
      <p:sp>
        <p:nvSpPr>
          <p:cNvPr id="7" name="Text 5"/>
          <p:cNvSpPr/>
          <p:nvPr/>
        </p:nvSpPr>
        <p:spPr>
          <a:xfrm>
            <a:off x="1097280" y="3429000"/>
            <a:ext cx="9875520" cy="777240"/>
          </a:xfrm>
          <a:prstGeom prst="rect">
            <a:avLst/>
          </a:prstGeom>
          <a:noFill/>
          <a:ln/>
        </p:spPr>
        <p:txBody>
          <a:bodyPr wrap="square" rtlCol="0" anchor="ctr"/>
          <a:lstStyle/>
          <a:p>
            <a:pPr indent="0" marL="0">
              <a:buNone/>
            </a:pPr>
            <a:r>
              <a:rPr lang="en-US" sz="1300" dirty="0">
                <a:solidFill>
                  <a:srgbClr val="FFFFFF"/>
                </a:solidFill>
              </a:rPr>
              <a:t>🛡️ Phân Quyền Vai Trò Theo Ban Ngành: Chủ tịch CLB, Tổng Thư Ký, Trưởng Ban Xúc tiến Thương mại, Trưởng Ban Sự kiện có quyền hạn và giao diện chuyên biệt.</a:t>
            </a:r>
            <a:endParaRPr lang="en-US" sz="1300" dirty="0"/>
          </a:p>
        </p:txBody>
      </p:sp>
      <p:sp>
        <p:nvSpPr>
          <p:cNvPr id="8" name="Text 6"/>
          <p:cNvSpPr/>
          <p:nvPr/>
        </p:nvSpPr>
        <p:spPr>
          <a:xfrm>
            <a:off x="1097280" y="4297680"/>
            <a:ext cx="9875520" cy="777240"/>
          </a:xfrm>
          <a:prstGeom prst="rect">
            <a:avLst/>
          </a:prstGeom>
          <a:noFill/>
          <a:ln/>
        </p:spPr>
        <p:txBody>
          <a:bodyPr wrap="square" rtlCol="0" anchor="ctr"/>
          <a:lstStyle/>
          <a:p>
            <a:pPr indent="0" marL="0">
              <a:buNone/>
            </a:pPr>
            <a:r>
              <a:rPr lang="en-US" sz="1300" dirty="0">
                <a:solidFill>
                  <a:srgbClr val="FFFFFF"/>
                </a:solidFill>
              </a:rPr>
              <a:t>📊 Báo Cáo Xuất Excel Đa Định Dạng: Xuất danh bạ hội viên, báo cáo điểm danh sự kiện, bảng kê thu chi hội phí phục vụ công tác thanh tra tài chính.</a:t>
            </a:r>
            <a:endParaRPr lang="en-US" sz="1300" dirty="0"/>
          </a:p>
        </p:txBody>
      </p:sp>
      <p:sp>
        <p:nvSpPr>
          <p:cNvPr id="9" name="Text 7"/>
          <p:cNvSpPr/>
          <p:nvPr/>
        </p:nvSpPr>
        <p:spPr>
          <a:xfrm>
            <a:off x="1097280" y="5166360"/>
            <a:ext cx="9875520" cy="777240"/>
          </a:xfrm>
          <a:prstGeom prst="rect">
            <a:avLst/>
          </a:prstGeom>
          <a:noFill/>
          <a:ln/>
        </p:spPr>
        <p:txBody>
          <a:bodyPr wrap="square" rtlCol="0" anchor="ctr"/>
          <a:lstStyle/>
          <a:p>
            <a:pPr indent="0" marL="0">
              <a:buNone/>
            </a:pPr>
            <a:r>
              <a:rPr lang="en-US" sz="1300" dirty="0">
                <a:solidFill>
                  <a:srgbClr val="FFFFFF"/>
                </a:solidFill>
              </a:rPr>
              <a:t>📚 Sổ Tay Đào Tạo &amp; Tài Liệu Kỹ Thuật: Đồng bộ 100% giữa tài liệu Hướng dẫn sử dụng (Word/PDF), Slide thuyết trình và hệ thống thực tế.</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CRM Quản Trị Hiệp Hội CEO 1983 — Executive Command Center</dc:title>
  <dc:subject>PptxGenJS Presentation</dc:subject>
  <dc:creator>Ban Điều Hành CLB Doanh Nhân CEO 1983</dc:creator>
  <cp:lastModifiedBy>Ban Điều Hành CLB Doanh Nhân CEO 1983</cp:lastModifiedBy>
  <cp:revision>1</cp:revision>
  <dcterms:created xsi:type="dcterms:W3CDTF">2026-09-19T03:06:53Z</dcterms:created>
  <dcterms:modified xsi:type="dcterms:W3CDTF">2026-09-19T03:06:53Z</dcterms:modified>
</cp:coreProperties>
</file>