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3A"/>
        </a:solidFill>
      </p:bgPr>
    </p:bg>
    <p:spTree>
      <p:nvGrpSpPr>
        <p:cNvPr id="1" name=""/>
        <p:cNvGrpSpPr/>
        <p:nvPr/>
      </p:nvGrpSpPr>
      <p:grpSpPr>
        <a:xfrm>
          <a:off x="0" y="0"/>
          <a:ext cx="0" cy="0"/>
          <a:chOff x="0" y="0"/>
          <a:chExt cx="0" cy="0"/>
        </a:xfrm>
      </p:grpSpPr>
      <p:sp>
        <p:nvSpPr>
          <p:cNvPr id="2" name="Shape 0"/>
          <p:cNvSpPr/>
          <p:nvPr/>
        </p:nvSpPr>
        <p:spPr>
          <a:xfrm>
            <a:off x="731520" y="731520"/>
            <a:ext cx="3200400" cy="365760"/>
          </a:xfrm>
          <a:prstGeom prst="rect">
            <a:avLst/>
          </a:prstGeom>
          <a:solidFill>
            <a:srgbClr val="F59E0B"/>
          </a:solidFill>
          <a:ln/>
        </p:spPr>
      </p:sp>
      <p:sp>
        <p:nvSpPr>
          <p:cNvPr id="3" name="Text 1"/>
          <p:cNvSpPr/>
          <p:nvPr/>
        </p:nvSpPr>
        <p:spPr>
          <a:xfrm>
            <a:off x="731520" y="731520"/>
            <a:ext cx="3200400" cy="365760"/>
          </a:xfrm>
          <a:prstGeom prst="rect">
            <a:avLst/>
          </a:prstGeom>
          <a:noFill/>
          <a:ln/>
        </p:spPr>
        <p:txBody>
          <a:bodyPr wrap="square" rtlCol="0" anchor="ctr"/>
          <a:lstStyle/>
          <a:p>
            <a:pPr algn="ctr" indent="0" marL="0">
              <a:buNone/>
            </a:pPr>
            <a:r>
              <a:rPr lang="en-US" sz="1100" b="1" dirty="0">
                <a:solidFill>
                  <a:srgbClr val="0A1A3A"/>
                </a:solidFill>
              </a:rPr>
              <a:t>HỆ SINH THÁI SỐ DOANH NHÂN 1983</a:t>
            </a:r>
            <a:endParaRPr lang="en-US" sz="1100" dirty="0"/>
          </a:p>
        </p:txBody>
      </p:sp>
      <p:sp>
        <p:nvSpPr>
          <p:cNvPr id="4" name="Text 2"/>
          <p:cNvSpPr/>
          <p:nvPr/>
        </p:nvSpPr>
        <p:spPr>
          <a:xfrm>
            <a:off x="731520" y="1371600"/>
            <a:ext cx="10515600" cy="10972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ỨNG DỤNG DI ĐỘNG CLB DOANH NHÂN CEO 1983</a:t>
            </a:r>
            <a:endParaRPr lang="en-US" sz="3200" dirty="0"/>
          </a:p>
        </p:txBody>
      </p:sp>
      <p:sp>
        <p:nvSpPr>
          <p:cNvPr id="5" name="Text 3"/>
          <p:cNvSpPr/>
          <p:nvPr/>
        </p:nvSpPr>
        <p:spPr>
          <a:xfrm>
            <a:off x="731520" y="2560320"/>
            <a:ext cx="10515600" cy="457200"/>
          </a:xfrm>
          <a:prstGeom prst="rect">
            <a:avLst/>
          </a:prstGeom>
          <a:noFill/>
          <a:ln/>
        </p:spPr>
        <p:txBody>
          <a:bodyPr wrap="square" rtlCol="0" anchor="ctr"/>
          <a:lstStyle/>
          <a:p>
            <a:pPr indent="0" marL="0">
              <a:buNone/>
            </a:pPr>
            <a:r>
              <a:rPr lang="en-US" sz="1800" b="1" i="1" dirty="0">
                <a:solidFill>
                  <a:srgbClr val="F59E0B"/>
                </a:solidFill>
              </a:rPr>
              <a:t>"Kết Nối Bền — Phát Triển Vững" · Phiên bản v2.6.0 Pro</a:t>
            </a:r>
            <a:endParaRPr lang="en-US" sz="1800" dirty="0"/>
          </a:p>
        </p:txBody>
      </p:sp>
      <p:sp>
        <p:nvSpPr>
          <p:cNvPr id="6" name="Text 4"/>
          <p:cNvSpPr/>
          <p:nvPr/>
        </p:nvSpPr>
        <p:spPr>
          <a:xfrm>
            <a:off x="731520" y="3108960"/>
            <a:ext cx="9601200" cy="731520"/>
          </a:xfrm>
          <a:prstGeom prst="rect">
            <a:avLst/>
          </a:prstGeom>
          <a:noFill/>
          <a:ln/>
        </p:spPr>
        <p:txBody>
          <a:bodyPr wrap="square" rtlCol="0" anchor="ctr"/>
          <a:lstStyle/>
          <a:p>
            <a:pPr indent="0" marL="0">
              <a:buNone/>
            </a:pPr>
            <a:r>
              <a:rPr lang="en-US" sz="1400" dirty="0">
                <a:solidFill>
                  <a:srgbClr val="94A3B8"/>
                </a:solidFill>
              </a:rPr>
              <a:t>Nền tảng số hóa đặc quyền dành riêng cho Lãnh đạo cấp cao sinh năm 1983 (Quý Hợi - Đại Hải Thủy) trực thuộc HanoiBA.</a:t>
            </a:r>
            <a:endParaRPr lang="en-US" sz="1400" dirty="0"/>
          </a:p>
        </p:txBody>
      </p:sp>
      <p:sp>
        <p:nvSpPr>
          <p:cNvPr id="7" name="Shape 5"/>
          <p:cNvSpPr/>
          <p:nvPr/>
        </p:nvSpPr>
        <p:spPr>
          <a:xfrm>
            <a:off x="731520" y="4389120"/>
            <a:ext cx="3383280" cy="1645920"/>
          </a:xfrm>
          <a:prstGeom prst="rect">
            <a:avLst/>
          </a:prstGeom>
          <a:solidFill>
            <a:srgbClr val="132A56"/>
          </a:solidFill>
          <a:ln w="19050">
            <a:solidFill>
              <a:srgbClr val="1E3A8A"/>
            </a:solidFill>
            <a:prstDash val="solid"/>
          </a:ln>
        </p:spPr>
      </p:sp>
      <p:sp>
        <p:nvSpPr>
          <p:cNvPr id="8" name="Text 6"/>
          <p:cNvSpPr/>
          <p:nvPr/>
        </p:nvSpPr>
        <p:spPr>
          <a:xfrm>
            <a:off x="1005840" y="4572000"/>
            <a:ext cx="2834640" cy="640080"/>
          </a:xfrm>
          <a:prstGeom prst="rect">
            <a:avLst/>
          </a:prstGeom>
          <a:noFill/>
          <a:ln/>
        </p:spPr>
        <p:txBody>
          <a:bodyPr wrap="square" rtlCol="0" anchor="ctr"/>
          <a:lstStyle/>
          <a:p>
            <a:pPr indent="0" marL="0">
              <a:buNone/>
            </a:pPr>
            <a:r>
              <a:rPr lang="en-US" sz="3200" b="1" dirty="0">
                <a:solidFill>
                  <a:srgbClr val="F59E0B"/>
                </a:solidFill>
              </a:rPr>
              <a:t>100%</a:t>
            </a:r>
            <a:endParaRPr lang="en-US" sz="3200" dirty="0"/>
          </a:p>
        </p:txBody>
      </p:sp>
      <p:sp>
        <p:nvSpPr>
          <p:cNvPr id="9" name="Text 7"/>
          <p:cNvSpPr/>
          <p:nvPr/>
        </p:nvSpPr>
        <p:spPr>
          <a:xfrm>
            <a:off x="1005840" y="5212080"/>
            <a:ext cx="2834640" cy="365760"/>
          </a:xfrm>
          <a:prstGeom prst="rect">
            <a:avLst/>
          </a:prstGeom>
          <a:noFill/>
          <a:ln/>
        </p:spPr>
        <p:txBody>
          <a:bodyPr wrap="square" rtlCol="0" anchor="ctr"/>
          <a:lstStyle/>
          <a:p>
            <a:pPr indent="0" marL="0">
              <a:buNone/>
            </a:pPr>
            <a:r>
              <a:rPr lang="en-US" sz="1400" b="1" dirty="0">
                <a:solidFill>
                  <a:srgbClr val="FFFFFF"/>
                </a:solidFill>
              </a:rPr>
              <a:t>Thẻ Visit Card 3D</a:t>
            </a:r>
            <a:endParaRPr lang="en-US" sz="1400" dirty="0"/>
          </a:p>
        </p:txBody>
      </p:sp>
      <p:sp>
        <p:nvSpPr>
          <p:cNvPr id="10" name="Text 8"/>
          <p:cNvSpPr/>
          <p:nvPr/>
        </p:nvSpPr>
        <p:spPr>
          <a:xfrm>
            <a:off x="1005840" y="5577840"/>
            <a:ext cx="2834640" cy="365760"/>
          </a:xfrm>
          <a:prstGeom prst="rect">
            <a:avLst/>
          </a:prstGeom>
          <a:noFill/>
          <a:ln/>
        </p:spPr>
        <p:txBody>
          <a:bodyPr wrap="square" rtlCol="0" anchor="ctr"/>
          <a:lstStyle/>
          <a:p>
            <a:pPr indent="0" marL="0">
              <a:buNone/>
            </a:pPr>
            <a:r>
              <a:rPr lang="en-US" sz="1100" dirty="0">
                <a:solidFill>
                  <a:srgbClr val="94A3B8"/>
                </a:solidFill>
              </a:rPr>
              <a:t>Chạm NFC &amp; vCard thông minh</a:t>
            </a:r>
            <a:endParaRPr lang="en-US" sz="1100" dirty="0"/>
          </a:p>
        </p:txBody>
      </p:sp>
      <p:sp>
        <p:nvSpPr>
          <p:cNvPr id="11" name="Shape 9"/>
          <p:cNvSpPr/>
          <p:nvPr/>
        </p:nvSpPr>
        <p:spPr>
          <a:xfrm>
            <a:off x="4389120" y="4389120"/>
            <a:ext cx="3383280" cy="1645920"/>
          </a:xfrm>
          <a:prstGeom prst="rect">
            <a:avLst/>
          </a:prstGeom>
          <a:solidFill>
            <a:srgbClr val="132A56"/>
          </a:solidFill>
          <a:ln w="19050">
            <a:solidFill>
              <a:srgbClr val="1E3A8A"/>
            </a:solidFill>
            <a:prstDash val="solid"/>
          </a:ln>
        </p:spPr>
      </p:sp>
      <p:sp>
        <p:nvSpPr>
          <p:cNvPr id="12" name="Text 10"/>
          <p:cNvSpPr/>
          <p:nvPr/>
        </p:nvSpPr>
        <p:spPr>
          <a:xfrm>
            <a:off x="4663440" y="4572000"/>
            <a:ext cx="2834640" cy="640080"/>
          </a:xfrm>
          <a:prstGeom prst="rect">
            <a:avLst/>
          </a:prstGeom>
          <a:noFill/>
          <a:ln/>
        </p:spPr>
        <p:txBody>
          <a:bodyPr wrap="square" rtlCol="0" anchor="ctr"/>
          <a:lstStyle/>
          <a:p>
            <a:pPr indent="0" marL="0">
              <a:buNone/>
            </a:pPr>
            <a:r>
              <a:rPr lang="en-US" sz="3200" b="1" dirty="0">
                <a:solidFill>
                  <a:srgbClr val="F59E0B"/>
                </a:solidFill>
              </a:rPr>
              <a:t>05</a:t>
            </a:r>
            <a:endParaRPr lang="en-US" sz="3200" dirty="0"/>
          </a:p>
        </p:txBody>
      </p:sp>
      <p:sp>
        <p:nvSpPr>
          <p:cNvPr id="13" name="Text 11"/>
          <p:cNvSpPr/>
          <p:nvPr/>
        </p:nvSpPr>
        <p:spPr>
          <a:xfrm>
            <a:off x="4663440" y="5212080"/>
            <a:ext cx="2834640" cy="365760"/>
          </a:xfrm>
          <a:prstGeom prst="rect">
            <a:avLst/>
          </a:prstGeom>
          <a:noFill/>
          <a:ln/>
        </p:spPr>
        <p:txBody>
          <a:bodyPr wrap="square" rtlCol="0" anchor="ctr"/>
          <a:lstStyle/>
          <a:p>
            <a:pPr indent="0" marL="0">
              <a:buNone/>
            </a:pPr>
            <a:r>
              <a:rPr lang="en-US" sz="1400" b="1" dirty="0">
                <a:solidFill>
                  <a:srgbClr val="FFFFFF"/>
                </a:solidFill>
              </a:rPr>
              <a:t>Kênh Chuyên Biệt</a:t>
            </a:r>
            <a:endParaRPr lang="en-US" sz="1400" dirty="0"/>
          </a:p>
        </p:txBody>
      </p:sp>
      <p:sp>
        <p:nvSpPr>
          <p:cNvPr id="14" name="Text 12"/>
          <p:cNvSpPr/>
          <p:nvPr/>
        </p:nvSpPr>
        <p:spPr>
          <a:xfrm>
            <a:off x="4663440" y="5577840"/>
            <a:ext cx="2834640" cy="365760"/>
          </a:xfrm>
          <a:prstGeom prst="rect">
            <a:avLst/>
          </a:prstGeom>
          <a:noFill/>
          <a:ln/>
        </p:spPr>
        <p:txBody>
          <a:bodyPr wrap="square" rtlCol="0" anchor="ctr"/>
          <a:lstStyle/>
          <a:p>
            <a:pPr indent="0" marL="0">
              <a:buNone/>
            </a:pPr>
            <a:r>
              <a:rPr lang="en-US" sz="1100" dirty="0">
                <a:solidFill>
                  <a:srgbClr val="94A3B8"/>
                </a:solidFill>
              </a:rPr>
              <a:t>Truyền thông &amp; thông báo CRM</a:t>
            </a:r>
            <a:endParaRPr lang="en-US" sz="1100" dirty="0"/>
          </a:p>
        </p:txBody>
      </p:sp>
      <p:sp>
        <p:nvSpPr>
          <p:cNvPr id="15" name="Shape 13"/>
          <p:cNvSpPr/>
          <p:nvPr/>
        </p:nvSpPr>
        <p:spPr>
          <a:xfrm>
            <a:off x="8046720" y="4389120"/>
            <a:ext cx="3383280" cy="1645920"/>
          </a:xfrm>
          <a:prstGeom prst="rect">
            <a:avLst/>
          </a:prstGeom>
          <a:solidFill>
            <a:srgbClr val="132A56"/>
          </a:solidFill>
          <a:ln w="19050">
            <a:solidFill>
              <a:srgbClr val="1E3A8A"/>
            </a:solidFill>
            <a:prstDash val="solid"/>
          </a:ln>
        </p:spPr>
      </p:sp>
      <p:sp>
        <p:nvSpPr>
          <p:cNvPr id="16" name="Text 14"/>
          <p:cNvSpPr/>
          <p:nvPr/>
        </p:nvSpPr>
        <p:spPr>
          <a:xfrm>
            <a:off x="8321040" y="4572000"/>
            <a:ext cx="2834640" cy="640080"/>
          </a:xfrm>
          <a:prstGeom prst="rect">
            <a:avLst/>
          </a:prstGeom>
          <a:noFill/>
          <a:ln/>
        </p:spPr>
        <p:txBody>
          <a:bodyPr wrap="square" rtlCol="0" anchor="ctr"/>
          <a:lstStyle/>
          <a:p>
            <a:pPr indent="0" marL="0">
              <a:buNone/>
            </a:pPr>
            <a:r>
              <a:rPr lang="en-US" sz="3200" b="1" dirty="0">
                <a:solidFill>
                  <a:srgbClr val="F59E0B"/>
                </a:solidFill>
              </a:rPr>
              <a:t>0đ</a:t>
            </a:r>
            <a:endParaRPr lang="en-US" sz="3200" dirty="0"/>
          </a:p>
        </p:txBody>
      </p:sp>
      <p:sp>
        <p:nvSpPr>
          <p:cNvPr id="17" name="Text 15"/>
          <p:cNvSpPr/>
          <p:nvPr/>
        </p:nvSpPr>
        <p:spPr>
          <a:xfrm>
            <a:off x="8321040" y="5212080"/>
            <a:ext cx="2834640" cy="365760"/>
          </a:xfrm>
          <a:prstGeom prst="rect">
            <a:avLst/>
          </a:prstGeom>
          <a:noFill/>
          <a:ln/>
        </p:spPr>
        <p:txBody>
          <a:bodyPr wrap="square" rtlCol="0" anchor="ctr"/>
          <a:lstStyle/>
          <a:p>
            <a:pPr indent="0" marL="0">
              <a:buNone/>
            </a:pPr>
            <a:r>
              <a:rPr lang="en-US" sz="1400" b="1" dirty="0">
                <a:solidFill>
                  <a:srgbClr val="FFFFFF"/>
                </a:solidFill>
              </a:rPr>
              <a:t>Vé Hội Viên Điện Tử</a:t>
            </a:r>
            <a:endParaRPr lang="en-US" sz="1400" dirty="0"/>
          </a:p>
        </p:txBody>
      </p:sp>
      <p:sp>
        <p:nvSpPr>
          <p:cNvPr id="18" name="Text 16"/>
          <p:cNvSpPr/>
          <p:nvPr/>
        </p:nvSpPr>
        <p:spPr>
          <a:xfrm>
            <a:off x="8321040" y="5577840"/>
            <a:ext cx="2834640" cy="365760"/>
          </a:xfrm>
          <a:prstGeom prst="rect">
            <a:avLst/>
          </a:prstGeom>
          <a:noFill/>
          <a:ln/>
        </p:spPr>
        <p:txBody>
          <a:bodyPr wrap="square" rtlCol="0" anchor="ctr"/>
          <a:lstStyle/>
          <a:p>
            <a:pPr indent="0" marL="0">
              <a:buNone/>
            </a:pPr>
            <a:r>
              <a:rPr lang="en-US" sz="1100" dirty="0">
                <a:solidFill>
                  <a:srgbClr val="94A3B8"/>
                </a:solidFill>
              </a:rPr>
              <a:t>Check-in QR tức thì 1 giây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ĐỘT PHÁ THIẾT KẾ LANDING PAGE</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Bức Tranh 3D Khổ Dọc Liên Tục 600vh (Artwork is the Website)</a:t>
            </a:r>
            <a:endParaRPr lang="en-US" sz="2400" dirty="0"/>
          </a:p>
        </p:txBody>
      </p:sp>
      <p:sp>
        <p:nvSpPr>
          <p:cNvPr id="4" name="Shape 2"/>
          <p:cNvSpPr/>
          <p:nvPr/>
        </p:nvSpPr>
        <p:spPr>
          <a:xfrm>
            <a:off x="731520" y="1645920"/>
            <a:ext cx="3383280" cy="1920240"/>
          </a:xfrm>
          <a:prstGeom prst="rect">
            <a:avLst/>
          </a:prstGeom>
          <a:solidFill>
            <a:srgbClr val="132A56"/>
          </a:solidFill>
          <a:ln w="12700">
            <a:solidFill>
              <a:srgbClr val="1E3A8A"/>
            </a:solidFill>
            <a:prstDash val="solid"/>
          </a:ln>
        </p:spPr>
      </p:sp>
      <p:sp>
        <p:nvSpPr>
          <p:cNvPr id="5" name="Text 3"/>
          <p:cNvSpPr/>
          <p:nvPr/>
        </p:nvSpPr>
        <p:spPr>
          <a:xfrm>
            <a:off x="1005840" y="1828800"/>
            <a:ext cx="914400" cy="365760"/>
          </a:xfrm>
          <a:prstGeom prst="rect">
            <a:avLst/>
          </a:prstGeom>
          <a:noFill/>
          <a:ln/>
        </p:spPr>
        <p:txBody>
          <a:bodyPr wrap="square" rtlCol="0" anchor="ctr"/>
          <a:lstStyle/>
          <a:p>
            <a:pPr indent="0" marL="0">
              <a:buNone/>
            </a:pPr>
            <a:r>
              <a:rPr lang="en-US" sz="1800" b="1" dirty="0">
                <a:solidFill>
                  <a:srgbClr val="F59E0B"/>
                </a:solidFill>
              </a:rPr>
              <a:t>01</a:t>
            </a:r>
            <a:endParaRPr lang="en-US" sz="1800" dirty="0"/>
          </a:p>
        </p:txBody>
      </p:sp>
      <p:sp>
        <p:nvSpPr>
          <p:cNvPr id="6" name="Text 4"/>
          <p:cNvSpPr/>
          <p:nvPr/>
        </p:nvSpPr>
        <p:spPr>
          <a:xfrm>
            <a:off x="1005840" y="2194560"/>
            <a:ext cx="2834640" cy="457200"/>
          </a:xfrm>
          <a:prstGeom prst="rect">
            <a:avLst/>
          </a:prstGeom>
          <a:noFill/>
          <a:ln/>
        </p:spPr>
        <p:txBody>
          <a:bodyPr wrap="square" rtlCol="0" anchor="ctr"/>
          <a:lstStyle/>
          <a:p>
            <a:pPr indent="0" marL="0">
              <a:buNone/>
            </a:pPr>
            <a:r>
              <a:rPr lang="en-US" sz="1300" b="1" dirty="0">
                <a:solidFill>
                  <a:srgbClr val="FFFFFF"/>
                </a:solidFill>
              </a:rPr>
              <a:t>SKY (Bầu Trời &amp; Thái Dương)</a:t>
            </a:r>
            <a:endParaRPr lang="en-US" sz="1300" dirty="0"/>
          </a:p>
        </p:txBody>
      </p:sp>
      <p:sp>
        <p:nvSpPr>
          <p:cNvPr id="7" name="Text 5"/>
          <p:cNvSpPr/>
          <p:nvPr/>
        </p:nvSpPr>
        <p:spPr>
          <a:xfrm>
            <a:off x="1005840" y="2651760"/>
            <a:ext cx="2834640" cy="731520"/>
          </a:xfrm>
          <a:prstGeom prst="rect">
            <a:avLst/>
          </a:prstGeom>
          <a:noFill/>
          <a:ln/>
        </p:spPr>
        <p:txBody>
          <a:bodyPr wrap="square" rtlCol="0" anchor="ctr"/>
          <a:lstStyle/>
          <a:p>
            <a:pPr indent="0" marL="0">
              <a:buNone/>
            </a:pPr>
            <a:r>
              <a:rPr lang="en-US" sz="1100" dirty="0">
                <a:solidFill>
                  <a:srgbClr val="94A3B8"/>
                </a:solidFill>
              </a:rPr>
              <a:t>Ánh dương rực rỡ, tầng mây bồng bềnh, thông điệp khát vọng CEO 1983</a:t>
            </a:r>
            <a:endParaRPr lang="en-US" sz="1100" dirty="0"/>
          </a:p>
        </p:txBody>
      </p:sp>
      <p:sp>
        <p:nvSpPr>
          <p:cNvPr id="8" name="Shape 6"/>
          <p:cNvSpPr/>
          <p:nvPr/>
        </p:nvSpPr>
        <p:spPr>
          <a:xfrm>
            <a:off x="4389120" y="1645920"/>
            <a:ext cx="3383280" cy="1920240"/>
          </a:xfrm>
          <a:prstGeom prst="rect">
            <a:avLst/>
          </a:prstGeom>
          <a:solidFill>
            <a:srgbClr val="132A56"/>
          </a:solidFill>
          <a:ln w="12700">
            <a:solidFill>
              <a:srgbClr val="1E3A8A"/>
            </a:solidFill>
            <a:prstDash val="solid"/>
          </a:ln>
        </p:spPr>
      </p:sp>
      <p:sp>
        <p:nvSpPr>
          <p:cNvPr id="9" name="Text 7"/>
          <p:cNvSpPr/>
          <p:nvPr/>
        </p:nvSpPr>
        <p:spPr>
          <a:xfrm>
            <a:off x="4663440" y="1828800"/>
            <a:ext cx="914400" cy="365760"/>
          </a:xfrm>
          <a:prstGeom prst="rect">
            <a:avLst/>
          </a:prstGeom>
          <a:noFill/>
          <a:ln/>
        </p:spPr>
        <p:txBody>
          <a:bodyPr wrap="square" rtlCol="0" anchor="ctr"/>
          <a:lstStyle/>
          <a:p>
            <a:pPr indent="0" marL="0">
              <a:buNone/>
            </a:pPr>
            <a:r>
              <a:rPr lang="en-US" sz="1800" b="1" dirty="0">
                <a:solidFill>
                  <a:srgbClr val="F59E0B"/>
                </a:solidFill>
              </a:rPr>
              <a:t>02</a:t>
            </a:r>
            <a:endParaRPr lang="en-US" sz="1800" dirty="0"/>
          </a:p>
        </p:txBody>
      </p:sp>
      <p:sp>
        <p:nvSpPr>
          <p:cNvPr id="10" name="Text 8"/>
          <p:cNvSpPr/>
          <p:nvPr/>
        </p:nvSpPr>
        <p:spPr>
          <a:xfrm>
            <a:off x="4663440" y="2194560"/>
            <a:ext cx="2834640" cy="457200"/>
          </a:xfrm>
          <a:prstGeom prst="rect">
            <a:avLst/>
          </a:prstGeom>
          <a:noFill/>
          <a:ln/>
        </p:spPr>
        <p:txBody>
          <a:bodyPr wrap="square" rtlCol="0" anchor="ctr"/>
          <a:lstStyle/>
          <a:p>
            <a:pPr indent="0" marL="0">
              <a:buNone/>
            </a:pPr>
            <a:r>
              <a:rPr lang="en-US" sz="1300" b="1" dirty="0">
                <a:solidFill>
                  <a:srgbClr val="FFFFFF"/>
                </a:solidFill>
              </a:rPr>
              <a:t>BIRDS (Đàn Chim Tung Cánh)</a:t>
            </a:r>
            <a:endParaRPr lang="en-US" sz="1300" dirty="0"/>
          </a:p>
        </p:txBody>
      </p:sp>
      <p:sp>
        <p:nvSpPr>
          <p:cNvPr id="11" name="Text 9"/>
          <p:cNvSpPr/>
          <p:nvPr/>
        </p:nvSpPr>
        <p:spPr>
          <a:xfrm>
            <a:off x="4663440" y="2651760"/>
            <a:ext cx="2834640" cy="731520"/>
          </a:xfrm>
          <a:prstGeom prst="rect">
            <a:avLst/>
          </a:prstGeom>
          <a:noFill/>
          <a:ln/>
        </p:spPr>
        <p:txBody>
          <a:bodyPr wrap="square" rtlCol="0" anchor="ctr"/>
          <a:lstStyle/>
          <a:p>
            <a:pPr indent="0" marL="0">
              <a:buNone/>
            </a:pPr>
            <a:r>
              <a:rPr lang="en-US" sz="1100" dirty="0">
                <a:solidFill>
                  <a:srgbClr val="94A3B8"/>
                </a:solidFill>
              </a:rPr>
              <a:t>Tượng trưng cho sự hội tụ và vươn tầm của các nhà lãnh đạo C-Level</a:t>
            </a:r>
            <a:endParaRPr lang="en-US" sz="1100" dirty="0"/>
          </a:p>
        </p:txBody>
      </p:sp>
      <p:sp>
        <p:nvSpPr>
          <p:cNvPr id="12" name="Shape 10"/>
          <p:cNvSpPr/>
          <p:nvPr/>
        </p:nvSpPr>
        <p:spPr>
          <a:xfrm>
            <a:off x="8046720" y="1645920"/>
            <a:ext cx="3383280" cy="1920240"/>
          </a:xfrm>
          <a:prstGeom prst="rect">
            <a:avLst/>
          </a:prstGeom>
          <a:solidFill>
            <a:srgbClr val="132A56"/>
          </a:solidFill>
          <a:ln w="12700">
            <a:solidFill>
              <a:srgbClr val="1E3A8A"/>
            </a:solidFill>
            <a:prstDash val="solid"/>
          </a:ln>
        </p:spPr>
      </p:sp>
      <p:sp>
        <p:nvSpPr>
          <p:cNvPr id="13" name="Text 11"/>
          <p:cNvSpPr/>
          <p:nvPr/>
        </p:nvSpPr>
        <p:spPr>
          <a:xfrm>
            <a:off x="8321040" y="1828800"/>
            <a:ext cx="914400" cy="365760"/>
          </a:xfrm>
          <a:prstGeom prst="rect">
            <a:avLst/>
          </a:prstGeom>
          <a:noFill/>
          <a:ln/>
        </p:spPr>
        <p:txBody>
          <a:bodyPr wrap="square" rtlCol="0" anchor="ctr"/>
          <a:lstStyle/>
          <a:p>
            <a:pPr indent="0" marL="0">
              <a:buNone/>
            </a:pPr>
            <a:r>
              <a:rPr lang="en-US" sz="1800" b="1" dirty="0">
                <a:solidFill>
                  <a:srgbClr val="F59E0B"/>
                </a:solidFill>
              </a:rPr>
              <a:t>03</a:t>
            </a:r>
            <a:endParaRPr lang="en-US" sz="1800" dirty="0"/>
          </a:p>
        </p:txBody>
      </p:sp>
      <p:sp>
        <p:nvSpPr>
          <p:cNvPr id="14" name="Text 12"/>
          <p:cNvSpPr/>
          <p:nvPr/>
        </p:nvSpPr>
        <p:spPr>
          <a:xfrm>
            <a:off x="8321040" y="2194560"/>
            <a:ext cx="2834640" cy="457200"/>
          </a:xfrm>
          <a:prstGeom prst="rect">
            <a:avLst/>
          </a:prstGeom>
          <a:noFill/>
          <a:ln/>
        </p:spPr>
        <p:txBody>
          <a:bodyPr wrap="square" rtlCol="0" anchor="ctr"/>
          <a:lstStyle/>
          <a:p>
            <a:pPr indent="0" marL="0">
              <a:buNone/>
            </a:pPr>
            <a:r>
              <a:rPr lang="en-US" sz="1300" b="1" dirty="0">
                <a:solidFill>
                  <a:srgbClr val="FFFFFF"/>
                </a:solidFill>
              </a:rPr>
              <a:t>KITES (Cánh Diều Khát Vọng)</a:t>
            </a:r>
            <a:endParaRPr lang="en-US" sz="1300" dirty="0"/>
          </a:p>
        </p:txBody>
      </p:sp>
      <p:sp>
        <p:nvSpPr>
          <p:cNvPr id="15" name="Text 13"/>
          <p:cNvSpPr/>
          <p:nvPr/>
        </p:nvSpPr>
        <p:spPr>
          <a:xfrm>
            <a:off x="8321040" y="2651760"/>
            <a:ext cx="2834640" cy="731520"/>
          </a:xfrm>
          <a:prstGeom prst="rect">
            <a:avLst/>
          </a:prstGeom>
          <a:noFill/>
          <a:ln/>
        </p:spPr>
        <p:txBody>
          <a:bodyPr wrap="square" rtlCol="0" anchor="ctr"/>
          <a:lstStyle/>
          <a:p>
            <a:pPr indent="0" marL="0">
              <a:buNone/>
            </a:pPr>
            <a:r>
              <a:rPr lang="en-US" sz="1100" dirty="0">
                <a:solidFill>
                  <a:srgbClr val="94A3B8"/>
                </a:solidFill>
              </a:rPr>
              <a:t>Kết nối không gian vũ trụ với thực tiễn kinh doanh, bay cao và vững chãi</a:t>
            </a:r>
            <a:endParaRPr lang="en-US" sz="1100" dirty="0"/>
          </a:p>
        </p:txBody>
      </p:sp>
      <p:sp>
        <p:nvSpPr>
          <p:cNvPr id="16" name="Shape 14"/>
          <p:cNvSpPr/>
          <p:nvPr/>
        </p:nvSpPr>
        <p:spPr>
          <a:xfrm>
            <a:off x="731520" y="3840480"/>
            <a:ext cx="3383280" cy="1920240"/>
          </a:xfrm>
          <a:prstGeom prst="rect">
            <a:avLst/>
          </a:prstGeom>
          <a:solidFill>
            <a:srgbClr val="132A56"/>
          </a:solidFill>
          <a:ln w="12700">
            <a:solidFill>
              <a:srgbClr val="1E3A8A"/>
            </a:solidFill>
            <a:prstDash val="solid"/>
          </a:ln>
        </p:spPr>
      </p:sp>
      <p:sp>
        <p:nvSpPr>
          <p:cNvPr id="17" name="Text 15"/>
          <p:cNvSpPr/>
          <p:nvPr/>
        </p:nvSpPr>
        <p:spPr>
          <a:xfrm>
            <a:off x="1005840" y="4023360"/>
            <a:ext cx="914400" cy="365760"/>
          </a:xfrm>
          <a:prstGeom prst="rect">
            <a:avLst/>
          </a:prstGeom>
          <a:noFill/>
          <a:ln/>
        </p:spPr>
        <p:txBody>
          <a:bodyPr wrap="square" rtlCol="0" anchor="ctr"/>
          <a:lstStyle/>
          <a:p>
            <a:pPr indent="0" marL="0">
              <a:buNone/>
            </a:pPr>
            <a:r>
              <a:rPr lang="en-US" sz="1800" b="1" dirty="0">
                <a:solidFill>
                  <a:srgbClr val="F59E0B"/>
                </a:solidFill>
              </a:rPr>
              <a:t>04</a:t>
            </a:r>
            <a:endParaRPr lang="en-US" sz="1800" dirty="0"/>
          </a:p>
        </p:txBody>
      </p:sp>
      <p:sp>
        <p:nvSpPr>
          <p:cNvPr id="18" name="Text 16"/>
          <p:cNvSpPr/>
          <p:nvPr/>
        </p:nvSpPr>
        <p:spPr>
          <a:xfrm>
            <a:off x="1005840" y="4389120"/>
            <a:ext cx="2834640" cy="457200"/>
          </a:xfrm>
          <a:prstGeom prst="rect">
            <a:avLst/>
          </a:prstGeom>
          <a:noFill/>
          <a:ln/>
        </p:spPr>
        <p:txBody>
          <a:bodyPr wrap="square" rtlCol="0" anchor="ctr"/>
          <a:lstStyle/>
          <a:p>
            <a:pPr indent="0" marL="0">
              <a:buNone/>
            </a:pPr>
            <a:r>
              <a:rPr lang="en-US" sz="1300" b="1" dirty="0">
                <a:solidFill>
                  <a:srgbClr val="FFFFFF"/>
                </a:solidFill>
              </a:rPr>
              <a:t>VILLAS (Quần Thể Kiến Trúc)</a:t>
            </a:r>
            <a:endParaRPr lang="en-US" sz="1300" dirty="0"/>
          </a:p>
        </p:txBody>
      </p:sp>
      <p:sp>
        <p:nvSpPr>
          <p:cNvPr id="19" name="Text 17"/>
          <p:cNvSpPr/>
          <p:nvPr/>
        </p:nvSpPr>
        <p:spPr>
          <a:xfrm>
            <a:off x="1005840" y="4846320"/>
            <a:ext cx="2834640" cy="731520"/>
          </a:xfrm>
          <a:prstGeom prst="rect">
            <a:avLst/>
          </a:prstGeom>
          <a:noFill/>
          <a:ln/>
        </p:spPr>
        <p:txBody>
          <a:bodyPr wrap="square" rtlCol="0" anchor="ctr"/>
          <a:lstStyle/>
          <a:p>
            <a:pPr indent="0" marL="0">
              <a:buNone/>
            </a:pPr>
            <a:r>
              <a:rPr lang="en-US" sz="1100" dirty="0">
                <a:solidFill>
                  <a:srgbClr val="94A3B8"/>
                </a:solidFill>
              </a:rPr>
              <a:t>Đẳng cấp sống, vị thế doanh nhân, đường chân trời và sự thịnh vượng</a:t>
            </a:r>
            <a:endParaRPr lang="en-US" sz="1100" dirty="0"/>
          </a:p>
        </p:txBody>
      </p:sp>
      <p:sp>
        <p:nvSpPr>
          <p:cNvPr id="20" name="Shape 18"/>
          <p:cNvSpPr/>
          <p:nvPr/>
        </p:nvSpPr>
        <p:spPr>
          <a:xfrm>
            <a:off x="4389120" y="3840480"/>
            <a:ext cx="3383280" cy="1920240"/>
          </a:xfrm>
          <a:prstGeom prst="rect">
            <a:avLst/>
          </a:prstGeom>
          <a:solidFill>
            <a:srgbClr val="132A56"/>
          </a:solidFill>
          <a:ln w="12700">
            <a:solidFill>
              <a:srgbClr val="1E3A8A"/>
            </a:solidFill>
            <a:prstDash val="solid"/>
          </a:ln>
        </p:spPr>
      </p:sp>
      <p:sp>
        <p:nvSpPr>
          <p:cNvPr id="21" name="Text 19"/>
          <p:cNvSpPr/>
          <p:nvPr/>
        </p:nvSpPr>
        <p:spPr>
          <a:xfrm>
            <a:off x="4663440" y="4023360"/>
            <a:ext cx="914400" cy="365760"/>
          </a:xfrm>
          <a:prstGeom prst="rect">
            <a:avLst/>
          </a:prstGeom>
          <a:noFill/>
          <a:ln/>
        </p:spPr>
        <p:txBody>
          <a:bodyPr wrap="square" rtlCol="0" anchor="ctr"/>
          <a:lstStyle/>
          <a:p>
            <a:pPr indent="0" marL="0">
              <a:buNone/>
            </a:pPr>
            <a:r>
              <a:rPr lang="en-US" sz="1800" b="1" dirty="0">
                <a:solidFill>
                  <a:srgbClr val="F59E0B"/>
                </a:solidFill>
              </a:rPr>
              <a:t>05</a:t>
            </a:r>
            <a:endParaRPr lang="en-US" sz="1800" dirty="0"/>
          </a:p>
        </p:txBody>
      </p:sp>
      <p:sp>
        <p:nvSpPr>
          <p:cNvPr id="22" name="Text 20"/>
          <p:cNvSpPr/>
          <p:nvPr/>
        </p:nvSpPr>
        <p:spPr>
          <a:xfrm>
            <a:off x="4663440" y="4389120"/>
            <a:ext cx="2834640" cy="457200"/>
          </a:xfrm>
          <a:prstGeom prst="rect">
            <a:avLst/>
          </a:prstGeom>
          <a:noFill/>
          <a:ln/>
        </p:spPr>
        <p:txBody>
          <a:bodyPr wrap="square" rtlCol="0" anchor="ctr"/>
          <a:lstStyle/>
          <a:p>
            <a:pPr indent="0" marL="0">
              <a:buNone/>
            </a:pPr>
            <a:r>
              <a:rPr lang="en-US" sz="1300" b="1" dirty="0">
                <a:solidFill>
                  <a:srgbClr val="FFFFFF"/>
                </a:solidFill>
              </a:rPr>
              <a:t>WATER (Khối Nước &amp; Pool)</a:t>
            </a:r>
            <a:endParaRPr lang="en-US" sz="1300" dirty="0"/>
          </a:p>
        </p:txBody>
      </p:sp>
      <p:sp>
        <p:nvSpPr>
          <p:cNvPr id="23" name="Text 21"/>
          <p:cNvSpPr/>
          <p:nvPr/>
        </p:nvSpPr>
        <p:spPr>
          <a:xfrm>
            <a:off x="4663440" y="4846320"/>
            <a:ext cx="2834640" cy="731520"/>
          </a:xfrm>
          <a:prstGeom prst="rect">
            <a:avLst/>
          </a:prstGeom>
          <a:noFill/>
          <a:ln/>
        </p:spPr>
        <p:txBody>
          <a:bodyPr wrap="square" rtlCol="0" anchor="ctr"/>
          <a:lstStyle/>
          <a:p>
            <a:pPr indent="0" marL="0">
              <a:buNone/>
            </a:pPr>
            <a:r>
              <a:rPr lang="en-US" sz="1100" dirty="0">
                <a:solidFill>
                  <a:srgbClr val="94A3B8"/>
                </a:solidFill>
              </a:rPr>
              <a:t>Gợn sóng đại dương, chiều sâu phản chiếu, bản lĩnh của mệnh Đại Hải Thủy</a:t>
            </a:r>
            <a:endParaRPr lang="en-US" sz="1100" dirty="0"/>
          </a:p>
        </p:txBody>
      </p:sp>
      <p:sp>
        <p:nvSpPr>
          <p:cNvPr id="24" name="Shape 22"/>
          <p:cNvSpPr/>
          <p:nvPr/>
        </p:nvSpPr>
        <p:spPr>
          <a:xfrm>
            <a:off x="8046720" y="3840480"/>
            <a:ext cx="3383280" cy="1920240"/>
          </a:xfrm>
          <a:prstGeom prst="rect">
            <a:avLst/>
          </a:prstGeom>
          <a:solidFill>
            <a:srgbClr val="132A56"/>
          </a:solidFill>
          <a:ln w="12700">
            <a:solidFill>
              <a:srgbClr val="1E3A8A"/>
            </a:solidFill>
            <a:prstDash val="solid"/>
          </a:ln>
        </p:spPr>
      </p:sp>
      <p:sp>
        <p:nvSpPr>
          <p:cNvPr id="25" name="Text 23"/>
          <p:cNvSpPr/>
          <p:nvPr/>
        </p:nvSpPr>
        <p:spPr>
          <a:xfrm>
            <a:off x="8321040" y="4023360"/>
            <a:ext cx="914400" cy="365760"/>
          </a:xfrm>
          <a:prstGeom prst="rect">
            <a:avLst/>
          </a:prstGeom>
          <a:noFill/>
          <a:ln/>
        </p:spPr>
        <p:txBody>
          <a:bodyPr wrap="square" rtlCol="0" anchor="ctr"/>
          <a:lstStyle/>
          <a:p>
            <a:pPr indent="0" marL="0">
              <a:buNone/>
            </a:pPr>
            <a:r>
              <a:rPr lang="en-US" sz="1800" b="1" dirty="0">
                <a:solidFill>
                  <a:srgbClr val="F59E0B"/>
                </a:solidFill>
              </a:rPr>
              <a:t>06</a:t>
            </a:r>
            <a:endParaRPr lang="en-US" sz="1800" dirty="0"/>
          </a:p>
        </p:txBody>
      </p:sp>
      <p:sp>
        <p:nvSpPr>
          <p:cNvPr id="26" name="Text 24"/>
          <p:cNvSpPr/>
          <p:nvPr/>
        </p:nvSpPr>
        <p:spPr>
          <a:xfrm>
            <a:off x="8321040" y="4389120"/>
            <a:ext cx="2834640" cy="457200"/>
          </a:xfrm>
          <a:prstGeom prst="rect">
            <a:avLst/>
          </a:prstGeom>
          <a:noFill/>
          <a:ln/>
        </p:spPr>
        <p:txBody>
          <a:bodyPr wrap="square" rtlCol="0" anchor="ctr"/>
          <a:lstStyle/>
          <a:p>
            <a:pPr indent="0" marL="0">
              <a:buNone/>
            </a:pPr>
            <a:r>
              <a:rPr lang="en-US" sz="1300" b="1" dirty="0">
                <a:solidFill>
                  <a:srgbClr val="FFFFFF"/>
                </a:solidFill>
              </a:rPr>
              <a:t>UNDERWATER (Lãnh Đạo Đáy Biển)</a:t>
            </a:r>
            <a:endParaRPr lang="en-US" sz="1300" dirty="0"/>
          </a:p>
        </p:txBody>
      </p:sp>
      <p:sp>
        <p:nvSpPr>
          <p:cNvPr id="27" name="Text 25"/>
          <p:cNvSpPr/>
          <p:nvPr/>
        </p:nvSpPr>
        <p:spPr>
          <a:xfrm>
            <a:off x="8321040" y="4846320"/>
            <a:ext cx="2834640" cy="731520"/>
          </a:xfrm>
          <a:prstGeom prst="rect">
            <a:avLst/>
          </a:prstGeom>
          <a:noFill/>
          <a:ln/>
        </p:spPr>
        <p:txBody>
          <a:bodyPr wrap="square" rtlCol="0" anchor="ctr"/>
          <a:lstStyle/>
          <a:p>
            <a:pPr indent="0" marL="0">
              <a:buNone/>
            </a:pPr>
            <a:r>
              <a:rPr lang="en-US" sz="1100" dirty="0">
                <a:solidFill>
                  <a:srgbClr val="94A3B8"/>
                </a:solidFill>
              </a:rPr>
              <a:t>Thế giới biển xanh sâu thẳm, đàn cá uy nghiêm, lãnh đạo chinh phục thử thách</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NHẬN DIỆN DOANH NHÂN ĐẲNG CẤP</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Thẻ Hội Viên VIP 3D, Chạm NFC &amp; Danh Thiếp Số 360°</a:t>
            </a:r>
            <a:endParaRPr lang="en-US" sz="2400" dirty="0"/>
          </a:p>
        </p:txBody>
      </p:sp>
      <p:sp>
        <p:nvSpPr>
          <p:cNvPr id="4" name="Shape 2"/>
          <p:cNvSpPr/>
          <p:nvPr/>
        </p:nvSpPr>
        <p:spPr>
          <a:xfrm>
            <a:off x="731520" y="1645920"/>
            <a:ext cx="5120640" cy="2011680"/>
          </a:xfrm>
          <a:prstGeom prst="rect">
            <a:avLst/>
          </a:prstGeom>
          <a:solidFill>
            <a:srgbClr val="132A56"/>
          </a:solidFill>
          <a:ln w="15240">
            <a:solidFill>
              <a:srgbClr val="F59E0B"/>
            </a:solidFill>
            <a:prstDash val="solid"/>
          </a:ln>
        </p:spPr>
      </p:sp>
      <p:sp>
        <p:nvSpPr>
          <p:cNvPr id="5" name="Text 3"/>
          <p:cNvSpPr/>
          <p:nvPr/>
        </p:nvSpPr>
        <p:spPr>
          <a:xfrm>
            <a:off x="1097280" y="1920240"/>
            <a:ext cx="4389120" cy="365760"/>
          </a:xfrm>
          <a:prstGeom prst="rect">
            <a:avLst/>
          </a:prstGeom>
          <a:noFill/>
          <a:ln/>
        </p:spPr>
        <p:txBody>
          <a:bodyPr wrap="square" rtlCol="0" anchor="ctr"/>
          <a:lstStyle/>
          <a:p>
            <a:pPr indent="0" marL="0">
              <a:buNone/>
            </a:pPr>
            <a:r>
              <a:rPr lang="en-US" sz="1600" b="1" dirty="0">
                <a:solidFill>
                  <a:srgbClr val="FFFFFF"/>
                </a:solidFill>
              </a:rPr>
              <a:t>Lật Thẻ 3D Hai Mặt Tương Tác</a:t>
            </a:r>
            <a:endParaRPr lang="en-US" sz="1600" dirty="0"/>
          </a:p>
        </p:txBody>
      </p:sp>
      <p:sp>
        <p:nvSpPr>
          <p:cNvPr id="6" name="Text 4"/>
          <p:cNvSpPr/>
          <p:nvPr/>
        </p:nvSpPr>
        <p:spPr>
          <a:xfrm>
            <a:off x="1097280" y="2377440"/>
            <a:ext cx="4389120" cy="731520"/>
          </a:xfrm>
          <a:prstGeom prst="rect">
            <a:avLst/>
          </a:prstGeom>
          <a:noFill/>
          <a:ln/>
        </p:spPr>
        <p:txBody>
          <a:bodyPr wrap="square" rtlCol="0" anchor="ctr"/>
          <a:lstStyle/>
          <a:p>
            <a:pPr indent="0" marL="0">
              <a:buNone/>
            </a:pPr>
            <a:r>
              <a:rPr lang="en-US" sz="1200" dirty="0">
                <a:solidFill>
                  <a:srgbClr val="94A3B8"/>
                </a:solidFill>
              </a:rPr>
              <a:t>Mặt trước phủ màu Navy Hoàng Gia phối viền Vàng Kim. Mặt sau khắc logo HanoiBA + CEO 1983 cùng slogan "Kết nối bền - Phát triển vững".</a:t>
            </a:r>
            <a:endParaRPr lang="en-US" sz="1200" dirty="0"/>
          </a:p>
        </p:txBody>
      </p:sp>
      <p:sp>
        <p:nvSpPr>
          <p:cNvPr id="7" name="Text 5"/>
          <p:cNvSpPr/>
          <p:nvPr/>
        </p:nvSpPr>
        <p:spPr>
          <a:xfrm>
            <a:off x="1097280" y="3108960"/>
            <a:ext cx="4389120" cy="274320"/>
          </a:xfrm>
          <a:prstGeom prst="rect">
            <a:avLst/>
          </a:prstGeom>
          <a:noFill/>
          <a:ln/>
        </p:spPr>
        <p:txBody>
          <a:bodyPr wrap="square" rtlCol="0" anchor="ctr"/>
          <a:lstStyle/>
          <a:p>
            <a:pPr indent="0" marL="0">
              <a:buNone/>
            </a:pPr>
            <a:r>
              <a:rPr lang="en-US" sz="1100" b="1" dirty="0">
                <a:solidFill>
                  <a:srgbClr val="F59E0B"/>
                </a:solidFill>
              </a:rPr>
              <a:t>★ Khung ảnh tỉ lệ 1.7:1 chuẩn nghệ thuật</a:t>
            </a:r>
            <a:endParaRPr lang="en-US" sz="1100" dirty="0"/>
          </a:p>
        </p:txBody>
      </p:sp>
      <p:sp>
        <p:nvSpPr>
          <p:cNvPr id="8" name="Shape 6"/>
          <p:cNvSpPr/>
          <p:nvPr/>
        </p:nvSpPr>
        <p:spPr>
          <a:xfrm>
            <a:off x="6217920" y="1645920"/>
            <a:ext cx="5120640" cy="2011680"/>
          </a:xfrm>
          <a:prstGeom prst="rect">
            <a:avLst/>
          </a:prstGeom>
          <a:solidFill>
            <a:srgbClr val="132A56"/>
          </a:solidFill>
          <a:ln w="15240">
            <a:solidFill>
              <a:srgbClr val="F59E0B"/>
            </a:solidFill>
            <a:prstDash val="solid"/>
          </a:ln>
        </p:spPr>
      </p:sp>
      <p:sp>
        <p:nvSpPr>
          <p:cNvPr id="9" name="Text 7"/>
          <p:cNvSpPr/>
          <p:nvPr/>
        </p:nvSpPr>
        <p:spPr>
          <a:xfrm>
            <a:off x="6583680" y="1920240"/>
            <a:ext cx="4389120" cy="365760"/>
          </a:xfrm>
          <a:prstGeom prst="rect">
            <a:avLst/>
          </a:prstGeom>
          <a:noFill/>
          <a:ln/>
        </p:spPr>
        <p:txBody>
          <a:bodyPr wrap="square" rtlCol="0" anchor="ctr"/>
          <a:lstStyle/>
          <a:p>
            <a:pPr indent="0" marL="0">
              <a:buNone/>
            </a:pPr>
            <a:r>
              <a:rPr lang="en-US" sz="1600" b="1" dirty="0">
                <a:solidFill>
                  <a:srgbClr val="FFFFFF"/>
                </a:solidFill>
              </a:rPr>
              <a:t>Chạm Thẻ Thông Minh NFC 1 Chạm</a:t>
            </a:r>
            <a:endParaRPr lang="en-US" sz="1600" dirty="0"/>
          </a:p>
        </p:txBody>
      </p:sp>
      <p:sp>
        <p:nvSpPr>
          <p:cNvPr id="10" name="Text 8"/>
          <p:cNvSpPr/>
          <p:nvPr/>
        </p:nvSpPr>
        <p:spPr>
          <a:xfrm>
            <a:off x="6583680" y="2377440"/>
            <a:ext cx="4389120" cy="731520"/>
          </a:xfrm>
          <a:prstGeom prst="rect">
            <a:avLst/>
          </a:prstGeom>
          <a:noFill/>
          <a:ln/>
        </p:spPr>
        <p:txBody>
          <a:bodyPr wrap="square" rtlCol="0" anchor="ctr"/>
          <a:lstStyle/>
          <a:p>
            <a:pPr indent="0" marL="0">
              <a:buNone/>
            </a:pPr>
            <a:r>
              <a:rPr lang="en-US" sz="1200" dirty="0">
                <a:solidFill>
                  <a:srgbClr val="94A3B8"/>
                </a:solidFill>
              </a:rPr>
              <a:t>Chạm mặt lưng điện thoại trực tiếp vào thiết bị của đối tác để mở danh thiếp tức thì mà không cần đối tác cài đặt bất kỳ ứng dụng nào.</a:t>
            </a:r>
            <a:endParaRPr lang="en-US" sz="1200" dirty="0"/>
          </a:p>
        </p:txBody>
      </p:sp>
      <p:sp>
        <p:nvSpPr>
          <p:cNvPr id="11" name="Text 9"/>
          <p:cNvSpPr/>
          <p:nvPr/>
        </p:nvSpPr>
        <p:spPr>
          <a:xfrm>
            <a:off x="6583680" y="3108960"/>
            <a:ext cx="4389120" cy="274320"/>
          </a:xfrm>
          <a:prstGeom prst="rect">
            <a:avLst/>
          </a:prstGeom>
          <a:noFill/>
          <a:ln/>
        </p:spPr>
        <p:txBody>
          <a:bodyPr wrap="square" rtlCol="0" anchor="ctr"/>
          <a:lstStyle/>
          <a:p>
            <a:pPr indent="0" marL="0">
              <a:buNone/>
            </a:pPr>
            <a:r>
              <a:rPr lang="en-US" sz="1100" b="1" dirty="0">
                <a:solidFill>
                  <a:srgbClr val="F59E0B"/>
                </a:solidFill>
              </a:rPr>
              <a:t>★ Tương thích 100% iOS &amp; Android</a:t>
            </a:r>
            <a:endParaRPr lang="en-US" sz="1100" dirty="0"/>
          </a:p>
        </p:txBody>
      </p:sp>
      <p:sp>
        <p:nvSpPr>
          <p:cNvPr id="12" name="Shape 10"/>
          <p:cNvSpPr/>
          <p:nvPr/>
        </p:nvSpPr>
        <p:spPr>
          <a:xfrm>
            <a:off x="731520" y="3931920"/>
            <a:ext cx="5120640" cy="2011680"/>
          </a:xfrm>
          <a:prstGeom prst="rect">
            <a:avLst/>
          </a:prstGeom>
          <a:solidFill>
            <a:srgbClr val="132A56"/>
          </a:solidFill>
          <a:ln w="15240">
            <a:solidFill>
              <a:srgbClr val="F59E0B"/>
            </a:solidFill>
            <a:prstDash val="solid"/>
          </a:ln>
        </p:spPr>
      </p:sp>
      <p:sp>
        <p:nvSpPr>
          <p:cNvPr id="13" name="Text 11"/>
          <p:cNvSpPr/>
          <p:nvPr/>
        </p:nvSpPr>
        <p:spPr>
          <a:xfrm>
            <a:off x="1097280" y="4206240"/>
            <a:ext cx="4389120" cy="365760"/>
          </a:xfrm>
          <a:prstGeom prst="rect">
            <a:avLst/>
          </a:prstGeom>
          <a:noFill/>
          <a:ln/>
        </p:spPr>
        <p:txBody>
          <a:bodyPr wrap="square" rtlCol="0" anchor="ctr"/>
          <a:lstStyle/>
          <a:p>
            <a:pPr indent="0" marL="0">
              <a:buNone/>
            </a:pPr>
            <a:r>
              <a:rPr lang="en-US" sz="1600" b="1" dirty="0">
                <a:solidFill>
                  <a:srgbClr val="FFFFFF"/>
                </a:solidFill>
              </a:rPr>
              <a:t>Hồ Sơ Năng Lực Doanh Nhân 360°</a:t>
            </a:r>
            <a:endParaRPr lang="en-US" sz="1600" dirty="0"/>
          </a:p>
        </p:txBody>
      </p:sp>
      <p:sp>
        <p:nvSpPr>
          <p:cNvPr id="14" name="Text 12"/>
          <p:cNvSpPr/>
          <p:nvPr/>
        </p:nvSpPr>
        <p:spPr>
          <a:xfrm>
            <a:off x="1097280" y="4663440"/>
            <a:ext cx="4389120" cy="731520"/>
          </a:xfrm>
          <a:prstGeom prst="rect">
            <a:avLst/>
          </a:prstGeom>
          <a:noFill/>
          <a:ln/>
        </p:spPr>
        <p:txBody>
          <a:bodyPr wrap="square" rtlCol="0" anchor="ctr"/>
          <a:lstStyle/>
          <a:p>
            <a:pPr indent="0" marL="0">
              <a:buNone/>
            </a:pPr>
            <a:r>
              <a:rPr lang="en-US" sz="1200" dirty="0">
                <a:solidFill>
                  <a:srgbClr val="94A3B8"/>
                </a:solidFill>
              </a:rPr>
              <a:t>Hiển thị đầy đủ MST doanh nghiệp, quy mô vốn, nhân sự, danh mục sản phẩm cốt lõi, đường link showroom và hotline kết nối trực tiếp.</a:t>
            </a:r>
            <a:endParaRPr lang="en-US" sz="1200" dirty="0"/>
          </a:p>
        </p:txBody>
      </p:sp>
      <p:sp>
        <p:nvSpPr>
          <p:cNvPr id="15" name="Text 13"/>
          <p:cNvSpPr/>
          <p:nvPr/>
        </p:nvSpPr>
        <p:spPr>
          <a:xfrm>
            <a:off x="1097280" y="5394960"/>
            <a:ext cx="4389120" cy="274320"/>
          </a:xfrm>
          <a:prstGeom prst="rect">
            <a:avLst/>
          </a:prstGeom>
          <a:noFill/>
          <a:ln/>
        </p:spPr>
        <p:txBody>
          <a:bodyPr wrap="square" rtlCol="0" anchor="ctr"/>
          <a:lstStyle/>
          <a:p>
            <a:pPr indent="0" marL="0">
              <a:buNone/>
            </a:pPr>
            <a:r>
              <a:rPr lang="en-US" sz="1100" b="1" dirty="0">
                <a:solidFill>
                  <a:srgbClr val="F59E0B"/>
                </a:solidFill>
              </a:rPr>
              <a:t>★ Tích hợp Apple &amp; Google Wallet</a:t>
            </a:r>
            <a:endParaRPr lang="en-US" sz="1100" dirty="0"/>
          </a:p>
        </p:txBody>
      </p:sp>
      <p:sp>
        <p:nvSpPr>
          <p:cNvPr id="16" name="Shape 14"/>
          <p:cNvSpPr/>
          <p:nvPr/>
        </p:nvSpPr>
        <p:spPr>
          <a:xfrm>
            <a:off x="6217920" y="3931920"/>
            <a:ext cx="5120640" cy="2011680"/>
          </a:xfrm>
          <a:prstGeom prst="rect">
            <a:avLst/>
          </a:prstGeom>
          <a:solidFill>
            <a:srgbClr val="132A56"/>
          </a:solidFill>
          <a:ln w="15240">
            <a:solidFill>
              <a:srgbClr val="F59E0B"/>
            </a:solidFill>
            <a:prstDash val="solid"/>
          </a:ln>
        </p:spPr>
      </p:sp>
      <p:sp>
        <p:nvSpPr>
          <p:cNvPr id="17" name="Text 15"/>
          <p:cNvSpPr/>
          <p:nvPr/>
        </p:nvSpPr>
        <p:spPr>
          <a:xfrm>
            <a:off x="6583680" y="4206240"/>
            <a:ext cx="4389120" cy="365760"/>
          </a:xfrm>
          <a:prstGeom prst="rect">
            <a:avLst/>
          </a:prstGeom>
          <a:noFill/>
          <a:ln/>
        </p:spPr>
        <p:txBody>
          <a:bodyPr wrap="square" rtlCol="0" anchor="ctr"/>
          <a:lstStyle/>
          <a:p>
            <a:pPr indent="0" marL="0">
              <a:buNone/>
            </a:pPr>
            <a:r>
              <a:rPr lang="en-US" sz="1600" b="1" dirty="0">
                <a:solidFill>
                  <a:srgbClr val="FFFFFF"/>
                </a:solidFill>
              </a:rPr>
              <a:t>Bảo Mật Quyền Riêng Tư Cấp Cao</a:t>
            </a:r>
            <a:endParaRPr lang="en-US" sz="1600" dirty="0"/>
          </a:p>
        </p:txBody>
      </p:sp>
      <p:sp>
        <p:nvSpPr>
          <p:cNvPr id="18" name="Text 16"/>
          <p:cNvSpPr/>
          <p:nvPr/>
        </p:nvSpPr>
        <p:spPr>
          <a:xfrm>
            <a:off x="6583680" y="4663440"/>
            <a:ext cx="4389120" cy="731520"/>
          </a:xfrm>
          <a:prstGeom prst="rect">
            <a:avLst/>
          </a:prstGeom>
          <a:noFill/>
          <a:ln/>
        </p:spPr>
        <p:txBody>
          <a:bodyPr wrap="square" rtlCol="0" anchor="ctr"/>
          <a:lstStyle/>
          <a:p>
            <a:pPr indent="0" marL="0">
              <a:buNone/>
            </a:pPr>
            <a:r>
              <a:rPr lang="en-US" sz="1200" dirty="0">
                <a:solidFill>
                  <a:srgbClr val="94A3B8"/>
                </a:solidFill>
              </a:rPr>
              <a:t>Hội viên chủ động bật/tắt từng trường thông tin (Số điện thoại, email cá nhân, doanh số) khi chia sẻ danh thiếp công khai ra ngoài.</a:t>
            </a:r>
            <a:endParaRPr lang="en-US" sz="1200" dirty="0"/>
          </a:p>
        </p:txBody>
      </p:sp>
      <p:sp>
        <p:nvSpPr>
          <p:cNvPr id="19" name="Text 17"/>
          <p:cNvSpPr/>
          <p:nvPr/>
        </p:nvSpPr>
        <p:spPr>
          <a:xfrm>
            <a:off x="6583680" y="5394960"/>
            <a:ext cx="4389120" cy="274320"/>
          </a:xfrm>
          <a:prstGeom prst="rect">
            <a:avLst/>
          </a:prstGeom>
          <a:noFill/>
          <a:ln/>
        </p:spPr>
        <p:txBody>
          <a:bodyPr wrap="square" rtlCol="0" anchor="ctr"/>
          <a:lstStyle/>
          <a:p>
            <a:pPr indent="0" marL="0">
              <a:buNone/>
            </a:pPr>
            <a:r>
              <a:rPr lang="en-US" sz="1100" b="1" dirty="0">
                <a:solidFill>
                  <a:srgbClr val="F59E0B"/>
                </a:solidFill>
              </a:rPr>
              <a:t>★ Mã hóa QR chống sao chép giả mạo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THƯƠNG MẠI ĐIỆN TỬ B2B NỘI KHỐI</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Sàn Giao Thương Marketplace — Gian Hàng Doanh Nghiệp Chuẩn Sàn</a:t>
            </a:r>
            <a:endParaRPr lang="en-US" sz="2400" dirty="0"/>
          </a:p>
        </p:txBody>
      </p:sp>
      <p:sp>
        <p:nvSpPr>
          <p:cNvPr id="4" name="Shape 2"/>
          <p:cNvSpPr/>
          <p:nvPr/>
        </p:nvSpPr>
        <p:spPr>
          <a:xfrm>
            <a:off x="731520" y="1645920"/>
            <a:ext cx="10607040" cy="1005840"/>
          </a:xfrm>
          <a:prstGeom prst="rect">
            <a:avLst/>
          </a:prstGeom>
          <a:solidFill>
            <a:srgbClr val="132A56"/>
          </a:solidFill>
          <a:ln w="12700">
            <a:solidFill>
              <a:srgbClr val="1E3A8A"/>
            </a:solidFill>
            <a:prstDash val="solid"/>
          </a:ln>
        </p:spPr>
      </p:sp>
      <p:sp>
        <p:nvSpPr>
          <p:cNvPr id="5" name="Text 3"/>
          <p:cNvSpPr/>
          <p:nvPr/>
        </p:nvSpPr>
        <p:spPr>
          <a:xfrm>
            <a:off x="1005840" y="1920240"/>
            <a:ext cx="548640" cy="457200"/>
          </a:xfrm>
          <a:prstGeom prst="rect">
            <a:avLst/>
          </a:prstGeom>
          <a:noFill/>
          <a:ln/>
        </p:spPr>
        <p:txBody>
          <a:bodyPr wrap="square" rtlCol="0" anchor="ctr"/>
          <a:lstStyle/>
          <a:p>
            <a:pPr indent="0" marL="0">
              <a:buNone/>
            </a:pPr>
            <a:r>
              <a:rPr lang="en-US" sz="2000" b="1" dirty="0">
                <a:solidFill>
                  <a:srgbClr val="F59E0B"/>
                </a:solidFill>
              </a:rPr>
              <a:t>01</a:t>
            </a:r>
            <a:endParaRPr lang="en-US" sz="2000" dirty="0"/>
          </a:p>
        </p:txBody>
      </p:sp>
      <p:sp>
        <p:nvSpPr>
          <p:cNvPr id="6" name="Text 4"/>
          <p:cNvSpPr/>
          <p:nvPr/>
        </p:nvSpPr>
        <p:spPr>
          <a:xfrm>
            <a:off x="1645920" y="1828800"/>
            <a:ext cx="8686800" cy="320040"/>
          </a:xfrm>
          <a:prstGeom prst="rect">
            <a:avLst/>
          </a:prstGeom>
          <a:noFill/>
          <a:ln/>
        </p:spPr>
        <p:txBody>
          <a:bodyPr wrap="square" rtlCol="0" anchor="ctr"/>
          <a:lstStyle/>
          <a:p>
            <a:pPr indent="0" marL="0">
              <a:buNone/>
            </a:pPr>
            <a:r>
              <a:rPr lang="en-US" sz="1400" b="1" dirty="0">
                <a:solidFill>
                  <a:srgbClr val="FFFFFF"/>
                </a:solidFill>
              </a:rPr>
              <a:t>Gian Hàng Doanh Nghiệp (Company Storefront)</a:t>
            </a:r>
            <a:endParaRPr lang="en-US" sz="1400" dirty="0"/>
          </a:p>
        </p:txBody>
      </p:sp>
      <p:sp>
        <p:nvSpPr>
          <p:cNvPr id="7" name="Text 5"/>
          <p:cNvSpPr/>
          <p:nvPr/>
        </p:nvSpPr>
        <p:spPr>
          <a:xfrm>
            <a:off x="1645920" y="2148840"/>
            <a:ext cx="9326880" cy="411480"/>
          </a:xfrm>
          <a:prstGeom prst="rect">
            <a:avLst/>
          </a:prstGeom>
          <a:noFill/>
          <a:ln/>
        </p:spPr>
        <p:txBody>
          <a:bodyPr wrap="square" rtlCol="0" anchor="ctr"/>
          <a:lstStyle/>
          <a:p>
            <a:pPr indent="0" marL="0">
              <a:buNone/>
            </a:pPr>
            <a:r>
              <a:rPr lang="en-US" sz="1200" dirty="0">
                <a:solidFill>
                  <a:srgbClr val="94A3B8"/>
                </a:solidFill>
              </a:rPr>
              <a:t>Mỗi hội viên sở hữu một Showroom số với đầy đủ ảnh bìa nhận diện thương hiệu, chứng nhận pháp nhân, hotline và danh mục hàng hóa.</a:t>
            </a:r>
            <a:endParaRPr lang="en-US" sz="1200" dirty="0"/>
          </a:p>
        </p:txBody>
      </p:sp>
      <p:sp>
        <p:nvSpPr>
          <p:cNvPr id="8" name="Shape 6"/>
          <p:cNvSpPr/>
          <p:nvPr/>
        </p:nvSpPr>
        <p:spPr>
          <a:xfrm>
            <a:off x="731520" y="2788920"/>
            <a:ext cx="10607040" cy="1005840"/>
          </a:xfrm>
          <a:prstGeom prst="rect">
            <a:avLst/>
          </a:prstGeom>
          <a:solidFill>
            <a:srgbClr val="132A56"/>
          </a:solidFill>
          <a:ln w="12700">
            <a:solidFill>
              <a:srgbClr val="1E3A8A"/>
            </a:solidFill>
            <a:prstDash val="solid"/>
          </a:ln>
        </p:spPr>
      </p:sp>
      <p:sp>
        <p:nvSpPr>
          <p:cNvPr id="9" name="Text 7"/>
          <p:cNvSpPr/>
          <p:nvPr/>
        </p:nvSpPr>
        <p:spPr>
          <a:xfrm>
            <a:off x="1005840" y="3063240"/>
            <a:ext cx="548640" cy="457200"/>
          </a:xfrm>
          <a:prstGeom prst="rect">
            <a:avLst/>
          </a:prstGeom>
          <a:noFill/>
          <a:ln/>
        </p:spPr>
        <p:txBody>
          <a:bodyPr wrap="square" rtlCol="0" anchor="ctr"/>
          <a:lstStyle/>
          <a:p>
            <a:pPr indent="0" marL="0">
              <a:buNone/>
            </a:pPr>
            <a:r>
              <a:rPr lang="en-US" sz="2000" b="1" dirty="0">
                <a:solidFill>
                  <a:srgbClr val="F59E0B"/>
                </a:solidFill>
              </a:rPr>
              <a:t>02</a:t>
            </a:r>
            <a:endParaRPr lang="en-US" sz="2000" dirty="0"/>
          </a:p>
        </p:txBody>
      </p:sp>
      <p:sp>
        <p:nvSpPr>
          <p:cNvPr id="10" name="Text 8"/>
          <p:cNvSpPr/>
          <p:nvPr/>
        </p:nvSpPr>
        <p:spPr>
          <a:xfrm>
            <a:off x="1645920" y="2971800"/>
            <a:ext cx="8686800" cy="320040"/>
          </a:xfrm>
          <a:prstGeom prst="rect">
            <a:avLst/>
          </a:prstGeom>
          <a:noFill/>
          <a:ln/>
        </p:spPr>
        <p:txBody>
          <a:bodyPr wrap="square" rtlCol="0" anchor="ctr"/>
          <a:lstStyle/>
          <a:p>
            <a:pPr indent="0" marL="0">
              <a:buNone/>
            </a:pPr>
            <a:r>
              <a:rPr lang="en-US" sz="1400" b="1" dirty="0">
                <a:solidFill>
                  <a:srgbClr val="FFFFFF"/>
                </a:solidFill>
              </a:rPr>
              <a:t>Hiển Thị Giá Trị Giao Dịch Hàng Chục Tỷ Đồng</a:t>
            </a:r>
            <a:endParaRPr lang="en-US" sz="1400" dirty="0"/>
          </a:p>
        </p:txBody>
      </p:sp>
      <p:sp>
        <p:nvSpPr>
          <p:cNvPr id="11" name="Text 9"/>
          <p:cNvSpPr/>
          <p:nvPr/>
        </p:nvSpPr>
        <p:spPr>
          <a:xfrm>
            <a:off x="1645920" y="3291840"/>
            <a:ext cx="9326880" cy="411480"/>
          </a:xfrm>
          <a:prstGeom prst="rect">
            <a:avLst/>
          </a:prstGeom>
          <a:noFill/>
          <a:ln/>
        </p:spPr>
        <p:txBody>
          <a:bodyPr wrap="square" rtlCol="0" anchor="ctr"/>
          <a:lstStyle/>
          <a:p>
            <a:pPr indent="0" marL="0">
              <a:buNone/>
            </a:pPr>
            <a:r>
              <a:rPr lang="en-US" sz="1200" dirty="0">
                <a:solidFill>
                  <a:srgbClr val="94A3B8"/>
                </a:solidFill>
              </a:rPr>
              <a:t>Khắc phục hoàn toàn lỗi co gọn văn bản. Giá trị niêm yết từ hàng trăm triệu đến hàng chục tỷ VNĐ (15,000,000,000 đ) hiển thị rõ nét.</a:t>
            </a:r>
            <a:endParaRPr lang="en-US" sz="1200" dirty="0"/>
          </a:p>
        </p:txBody>
      </p:sp>
      <p:sp>
        <p:nvSpPr>
          <p:cNvPr id="12" name="Shape 10"/>
          <p:cNvSpPr/>
          <p:nvPr/>
        </p:nvSpPr>
        <p:spPr>
          <a:xfrm>
            <a:off x="731520" y="3931920"/>
            <a:ext cx="10607040" cy="1005840"/>
          </a:xfrm>
          <a:prstGeom prst="rect">
            <a:avLst/>
          </a:prstGeom>
          <a:solidFill>
            <a:srgbClr val="132A56"/>
          </a:solidFill>
          <a:ln w="12700">
            <a:solidFill>
              <a:srgbClr val="1E3A8A"/>
            </a:solidFill>
            <a:prstDash val="solid"/>
          </a:ln>
        </p:spPr>
      </p:sp>
      <p:sp>
        <p:nvSpPr>
          <p:cNvPr id="13" name="Text 11"/>
          <p:cNvSpPr/>
          <p:nvPr/>
        </p:nvSpPr>
        <p:spPr>
          <a:xfrm>
            <a:off x="1005840" y="4206240"/>
            <a:ext cx="548640" cy="457200"/>
          </a:xfrm>
          <a:prstGeom prst="rect">
            <a:avLst/>
          </a:prstGeom>
          <a:noFill/>
          <a:ln/>
        </p:spPr>
        <p:txBody>
          <a:bodyPr wrap="square" rtlCol="0" anchor="ctr"/>
          <a:lstStyle/>
          <a:p>
            <a:pPr indent="0" marL="0">
              <a:buNone/>
            </a:pPr>
            <a:r>
              <a:rPr lang="en-US" sz="2000" b="1" dirty="0">
                <a:solidFill>
                  <a:srgbClr val="F59E0B"/>
                </a:solidFill>
              </a:rPr>
              <a:t>03</a:t>
            </a:r>
            <a:endParaRPr lang="en-US" sz="2000" dirty="0"/>
          </a:p>
        </p:txBody>
      </p:sp>
      <p:sp>
        <p:nvSpPr>
          <p:cNvPr id="14" name="Text 12"/>
          <p:cNvSpPr/>
          <p:nvPr/>
        </p:nvSpPr>
        <p:spPr>
          <a:xfrm>
            <a:off x="1645920" y="4114800"/>
            <a:ext cx="8686800" cy="320040"/>
          </a:xfrm>
          <a:prstGeom prst="rect">
            <a:avLst/>
          </a:prstGeom>
          <a:noFill/>
          <a:ln/>
        </p:spPr>
        <p:txBody>
          <a:bodyPr wrap="square" rtlCol="0" anchor="ctr"/>
          <a:lstStyle/>
          <a:p>
            <a:pPr indent="0" marL="0">
              <a:buNone/>
            </a:pPr>
            <a:r>
              <a:rPr lang="en-US" sz="1400" b="1" dirty="0">
                <a:solidFill>
                  <a:srgbClr val="FFFFFF"/>
                </a:solidFill>
              </a:rPr>
              <a:t>Bộ Lọc Ngành Nghề Đa Tầng Thông Minh</a:t>
            </a:r>
            <a:endParaRPr lang="en-US" sz="1400" dirty="0"/>
          </a:p>
        </p:txBody>
      </p:sp>
      <p:sp>
        <p:nvSpPr>
          <p:cNvPr id="15" name="Text 13"/>
          <p:cNvSpPr/>
          <p:nvPr/>
        </p:nvSpPr>
        <p:spPr>
          <a:xfrm>
            <a:off x="1645920" y="4434840"/>
            <a:ext cx="9326880" cy="411480"/>
          </a:xfrm>
          <a:prstGeom prst="rect">
            <a:avLst/>
          </a:prstGeom>
          <a:noFill/>
          <a:ln/>
        </p:spPr>
        <p:txBody>
          <a:bodyPr wrap="square" rtlCol="0" anchor="ctr"/>
          <a:lstStyle/>
          <a:p>
            <a:pPr indent="0" marL="0">
              <a:buNone/>
            </a:pPr>
            <a:r>
              <a:rPr lang="en-US" sz="1200" dirty="0">
                <a:solidFill>
                  <a:srgbClr val="94A3B8"/>
                </a:solidFill>
              </a:rPr>
              <a:t>Phân loại tự động: Công nghệ thông tin, Bất động sản &amp; Xây dựng, Tài chính - Ngân hàng, Xuất nhập khẩu, F&amp;B, Năng lượng tái tạo.</a:t>
            </a:r>
            <a:endParaRPr lang="en-US" sz="1200" dirty="0"/>
          </a:p>
        </p:txBody>
      </p:sp>
      <p:sp>
        <p:nvSpPr>
          <p:cNvPr id="16" name="Shape 14"/>
          <p:cNvSpPr/>
          <p:nvPr/>
        </p:nvSpPr>
        <p:spPr>
          <a:xfrm>
            <a:off x="731520" y="5074920"/>
            <a:ext cx="10607040" cy="1005840"/>
          </a:xfrm>
          <a:prstGeom prst="rect">
            <a:avLst/>
          </a:prstGeom>
          <a:solidFill>
            <a:srgbClr val="132A56"/>
          </a:solidFill>
          <a:ln w="12700">
            <a:solidFill>
              <a:srgbClr val="1E3A8A"/>
            </a:solidFill>
            <a:prstDash val="solid"/>
          </a:ln>
        </p:spPr>
      </p:sp>
      <p:sp>
        <p:nvSpPr>
          <p:cNvPr id="17" name="Text 15"/>
          <p:cNvSpPr/>
          <p:nvPr/>
        </p:nvSpPr>
        <p:spPr>
          <a:xfrm>
            <a:off x="1005840" y="5349240"/>
            <a:ext cx="548640" cy="457200"/>
          </a:xfrm>
          <a:prstGeom prst="rect">
            <a:avLst/>
          </a:prstGeom>
          <a:noFill/>
          <a:ln/>
        </p:spPr>
        <p:txBody>
          <a:bodyPr wrap="square" rtlCol="0" anchor="ctr"/>
          <a:lstStyle/>
          <a:p>
            <a:pPr indent="0" marL="0">
              <a:buNone/>
            </a:pPr>
            <a:r>
              <a:rPr lang="en-US" sz="2000" b="1" dirty="0">
                <a:solidFill>
                  <a:srgbClr val="F59E0B"/>
                </a:solidFill>
              </a:rPr>
              <a:t>04</a:t>
            </a:r>
            <a:endParaRPr lang="en-US" sz="2000" dirty="0"/>
          </a:p>
        </p:txBody>
      </p:sp>
      <p:sp>
        <p:nvSpPr>
          <p:cNvPr id="18" name="Text 16"/>
          <p:cNvSpPr/>
          <p:nvPr/>
        </p:nvSpPr>
        <p:spPr>
          <a:xfrm>
            <a:off x="1645920" y="5257800"/>
            <a:ext cx="8686800" cy="320040"/>
          </a:xfrm>
          <a:prstGeom prst="rect">
            <a:avLst/>
          </a:prstGeom>
          <a:noFill/>
          <a:ln/>
        </p:spPr>
        <p:txBody>
          <a:bodyPr wrap="square" rtlCol="0" anchor="ctr"/>
          <a:lstStyle/>
          <a:p>
            <a:pPr indent="0" marL="0">
              <a:buNone/>
            </a:pPr>
            <a:r>
              <a:rPr lang="en-US" sz="1400" b="1" dirty="0">
                <a:solidFill>
                  <a:srgbClr val="FFFFFF"/>
                </a:solidFill>
              </a:rPr>
              <a:t>Quy Trình Đăng Sản Phẩm 2 Phân Đoạn</a:t>
            </a:r>
            <a:endParaRPr lang="en-US" sz="1400" dirty="0"/>
          </a:p>
        </p:txBody>
      </p:sp>
      <p:sp>
        <p:nvSpPr>
          <p:cNvPr id="19" name="Text 17"/>
          <p:cNvSpPr/>
          <p:nvPr/>
        </p:nvSpPr>
        <p:spPr>
          <a:xfrm>
            <a:off x="1645920" y="5577840"/>
            <a:ext cx="9326880" cy="411480"/>
          </a:xfrm>
          <a:prstGeom prst="rect">
            <a:avLst/>
          </a:prstGeom>
          <a:noFill/>
          <a:ln/>
        </p:spPr>
        <p:txBody>
          <a:bodyPr wrap="square" rtlCol="0" anchor="ctr"/>
          <a:lstStyle/>
          <a:p>
            <a:pPr indent="0" marL="0">
              <a:buNone/>
            </a:pPr>
            <a:r>
              <a:rPr lang="en-US" sz="1200" dirty="0">
                <a:solidFill>
                  <a:srgbClr val="94A3B8"/>
                </a:solidFill>
              </a:rPr>
              <a:t>Phân đoạn 1: Thông tin pháp nhân và hồ sơ năng lực. Phân đoạn 2: Thông số kỹ thuật sản phẩm, bảng giá ưu đãi độc quyền cho CEO 1983.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KHỚP LỆNH KINH DOANH THỜI GIAN THỰC</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Bảng Tin Trao Cơ Hội Kinh Doanh B2B &amp; Quản Lý Đối Tác Quan Tâm</a:t>
            </a:r>
            <a:endParaRPr lang="en-US" sz="2400" dirty="0"/>
          </a:p>
        </p:txBody>
      </p:sp>
      <p:sp>
        <p:nvSpPr>
          <p:cNvPr id="4" name="Shape 2"/>
          <p:cNvSpPr/>
          <p:nvPr/>
        </p:nvSpPr>
        <p:spPr>
          <a:xfrm>
            <a:off x="731520" y="1645920"/>
            <a:ext cx="3383280" cy="4389120"/>
          </a:xfrm>
          <a:prstGeom prst="rect">
            <a:avLst/>
          </a:prstGeom>
          <a:solidFill>
            <a:srgbClr val="132A56"/>
          </a:solidFill>
          <a:ln w="15240">
            <a:solidFill>
              <a:srgbClr val="F59E0B"/>
            </a:solidFill>
            <a:prstDash val="solid"/>
          </a:ln>
        </p:spPr>
      </p:sp>
      <p:sp>
        <p:nvSpPr>
          <p:cNvPr id="5" name="Text 3"/>
          <p:cNvSpPr/>
          <p:nvPr/>
        </p:nvSpPr>
        <p:spPr>
          <a:xfrm>
            <a:off x="1097280" y="2011680"/>
            <a:ext cx="1371600" cy="73152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6" name="Text 4"/>
          <p:cNvSpPr/>
          <p:nvPr/>
        </p:nvSpPr>
        <p:spPr>
          <a:xfrm>
            <a:off x="1097280" y="2926080"/>
            <a:ext cx="2743200" cy="548640"/>
          </a:xfrm>
          <a:prstGeom prst="rect">
            <a:avLst/>
          </a:prstGeom>
          <a:noFill/>
          <a:ln/>
        </p:spPr>
        <p:txBody>
          <a:bodyPr wrap="square" rtlCol="0" anchor="ctr"/>
          <a:lstStyle/>
          <a:p>
            <a:pPr indent="0" marL="0">
              <a:buNone/>
            </a:pPr>
            <a:r>
              <a:rPr lang="en-US" sz="1600" b="1" dirty="0">
                <a:solidFill>
                  <a:srgbClr val="FFFFFF"/>
                </a:solidFill>
              </a:rPr>
              <a:t>Bộ Đếm Lượt Xem Realtime</a:t>
            </a:r>
            <a:endParaRPr lang="en-US" sz="1600" dirty="0"/>
          </a:p>
        </p:txBody>
      </p:sp>
      <p:sp>
        <p:nvSpPr>
          <p:cNvPr id="7" name="Text 5"/>
          <p:cNvSpPr/>
          <p:nvPr/>
        </p:nvSpPr>
        <p:spPr>
          <a:xfrm>
            <a:off x="1097280" y="3566160"/>
            <a:ext cx="2743200" cy="2011680"/>
          </a:xfrm>
          <a:prstGeom prst="rect">
            <a:avLst/>
          </a:prstGeom>
          <a:noFill/>
          <a:ln/>
        </p:spPr>
        <p:txBody>
          <a:bodyPr wrap="square" rtlCol="0" anchor="ctr"/>
          <a:lstStyle/>
          <a:p>
            <a:pPr indent="0" marL="0">
              <a:buNone/>
            </a:pPr>
            <a:r>
              <a:rPr lang="en-US" sz="1300" dirty="0">
                <a:solidFill>
                  <a:srgbClr val="94A3B8"/>
                </a:solidFill>
              </a:rPr>
              <a:t>Icon mắt giám sát chính xác số lượt click vào bài đăng, phản ánh chân thực mức độ quan tâm của cộng đồng với nhu cầu cung - cầu.</a:t>
            </a:r>
            <a:endParaRPr lang="en-US" sz="1300" dirty="0"/>
          </a:p>
        </p:txBody>
      </p:sp>
      <p:sp>
        <p:nvSpPr>
          <p:cNvPr id="8" name="Shape 6"/>
          <p:cNvSpPr/>
          <p:nvPr/>
        </p:nvSpPr>
        <p:spPr>
          <a:xfrm>
            <a:off x="4389120" y="1645920"/>
            <a:ext cx="3383280" cy="4389120"/>
          </a:xfrm>
          <a:prstGeom prst="rect">
            <a:avLst/>
          </a:prstGeom>
          <a:solidFill>
            <a:srgbClr val="132A56"/>
          </a:solidFill>
          <a:ln w="15240">
            <a:solidFill>
              <a:srgbClr val="F59E0B"/>
            </a:solidFill>
            <a:prstDash val="solid"/>
          </a:ln>
        </p:spPr>
      </p:sp>
      <p:sp>
        <p:nvSpPr>
          <p:cNvPr id="9" name="Text 7"/>
          <p:cNvSpPr/>
          <p:nvPr/>
        </p:nvSpPr>
        <p:spPr>
          <a:xfrm>
            <a:off x="4754880" y="2011680"/>
            <a:ext cx="1371600" cy="73152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10" name="Text 8"/>
          <p:cNvSpPr/>
          <p:nvPr/>
        </p:nvSpPr>
        <p:spPr>
          <a:xfrm>
            <a:off x="4754880" y="2926080"/>
            <a:ext cx="2743200" cy="548640"/>
          </a:xfrm>
          <a:prstGeom prst="rect">
            <a:avLst/>
          </a:prstGeom>
          <a:noFill/>
          <a:ln/>
        </p:spPr>
        <p:txBody>
          <a:bodyPr wrap="square" rtlCol="0" anchor="ctr"/>
          <a:lstStyle/>
          <a:p>
            <a:pPr indent="0" marL="0">
              <a:buNone/>
            </a:pPr>
            <a:r>
              <a:rPr lang="en-US" sz="1600" b="1" dirty="0">
                <a:solidFill>
                  <a:srgbClr val="FFFFFF"/>
                </a:solidFill>
              </a:rPr>
              <a:t>Danh Sách Đối Tác Quan Tâm</a:t>
            </a:r>
            <a:endParaRPr lang="en-US" sz="1600" dirty="0"/>
          </a:p>
        </p:txBody>
      </p:sp>
      <p:sp>
        <p:nvSpPr>
          <p:cNvPr id="11" name="Text 9"/>
          <p:cNvSpPr/>
          <p:nvPr/>
        </p:nvSpPr>
        <p:spPr>
          <a:xfrm>
            <a:off x="4754880" y="3566160"/>
            <a:ext cx="2743200" cy="2011680"/>
          </a:xfrm>
          <a:prstGeom prst="rect">
            <a:avLst/>
          </a:prstGeom>
          <a:noFill/>
          <a:ln/>
        </p:spPr>
        <p:txBody>
          <a:bodyPr wrap="square" rtlCol="0" anchor="ctr"/>
          <a:lstStyle/>
          <a:p>
            <a:pPr indent="0" marL="0">
              <a:buNone/>
            </a:pPr>
            <a:r>
              <a:rPr lang="en-US" sz="1300" dirty="0">
                <a:solidFill>
                  <a:srgbClr val="94A3B8"/>
                </a:solidFill>
              </a:rPr>
              <a:t>Chủ bài đăng xem được danh sách cụ thể các CEO đã bấm "Quan tâm", kèm chức vụ, tên công ty, số hotline và email liên hệ.</a:t>
            </a:r>
            <a:endParaRPr lang="en-US" sz="1300" dirty="0"/>
          </a:p>
        </p:txBody>
      </p:sp>
      <p:sp>
        <p:nvSpPr>
          <p:cNvPr id="12" name="Shape 10"/>
          <p:cNvSpPr/>
          <p:nvPr/>
        </p:nvSpPr>
        <p:spPr>
          <a:xfrm>
            <a:off x="8046720" y="1645920"/>
            <a:ext cx="3383280" cy="4389120"/>
          </a:xfrm>
          <a:prstGeom prst="rect">
            <a:avLst/>
          </a:prstGeom>
          <a:solidFill>
            <a:srgbClr val="132A56"/>
          </a:solidFill>
          <a:ln w="15240">
            <a:solidFill>
              <a:srgbClr val="F59E0B"/>
            </a:solidFill>
            <a:prstDash val="solid"/>
          </a:ln>
        </p:spPr>
      </p:sp>
      <p:sp>
        <p:nvSpPr>
          <p:cNvPr id="13" name="Text 11"/>
          <p:cNvSpPr/>
          <p:nvPr/>
        </p:nvSpPr>
        <p:spPr>
          <a:xfrm>
            <a:off x="8412480" y="2011680"/>
            <a:ext cx="1371600" cy="73152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14" name="Text 12"/>
          <p:cNvSpPr/>
          <p:nvPr/>
        </p:nvSpPr>
        <p:spPr>
          <a:xfrm>
            <a:off x="8412480" y="2926080"/>
            <a:ext cx="2743200" cy="548640"/>
          </a:xfrm>
          <a:prstGeom prst="rect">
            <a:avLst/>
          </a:prstGeom>
          <a:noFill/>
          <a:ln/>
        </p:spPr>
        <p:txBody>
          <a:bodyPr wrap="square" rtlCol="0" anchor="ctr"/>
          <a:lstStyle/>
          <a:p>
            <a:pPr indent="0" marL="0">
              <a:buNone/>
            </a:pPr>
            <a:r>
              <a:rPr lang="en-US" sz="1600" b="1" dirty="0">
                <a:solidFill>
                  <a:srgbClr val="FFFFFF"/>
                </a:solidFill>
              </a:rPr>
              <a:t>Kết Nối 1 Chạm Siêu Tốc</a:t>
            </a:r>
            <a:endParaRPr lang="en-US" sz="1600" dirty="0"/>
          </a:p>
        </p:txBody>
      </p:sp>
      <p:sp>
        <p:nvSpPr>
          <p:cNvPr id="15" name="Text 13"/>
          <p:cNvSpPr/>
          <p:nvPr/>
        </p:nvSpPr>
        <p:spPr>
          <a:xfrm>
            <a:off x="8412480" y="3566160"/>
            <a:ext cx="2743200" cy="2011680"/>
          </a:xfrm>
          <a:prstGeom prst="rect">
            <a:avLst/>
          </a:prstGeom>
          <a:noFill/>
          <a:ln/>
        </p:spPr>
        <p:txBody>
          <a:bodyPr wrap="square" rtlCol="0" anchor="ctr"/>
          <a:lstStyle/>
          <a:p>
            <a:pPr indent="0" marL="0">
              <a:buNone/>
            </a:pPr>
            <a:r>
              <a:rPr lang="en-US" sz="1300" dirty="0">
                <a:solidFill>
                  <a:srgbClr val="94A3B8"/>
                </a:solidFill>
              </a:rPr>
              <a:t>Tích hợp nút Gọi điện, Gửi email và Nhắn tin Messenger trực tiếp từ thẻ quan tâm để xúc tiến đàm phán hợp đồng ngay trong ngày.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SỰ KIỆN &amp; HỘI NGHỊ ĐỈNH CAO</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Vé Pass 0đ Tức Thời, Pipeline MinIO &amp; Sơ Đồ Khán Phòng Cinema Map</a:t>
            </a:r>
            <a:endParaRPr lang="en-US" sz="2400" dirty="0"/>
          </a:p>
        </p:txBody>
      </p:sp>
      <p:sp>
        <p:nvSpPr>
          <p:cNvPr id="4" name="Shape 2"/>
          <p:cNvSpPr/>
          <p:nvPr/>
        </p:nvSpPr>
        <p:spPr>
          <a:xfrm>
            <a:off x="731520" y="1645920"/>
            <a:ext cx="3383280" cy="4389120"/>
          </a:xfrm>
          <a:prstGeom prst="rect">
            <a:avLst/>
          </a:prstGeom>
          <a:solidFill>
            <a:srgbClr val="132A56"/>
          </a:solidFill>
          <a:ln w="12700">
            <a:solidFill>
              <a:srgbClr val="1E3A8A"/>
            </a:solidFill>
            <a:prstDash val="solid"/>
          </a:ln>
        </p:spPr>
      </p:sp>
      <p:sp>
        <p:nvSpPr>
          <p:cNvPr id="5" name="Text 3"/>
          <p:cNvSpPr/>
          <p:nvPr/>
        </p:nvSpPr>
        <p:spPr>
          <a:xfrm>
            <a:off x="1005840" y="1920240"/>
            <a:ext cx="2834640" cy="640080"/>
          </a:xfrm>
          <a:prstGeom prst="rect">
            <a:avLst/>
          </a:prstGeom>
          <a:noFill/>
          <a:ln/>
        </p:spPr>
        <p:txBody>
          <a:bodyPr wrap="square" rtlCol="0" anchor="ctr"/>
          <a:lstStyle/>
          <a:p>
            <a:pPr indent="0" marL="0">
              <a:buNone/>
            </a:pPr>
            <a:r>
              <a:rPr lang="en-US" sz="1500" b="1" dirty="0">
                <a:solidFill>
                  <a:srgbClr val="F59E0B"/>
                </a:solidFill>
              </a:rPr>
              <a:t>Luồng Vé 0đ Hoàn Toàn Tự Động</a:t>
            </a:r>
            <a:endParaRPr lang="en-US" sz="1500" dirty="0"/>
          </a:p>
        </p:txBody>
      </p:sp>
      <p:sp>
        <p:nvSpPr>
          <p:cNvPr id="6" name="Text 4"/>
          <p:cNvSpPr/>
          <p:nvPr/>
        </p:nvSpPr>
        <p:spPr>
          <a:xfrm>
            <a:off x="1005840" y="2651760"/>
            <a:ext cx="2834640" cy="1005840"/>
          </a:xfrm>
          <a:prstGeom prst="rect">
            <a:avLst/>
          </a:prstGeom>
          <a:noFill/>
          <a:ln/>
        </p:spPr>
        <p:txBody>
          <a:bodyPr wrap="square" rtlCol="0" anchor="ctr"/>
          <a:lstStyle/>
          <a:p>
            <a:pPr indent="0" marL="0">
              <a:buNone/>
            </a:pPr>
            <a:r>
              <a:rPr lang="en-US" sz="1200" dirty="0">
                <a:solidFill>
                  <a:srgbClr val="F8FAFC"/>
                </a:solidFill>
              </a:rPr>
              <a:t>• Hội viên đăng ký sự kiện miễn phí (Họp mặt, Tọa đàm) nhận ngay Vé Pass Điện Tử.</a:t>
            </a:r>
            <a:endParaRPr lang="en-US" sz="1200" dirty="0"/>
          </a:p>
        </p:txBody>
      </p:sp>
      <p:sp>
        <p:nvSpPr>
          <p:cNvPr id="7" name="Text 5"/>
          <p:cNvSpPr/>
          <p:nvPr/>
        </p:nvSpPr>
        <p:spPr>
          <a:xfrm>
            <a:off x="1005840" y="3749040"/>
            <a:ext cx="2834640" cy="1005840"/>
          </a:xfrm>
          <a:prstGeom prst="rect">
            <a:avLst/>
          </a:prstGeom>
          <a:noFill/>
          <a:ln/>
        </p:spPr>
        <p:txBody>
          <a:bodyPr wrap="square" rtlCol="0" anchor="ctr"/>
          <a:lstStyle/>
          <a:p>
            <a:pPr indent="0" marL="0">
              <a:buNone/>
            </a:pPr>
            <a:r>
              <a:rPr lang="en-US" sz="1200" dirty="0">
                <a:solidFill>
                  <a:srgbClr val="F8FAFC"/>
                </a:solidFill>
              </a:rPr>
              <a:t>• Loại bỏ triệt để cổng thanh toán giả lập gây khó chịu.</a:t>
            </a:r>
            <a:endParaRPr lang="en-US" sz="1200" dirty="0"/>
          </a:p>
        </p:txBody>
      </p:sp>
      <p:sp>
        <p:nvSpPr>
          <p:cNvPr id="8" name="Text 6"/>
          <p:cNvSpPr/>
          <p:nvPr/>
        </p:nvSpPr>
        <p:spPr>
          <a:xfrm>
            <a:off x="1005840" y="4846320"/>
            <a:ext cx="2834640" cy="1005840"/>
          </a:xfrm>
          <a:prstGeom prst="rect">
            <a:avLst/>
          </a:prstGeom>
          <a:noFill/>
          <a:ln/>
        </p:spPr>
        <p:txBody>
          <a:bodyPr wrap="square" rtlCol="0" anchor="ctr"/>
          <a:lstStyle/>
          <a:p>
            <a:pPr indent="0" marL="0">
              <a:buNone/>
            </a:pPr>
            <a:r>
              <a:rPr lang="en-US" sz="1200" dirty="0">
                <a:solidFill>
                  <a:srgbClr val="F8FAFC"/>
                </a:solidFill>
              </a:rPr>
              <a:t>• Mã QR Check-in tốc độ cao mã hóa theo từng cá nhân.</a:t>
            </a:r>
            <a:endParaRPr lang="en-US" sz="1200" dirty="0"/>
          </a:p>
        </p:txBody>
      </p:sp>
      <p:sp>
        <p:nvSpPr>
          <p:cNvPr id="9" name="Shape 7"/>
          <p:cNvSpPr/>
          <p:nvPr/>
        </p:nvSpPr>
        <p:spPr>
          <a:xfrm>
            <a:off x="4389120" y="1645920"/>
            <a:ext cx="3383280" cy="4389120"/>
          </a:xfrm>
          <a:prstGeom prst="rect">
            <a:avLst/>
          </a:prstGeom>
          <a:solidFill>
            <a:srgbClr val="132A56"/>
          </a:solidFill>
          <a:ln w="12700">
            <a:solidFill>
              <a:srgbClr val="1E3A8A"/>
            </a:solidFill>
            <a:prstDash val="solid"/>
          </a:ln>
        </p:spPr>
      </p:sp>
      <p:sp>
        <p:nvSpPr>
          <p:cNvPr id="10" name="Text 8"/>
          <p:cNvSpPr/>
          <p:nvPr/>
        </p:nvSpPr>
        <p:spPr>
          <a:xfrm>
            <a:off x="4663440" y="1920240"/>
            <a:ext cx="2834640" cy="640080"/>
          </a:xfrm>
          <a:prstGeom prst="rect">
            <a:avLst/>
          </a:prstGeom>
          <a:noFill/>
          <a:ln/>
        </p:spPr>
        <p:txBody>
          <a:bodyPr wrap="square" rtlCol="0" anchor="ctr"/>
          <a:lstStyle/>
          <a:p>
            <a:pPr indent="0" marL="0">
              <a:buNone/>
            </a:pPr>
            <a:r>
              <a:rPr lang="en-US" sz="1500" b="1" dirty="0">
                <a:solidFill>
                  <a:srgbClr val="F59E0B"/>
                </a:solidFill>
              </a:rPr>
              <a:t>Pipeline Ảnh MinIO Storage Tập Trung</a:t>
            </a:r>
            <a:endParaRPr lang="en-US" sz="1500" dirty="0"/>
          </a:p>
        </p:txBody>
      </p:sp>
      <p:sp>
        <p:nvSpPr>
          <p:cNvPr id="11" name="Text 9"/>
          <p:cNvSpPr/>
          <p:nvPr/>
        </p:nvSpPr>
        <p:spPr>
          <a:xfrm>
            <a:off x="4663440" y="2651760"/>
            <a:ext cx="2834640" cy="1005840"/>
          </a:xfrm>
          <a:prstGeom prst="rect">
            <a:avLst/>
          </a:prstGeom>
          <a:noFill/>
          <a:ln/>
        </p:spPr>
        <p:txBody>
          <a:bodyPr wrap="square" rtlCol="0" anchor="ctr"/>
          <a:lstStyle/>
          <a:p>
            <a:pPr indent="0" marL="0">
              <a:buNone/>
            </a:pPr>
            <a:r>
              <a:rPr lang="en-US" sz="1200" dirty="0">
                <a:solidFill>
                  <a:srgbClr val="F8FAFC"/>
                </a:solidFill>
              </a:rPr>
              <a:t>• Toàn bộ banner sự kiện upload từ CRM được lưu trữ tại MinIO Cloud Object Storage.</a:t>
            </a:r>
            <a:endParaRPr lang="en-US" sz="1200" dirty="0"/>
          </a:p>
        </p:txBody>
      </p:sp>
      <p:sp>
        <p:nvSpPr>
          <p:cNvPr id="12" name="Text 10"/>
          <p:cNvSpPr/>
          <p:nvPr/>
        </p:nvSpPr>
        <p:spPr>
          <a:xfrm>
            <a:off x="4663440" y="3749040"/>
            <a:ext cx="2834640" cy="1005840"/>
          </a:xfrm>
          <a:prstGeom prst="rect">
            <a:avLst/>
          </a:prstGeom>
          <a:noFill/>
          <a:ln/>
        </p:spPr>
        <p:txBody>
          <a:bodyPr wrap="square" rtlCol="0" anchor="ctr"/>
          <a:lstStyle/>
          <a:p>
            <a:pPr indent="0" marL="0">
              <a:buNone/>
            </a:pPr>
            <a:r>
              <a:rPr lang="en-US" sz="1200" dirty="0">
                <a:solidFill>
                  <a:srgbClr val="F8FAFC"/>
                </a:solidFill>
              </a:rPr>
              <a:t>• Mobile App tự động tải ảnh từ MinIO URL thực tế, loại bỏ 100% ảnh demo hardcode.</a:t>
            </a:r>
            <a:endParaRPr lang="en-US" sz="1200" dirty="0"/>
          </a:p>
        </p:txBody>
      </p:sp>
      <p:sp>
        <p:nvSpPr>
          <p:cNvPr id="13" name="Text 11"/>
          <p:cNvSpPr/>
          <p:nvPr/>
        </p:nvSpPr>
        <p:spPr>
          <a:xfrm>
            <a:off x="4663440" y="4846320"/>
            <a:ext cx="2834640" cy="1005840"/>
          </a:xfrm>
          <a:prstGeom prst="rect">
            <a:avLst/>
          </a:prstGeom>
          <a:noFill/>
          <a:ln/>
        </p:spPr>
        <p:txBody>
          <a:bodyPr wrap="square" rtlCol="0" anchor="ctr"/>
          <a:lstStyle/>
          <a:p>
            <a:pPr indent="0" marL="0">
              <a:buNone/>
            </a:pPr>
            <a:r>
              <a:rPr lang="en-US" sz="1200" dirty="0">
                <a:solidFill>
                  <a:srgbClr val="F8FAFC"/>
                </a:solidFill>
              </a:rPr>
              <a:t>• Tối ưu hóa nén ảnh tự động cho tốc độ hiển thị dưới 0.3 giây.</a:t>
            </a:r>
            <a:endParaRPr lang="en-US" sz="1200" dirty="0"/>
          </a:p>
        </p:txBody>
      </p:sp>
      <p:sp>
        <p:nvSpPr>
          <p:cNvPr id="14" name="Shape 12"/>
          <p:cNvSpPr/>
          <p:nvPr/>
        </p:nvSpPr>
        <p:spPr>
          <a:xfrm>
            <a:off x="8046720" y="1645920"/>
            <a:ext cx="3383280" cy="4389120"/>
          </a:xfrm>
          <a:prstGeom prst="rect">
            <a:avLst/>
          </a:prstGeom>
          <a:solidFill>
            <a:srgbClr val="132A56"/>
          </a:solidFill>
          <a:ln w="12700">
            <a:solidFill>
              <a:srgbClr val="1E3A8A"/>
            </a:solidFill>
            <a:prstDash val="solid"/>
          </a:ln>
        </p:spPr>
      </p:sp>
      <p:sp>
        <p:nvSpPr>
          <p:cNvPr id="15" name="Text 13"/>
          <p:cNvSpPr/>
          <p:nvPr/>
        </p:nvSpPr>
        <p:spPr>
          <a:xfrm>
            <a:off x="8321040" y="1920240"/>
            <a:ext cx="2834640" cy="640080"/>
          </a:xfrm>
          <a:prstGeom prst="rect">
            <a:avLst/>
          </a:prstGeom>
          <a:noFill/>
          <a:ln/>
        </p:spPr>
        <p:txBody>
          <a:bodyPr wrap="square" rtlCol="0" anchor="ctr"/>
          <a:lstStyle/>
          <a:p>
            <a:pPr indent="0" marL="0">
              <a:buNone/>
            </a:pPr>
            <a:r>
              <a:rPr lang="en-US" sz="1500" b="1" dirty="0">
                <a:solidFill>
                  <a:srgbClr val="F59E0B"/>
                </a:solidFill>
              </a:rPr>
              <a:t>Sơ Đồ Ghế Khán Phòng Cinema Map</a:t>
            </a:r>
            <a:endParaRPr lang="en-US" sz="1500" dirty="0"/>
          </a:p>
        </p:txBody>
      </p:sp>
      <p:sp>
        <p:nvSpPr>
          <p:cNvPr id="16" name="Text 14"/>
          <p:cNvSpPr/>
          <p:nvPr/>
        </p:nvSpPr>
        <p:spPr>
          <a:xfrm>
            <a:off x="8321040" y="2651760"/>
            <a:ext cx="2834640" cy="1005840"/>
          </a:xfrm>
          <a:prstGeom prst="rect">
            <a:avLst/>
          </a:prstGeom>
          <a:noFill/>
          <a:ln/>
        </p:spPr>
        <p:txBody>
          <a:bodyPr wrap="square" rtlCol="0" anchor="ctr"/>
          <a:lstStyle/>
          <a:p>
            <a:pPr indent="0" marL="0">
              <a:buNone/>
            </a:pPr>
            <a:r>
              <a:rPr lang="en-US" sz="1200" dirty="0">
                <a:solidFill>
                  <a:srgbClr val="F8FAFC"/>
                </a:solidFill>
              </a:rPr>
              <a:t>• Trực quan hóa vị trí Bàn VIP, Ghế Chủ tịch, Khán giả trên sơ đồ hội trường 3D.</a:t>
            </a:r>
            <a:endParaRPr lang="en-US" sz="1200" dirty="0"/>
          </a:p>
        </p:txBody>
      </p:sp>
      <p:sp>
        <p:nvSpPr>
          <p:cNvPr id="17" name="Text 15"/>
          <p:cNvSpPr/>
          <p:nvPr/>
        </p:nvSpPr>
        <p:spPr>
          <a:xfrm>
            <a:off x="8321040" y="3749040"/>
            <a:ext cx="2834640" cy="1005840"/>
          </a:xfrm>
          <a:prstGeom prst="rect">
            <a:avLst/>
          </a:prstGeom>
          <a:noFill/>
          <a:ln/>
        </p:spPr>
        <p:txBody>
          <a:bodyPr wrap="square" rtlCol="0" anchor="ctr"/>
          <a:lstStyle/>
          <a:p>
            <a:pPr indent="0" marL="0">
              <a:buNone/>
            </a:pPr>
            <a:r>
              <a:rPr lang="en-US" sz="1200" dirty="0">
                <a:solidFill>
                  <a:srgbClr val="F8FAFC"/>
                </a:solidFill>
              </a:rPr>
              <a:t>• Hội viên xem trước vị trí ghế ngồi của mình trên Vé Pass trước giờ khai mạc.</a:t>
            </a:r>
            <a:endParaRPr lang="en-US" sz="1200" dirty="0"/>
          </a:p>
        </p:txBody>
      </p:sp>
      <p:sp>
        <p:nvSpPr>
          <p:cNvPr id="18" name="Text 16"/>
          <p:cNvSpPr/>
          <p:nvPr/>
        </p:nvSpPr>
        <p:spPr>
          <a:xfrm>
            <a:off x="8321040" y="4846320"/>
            <a:ext cx="2834640" cy="1005840"/>
          </a:xfrm>
          <a:prstGeom prst="rect">
            <a:avLst/>
          </a:prstGeom>
          <a:noFill/>
          <a:ln/>
        </p:spPr>
        <p:txBody>
          <a:bodyPr wrap="square" rtlCol="0" anchor="ctr"/>
          <a:lstStyle/>
          <a:p>
            <a:pPr indent="0" marL="0">
              <a:buNone/>
            </a:pPr>
            <a:r>
              <a:rPr lang="en-US" sz="1200" dirty="0">
                <a:solidFill>
                  <a:srgbClr val="F8FAFC"/>
                </a:solidFill>
              </a:rPr>
              <a:t>• Điều phối check-in và đón tiếp khách VIP trang trọng, chuẩn xác.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TRUYỀN THÔNG &amp; PHÁT SÓNG THÔNG BÁO</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Hệ Thống 5 Kênh Tin Tức Nghiệp Vụ &amp; Broadcast Trực Tiếp Từ CRM</a:t>
            </a:r>
            <a:endParaRPr lang="en-US" sz="2400" dirty="0"/>
          </a:p>
        </p:txBody>
      </p:sp>
      <p:sp>
        <p:nvSpPr>
          <p:cNvPr id="4" name="Shape 2"/>
          <p:cNvSpPr/>
          <p:nvPr/>
        </p:nvSpPr>
        <p:spPr>
          <a:xfrm>
            <a:off x="731520" y="1645920"/>
            <a:ext cx="10607040" cy="777240"/>
          </a:xfrm>
          <a:prstGeom prst="rect">
            <a:avLst/>
          </a:prstGeom>
          <a:solidFill>
            <a:srgbClr val="132A56"/>
          </a:solidFill>
          <a:ln w="12700">
            <a:solidFill>
              <a:srgbClr val="1E3A8A"/>
            </a:solidFill>
            <a:prstDash val="solid"/>
          </a:ln>
        </p:spPr>
      </p:sp>
      <p:sp>
        <p:nvSpPr>
          <p:cNvPr id="5" name="Text 3"/>
          <p:cNvSpPr/>
          <p:nvPr/>
        </p:nvSpPr>
        <p:spPr>
          <a:xfrm>
            <a:off x="1005840" y="1783080"/>
            <a:ext cx="4114800" cy="457200"/>
          </a:xfrm>
          <a:prstGeom prst="rect">
            <a:avLst/>
          </a:prstGeom>
          <a:noFill/>
          <a:ln/>
        </p:spPr>
        <p:txBody>
          <a:bodyPr wrap="square" rtlCol="0" anchor="ctr"/>
          <a:lstStyle/>
          <a:p>
            <a:pPr indent="0" marL="0">
              <a:buNone/>
            </a:pPr>
            <a:r>
              <a:rPr lang="en-US" sz="1300" b="1" dirty="0">
                <a:solidFill>
                  <a:srgbClr val="F59E0B"/>
                </a:solidFill>
              </a:rPr>
              <a:t>📢 Kênh Truyền Thông Hiệp Hội</a:t>
            </a:r>
            <a:endParaRPr lang="en-US" sz="1300" dirty="0"/>
          </a:p>
        </p:txBody>
      </p:sp>
      <p:sp>
        <p:nvSpPr>
          <p:cNvPr id="6" name="Text 4"/>
          <p:cNvSpPr/>
          <p:nvPr/>
        </p:nvSpPr>
        <p:spPr>
          <a:xfrm>
            <a:off x="5120640" y="1783080"/>
            <a:ext cx="5943600" cy="457200"/>
          </a:xfrm>
          <a:prstGeom prst="rect">
            <a:avLst/>
          </a:prstGeom>
          <a:noFill/>
          <a:ln/>
        </p:spPr>
        <p:txBody>
          <a:bodyPr wrap="square" rtlCol="0" anchor="ctr"/>
          <a:lstStyle/>
          <a:p>
            <a:pPr indent="0" marL="0">
              <a:buNone/>
            </a:pPr>
            <a:r>
              <a:rPr lang="en-US" sz="1200" dirty="0">
                <a:solidFill>
                  <a:srgbClr val="FFFFFF"/>
                </a:solidFill>
              </a:rPr>
              <a:t>Bản tin tuần, hoạt động thiện nguyện, thông cáo báo chí chính thống.</a:t>
            </a:r>
            <a:endParaRPr lang="en-US" sz="1200" dirty="0"/>
          </a:p>
        </p:txBody>
      </p:sp>
      <p:sp>
        <p:nvSpPr>
          <p:cNvPr id="7" name="Shape 5"/>
          <p:cNvSpPr/>
          <p:nvPr/>
        </p:nvSpPr>
        <p:spPr>
          <a:xfrm>
            <a:off x="731520" y="2560320"/>
            <a:ext cx="10607040" cy="777240"/>
          </a:xfrm>
          <a:prstGeom prst="rect">
            <a:avLst/>
          </a:prstGeom>
          <a:solidFill>
            <a:srgbClr val="132A56"/>
          </a:solidFill>
          <a:ln w="12700">
            <a:solidFill>
              <a:srgbClr val="1E3A8A"/>
            </a:solidFill>
            <a:prstDash val="solid"/>
          </a:ln>
        </p:spPr>
      </p:sp>
      <p:sp>
        <p:nvSpPr>
          <p:cNvPr id="8" name="Text 6"/>
          <p:cNvSpPr/>
          <p:nvPr/>
        </p:nvSpPr>
        <p:spPr>
          <a:xfrm>
            <a:off x="1005840" y="2697480"/>
            <a:ext cx="4114800" cy="457200"/>
          </a:xfrm>
          <a:prstGeom prst="rect">
            <a:avLst/>
          </a:prstGeom>
          <a:noFill/>
          <a:ln/>
        </p:spPr>
        <p:txBody>
          <a:bodyPr wrap="square" rtlCol="0" anchor="ctr"/>
          <a:lstStyle/>
          <a:p>
            <a:pPr indent="0" marL="0">
              <a:buNone/>
            </a:pPr>
            <a:r>
              <a:rPr lang="en-US" sz="1300" b="1" dirty="0">
                <a:solidFill>
                  <a:srgbClr val="F59E0B"/>
                </a:solidFill>
              </a:rPr>
              <a:t>🤝 Kênh Xúc Tiến Giao Thương</a:t>
            </a:r>
            <a:endParaRPr lang="en-US" sz="1300" dirty="0"/>
          </a:p>
        </p:txBody>
      </p:sp>
      <p:sp>
        <p:nvSpPr>
          <p:cNvPr id="9" name="Text 7"/>
          <p:cNvSpPr/>
          <p:nvPr/>
        </p:nvSpPr>
        <p:spPr>
          <a:xfrm>
            <a:off x="5120640" y="2697480"/>
            <a:ext cx="5943600" cy="457200"/>
          </a:xfrm>
          <a:prstGeom prst="rect">
            <a:avLst/>
          </a:prstGeom>
          <a:noFill/>
          <a:ln/>
        </p:spPr>
        <p:txBody>
          <a:bodyPr wrap="square" rtlCol="0" anchor="ctr"/>
          <a:lstStyle/>
          <a:p>
            <a:pPr indent="0" marL="0">
              <a:buNone/>
            </a:pPr>
            <a:r>
              <a:rPr lang="en-US" sz="1200" dirty="0">
                <a:solidFill>
                  <a:srgbClr val="FFFFFF"/>
                </a:solidFill>
              </a:rPr>
              <a:t>Chương trình B2B Matching, kết nối cung cầu, tìm kiếm đại lý phân phối.</a:t>
            </a:r>
            <a:endParaRPr lang="en-US" sz="1200" dirty="0"/>
          </a:p>
        </p:txBody>
      </p:sp>
      <p:sp>
        <p:nvSpPr>
          <p:cNvPr id="10" name="Shape 8"/>
          <p:cNvSpPr/>
          <p:nvPr/>
        </p:nvSpPr>
        <p:spPr>
          <a:xfrm>
            <a:off x="731520" y="3474720"/>
            <a:ext cx="10607040" cy="777240"/>
          </a:xfrm>
          <a:prstGeom prst="rect">
            <a:avLst/>
          </a:prstGeom>
          <a:solidFill>
            <a:srgbClr val="132A56"/>
          </a:solidFill>
          <a:ln w="12700">
            <a:solidFill>
              <a:srgbClr val="1E3A8A"/>
            </a:solidFill>
            <a:prstDash val="solid"/>
          </a:ln>
        </p:spPr>
      </p:sp>
      <p:sp>
        <p:nvSpPr>
          <p:cNvPr id="11" name="Text 9"/>
          <p:cNvSpPr/>
          <p:nvPr/>
        </p:nvSpPr>
        <p:spPr>
          <a:xfrm>
            <a:off x="1005840" y="3611880"/>
            <a:ext cx="4114800" cy="457200"/>
          </a:xfrm>
          <a:prstGeom prst="rect">
            <a:avLst/>
          </a:prstGeom>
          <a:noFill/>
          <a:ln/>
        </p:spPr>
        <p:txBody>
          <a:bodyPr wrap="square" rtlCol="0" anchor="ctr"/>
          <a:lstStyle/>
          <a:p>
            <a:pPr indent="0" marL="0">
              <a:buNone/>
            </a:pPr>
            <a:r>
              <a:rPr lang="en-US" sz="1300" b="1" dirty="0">
                <a:solidFill>
                  <a:srgbClr val="F59E0B"/>
                </a:solidFill>
              </a:rPr>
              <a:t>🏛️ Kênh Ban Thư Ký &amp; Ban Điều Hành</a:t>
            </a:r>
            <a:endParaRPr lang="en-US" sz="1300" dirty="0"/>
          </a:p>
        </p:txBody>
      </p:sp>
      <p:sp>
        <p:nvSpPr>
          <p:cNvPr id="12" name="Text 10"/>
          <p:cNvSpPr/>
          <p:nvPr/>
        </p:nvSpPr>
        <p:spPr>
          <a:xfrm>
            <a:off x="5120640" y="3611880"/>
            <a:ext cx="5943600" cy="457200"/>
          </a:xfrm>
          <a:prstGeom prst="rect">
            <a:avLst/>
          </a:prstGeom>
          <a:noFill/>
          <a:ln/>
        </p:spPr>
        <p:txBody>
          <a:bodyPr wrap="square" rtlCol="0" anchor="ctr"/>
          <a:lstStyle/>
          <a:p>
            <a:pPr indent="0" marL="0">
              <a:buNone/>
            </a:pPr>
            <a:r>
              <a:rPr lang="en-US" sz="1200" dirty="0">
                <a:solidFill>
                  <a:srgbClr val="FFFFFF"/>
                </a:solidFill>
              </a:rPr>
              <a:t>Nghị quyết đại hội, quy chế sinh hoạt, biểu quyết số và đóng hội phí.</a:t>
            </a:r>
            <a:endParaRPr lang="en-US" sz="1200" dirty="0"/>
          </a:p>
        </p:txBody>
      </p:sp>
      <p:sp>
        <p:nvSpPr>
          <p:cNvPr id="13" name="Shape 11"/>
          <p:cNvSpPr/>
          <p:nvPr/>
        </p:nvSpPr>
        <p:spPr>
          <a:xfrm>
            <a:off x="731520" y="4389120"/>
            <a:ext cx="10607040" cy="777240"/>
          </a:xfrm>
          <a:prstGeom prst="rect">
            <a:avLst/>
          </a:prstGeom>
          <a:solidFill>
            <a:srgbClr val="132A56"/>
          </a:solidFill>
          <a:ln w="12700">
            <a:solidFill>
              <a:srgbClr val="1E3A8A"/>
            </a:solidFill>
            <a:prstDash val="solid"/>
          </a:ln>
        </p:spPr>
      </p:sp>
      <p:sp>
        <p:nvSpPr>
          <p:cNvPr id="14" name="Text 12"/>
          <p:cNvSpPr/>
          <p:nvPr/>
        </p:nvSpPr>
        <p:spPr>
          <a:xfrm>
            <a:off x="1005840" y="4526280"/>
            <a:ext cx="4114800" cy="457200"/>
          </a:xfrm>
          <a:prstGeom prst="rect">
            <a:avLst/>
          </a:prstGeom>
          <a:noFill/>
          <a:ln/>
        </p:spPr>
        <p:txBody>
          <a:bodyPr wrap="square" rtlCol="0" anchor="ctr"/>
          <a:lstStyle/>
          <a:p>
            <a:pPr indent="0" marL="0">
              <a:buNone/>
            </a:pPr>
            <a:r>
              <a:rPr lang="en-US" sz="1300" b="1" dirty="0">
                <a:solidFill>
                  <a:srgbClr val="F59E0B"/>
                </a:solidFill>
              </a:rPr>
              <a:t>🎯 Kênh Cơ Hội &amp; Deal B2B</a:t>
            </a:r>
            <a:endParaRPr lang="en-US" sz="1300" dirty="0"/>
          </a:p>
        </p:txBody>
      </p:sp>
      <p:sp>
        <p:nvSpPr>
          <p:cNvPr id="15" name="Text 13"/>
          <p:cNvSpPr/>
          <p:nvPr/>
        </p:nvSpPr>
        <p:spPr>
          <a:xfrm>
            <a:off x="5120640" y="4526280"/>
            <a:ext cx="5943600" cy="457200"/>
          </a:xfrm>
          <a:prstGeom prst="rect">
            <a:avLst/>
          </a:prstGeom>
          <a:noFill/>
          <a:ln/>
        </p:spPr>
        <p:txBody>
          <a:bodyPr wrap="square" rtlCol="0" anchor="ctr"/>
          <a:lstStyle/>
          <a:p>
            <a:pPr indent="0" marL="0">
              <a:buNone/>
            </a:pPr>
            <a:r>
              <a:rPr lang="en-US" sz="1200" dirty="0">
                <a:solidFill>
                  <a:srgbClr val="FFFFFF"/>
                </a:solidFill>
              </a:rPr>
              <a:t>Các đơn hàng độc quyền, cơ hội hợp tác và dự án nội bộ của hội viên.</a:t>
            </a:r>
            <a:endParaRPr lang="en-US" sz="1200" dirty="0"/>
          </a:p>
        </p:txBody>
      </p:sp>
      <p:sp>
        <p:nvSpPr>
          <p:cNvPr id="16" name="Shape 14"/>
          <p:cNvSpPr/>
          <p:nvPr/>
        </p:nvSpPr>
        <p:spPr>
          <a:xfrm>
            <a:off x="731520" y="5303520"/>
            <a:ext cx="10607040" cy="777240"/>
          </a:xfrm>
          <a:prstGeom prst="rect">
            <a:avLst/>
          </a:prstGeom>
          <a:solidFill>
            <a:srgbClr val="132A56"/>
          </a:solidFill>
          <a:ln w="12700">
            <a:solidFill>
              <a:srgbClr val="1E3A8A"/>
            </a:solidFill>
            <a:prstDash val="solid"/>
          </a:ln>
        </p:spPr>
      </p:sp>
      <p:sp>
        <p:nvSpPr>
          <p:cNvPr id="17" name="Text 15"/>
          <p:cNvSpPr/>
          <p:nvPr/>
        </p:nvSpPr>
        <p:spPr>
          <a:xfrm>
            <a:off x="1005840" y="5440680"/>
            <a:ext cx="4114800" cy="457200"/>
          </a:xfrm>
          <a:prstGeom prst="rect">
            <a:avLst/>
          </a:prstGeom>
          <a:noFill/>
          <a:ln/>
        </p:spPr>
        <p:txBody>
          <a:bodyPr wrap="square" rtlCol="0" anchor="ctr"/>
          <a:lstStyle/>
          <a:p>
            <a:pPr indent="0" marL="0">
              <a:buNone/>
            </a:pPr>
            <a:r>
              <a:rPr lang="en-US" sz="1300" b="1" dirty="0">
                <a:solidFill>
                  <a:srgbClr val="F59E0B"/>
                </a:solidFill>
              </a:rPr>
              <a:t>🌟 Kênh Sự Kiện &amp; Hội Nghị</a:t>
            </a:r>
            <a:endParaRPr lang="en-US" sz="1300" dirty="0"/>
          </a:p>
        </p:txBody>
      </p:sp>
      <p:sp>
        <p:nvSpPr>
          <p:cNvPr id="18" name="Text 16"/>
          <p:cNvSpPr/>
          <p:nvPr/>
        </p:nvSpPr>
        <p:spPr>
          <a:xfrm>
            <a:off x="5120640" y="5440680"/>
            <a:ext cx="5943600" cy="457200"/>
          </a:xfrm>
          <a:prstGeom prst="rect">
            <a:avLst/>
          </a:prstGeom>
          <a:noFill/>
          <a:ln/>
        </p:spPr>
        <p:txBody>
          <a:bodyPr wrap="square" rtlCol="0" anchor="ctr"/>
          <a:lstStyle/>
          <a:p>
            <a:pPr indent="0" marL="0">
              <a:buNone/>
            </a:pPr>
            <a:r>
              <a:rPr lang="en-US" sz="1200" dirty="0">
                <a:solidFill>
                  <a:srgbClr val="FFFFFF"/>
                </a:solidFill>
              </a:rPr>
              <a:t>Đại hội thường niên, Lễ vinh danh Doanh nhân, Giải thể thao và Gala.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731520" y="548640"/>
            <a:ext cx="9144000" cy="274320"/>
          </a:xfrm>
          <a:prstGeom prst="rect">
            <a:avLst/>
          </a:prstGeom>
          <a:noFill/>
          <a:ln/>
        </p:spPr>
        <p:txBody>
          <a:bodyPr wrap="square" rtlCol="0" anchor="ctr"/>
          <a:lstStyle/>
          <a:p>
            <a:pPr indent="0" marL="0">
              <a:buNone/>
            </a:pPr>
            <a:r>
              <a:rPr lang="en-US" sz="1200" b="1" dirty="0">
                <a:solidFill>
                  <a:srgbClr val="F59E0B"/>
                </a:solidFill>
              </a:rPr>
              <a:t>TẦM NHÌN CHIẾN LƯỢC 2026</a:t>
            </a:r>
            <a:endParaRPr lang="en-US" sz="12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400" b="1" dirty="0">
                <a:solidFill>
                  <a:srgbClr val="FFFFFF"/>
                </a:solidFill>
              </a:rPr>
              <a:t>Khát Vọng Doanh Nhân CEO 1983 — Vươn Tầm Thời Đại Số</a:t>
            </a:r>
            <a:endParaRPr lang="en-US" sz="2400" dirty="0"/>
          </a:p>
        </p:txBody>
      </p:sp>
      <p:sp>
        <p:nvSpPr>
          <p:cNvPr id="4" name="Shape 2"/>
          <p:cNvSpPr/>
          <p:nvPr/>
        </p:nvSpPr>
        <p:spPr>
          <a:xfrm>
            <a:off x="731520" y="1645920"/>
            <a:ext cx="10607040" cy="4389120"/>
          </a:xfrm>
          <a:prstGeom prst="rect">
            <a:avLst/>
          </a:prstGeom>
          <a:solidFill>
            <a:srgbClr val="132A56"/>
          </a:solidFill>
          <a:ln w="25400">
            <a:solidFill>
              <a:srgbClr val="F59E0B"/>
            </a:solidFill>
            <a:prstDash val="solid"/>
          </a:ln>
        </p:spPr>
      </p:sp>
      <p:sp>
        <p:nvSpPr>
          <p:cNvPr id="5" name="Text 3"/>
          <p:cNvSpPr/>
          <p:nvPr/>
        </p:nvSpPr>
        <p:spPr>
          <a:xfrm>
            <a:off x="1097280" y="2011680"/>
            <a:ext cx="9875520" cy="365760"/>
          </a:xfrm>
          <a:prstGeom prst="rect">
            <a:avLst/>
          </a:prstGeom>
          <a:noFill/>
          <a:ln/>
        </p:spPr>
        <p:txBody>
          <a:bodyPr wrap="square" rtlCol="0" anchor="ctr"/>
          <a:lstStyle/>
          <a:p>
            <a:pPr indent="0" marL="0">
              <a:buNone/>
            </a:pPr>
            <a:r>
              <a:rPr lang="en-US" sz="1800" b="1" dirty="0">
                <a:solidFill>
                  <a:srgbClr val="F59E0B"/>
                </a:solidFill>
              </a:rPr>
              <a:t>GIÁ TRỊ CỐT LÕI ĐẠT ĐƯỢC</a:t>
            </a:r>
            <a:endParaRPr lang="en-US" sz="1800" dirty="0"/>
          </a:p>
        </p:txBody>
      </p:sp>
      <p:sp>
        <p:nvSpPr>
          <p:cNvPr id="6" name="Text 4"/>
          <p:cNvSpPr/>
          <p:nvPr/>
        </p:nvSpPr>
        <p:spPr>
          <a:xfrm>
            <a:off x="1097280" y="2560320"/>
            <a:ext cx="9875520" cy="731520"/>
          </a:xfrm>
          <a:prstGeom prst="rect">
            <a:avLst/>
          </a:prstGeom>
          <a:noFill/>
          <a:ln/>
        </p:spPr>
        <p:txBody>
          <a:bodyPr wrap="square" rtlCol="0" anchor="ctr"/>
          <a:lstStyle/>
          <a:p>
            <a:pPr indent="0" marL="0">
              <a:buNone/>
            </a:pPr>
            <a:r>
              <a:rPr lang="en-US" sz="1400" dirty="0">
                <a:solidFill>
                  <a:srgbClr val="FFFFFF"/>
                </a:solidFill>
              </a:rPr>
              <a:t>⚡ Minh Bạch — Chuyên Nghiệp — Hiện Đại: Toàn bộ hoạt động hội viên và sự kiện được vận hành trên hạ tầng số chuẩn hóa.</a:t>
            </a:r>
            <a:endParaRPr lang="en-US" sz="1400" dirty="0"/>
          </a:p>
        </p:txBody>
      </p:sp>
      <p:sp>
        <p:nvSpPr>
          <p:cNvPr id="7" name="Text 5"/>
          <p:cNvSpPr/>
          <p:nvPr/>
        </p:nvSpPr>
        <p:spPr>
          <a:xfrm>
            <a:off x="1097280" y="3383280"/>
            <a:ext cx="9875520" cy="731520"/>
          </a:xfrm>
          <a:prstGeom prst="rect">
            <a:avLst/>
          </a:prstGeom>
          <a:noFill/>
          <a:ln/>
        </p:spPr>
        <p:txBody>
          <a:bodyPr wrap="square" rtlCol="0" anchor="ctr"/>
          <a:lstStyle/>
          <a:p>
            <a:pPr indent="0" marL="0">
              <a:buNone/>
            </a:pPr>
            <a:r>
              <a:rPr lang="en-US" sz="1400" dirty="0">
                <a:solidFill>
                  <a:srgbClr val="FFFFFF"/>
                </a:solidFill>
              </a:rPr>
              <a:t>🌐 Sức Mạnh Mạng Lưới Nội Khối: Hơn 500 doanh nhân sinh năm 1983 tạo thành chuỗi liên kết kinh tế uy tín hàng đầu Thủ đô.</a:t>
            </a:r>
            <a:endParaRPr lang="en-US" sz="1400" dirty="0"/>
          </a:p>
        </p:txBody>
      </p:sp>
      <p:sp>
        <p:nvSpPr>
          <p:cNvPr id="8" name="Text 6"/>
          <p:cNvSpPr/>
          <p:nvPr/>
        </p:nvSpPr>
        <p:spPr>
          <a:xfrm>
            <a:off x="1097280" y="4206240"/>
            <a:ext cx="9875520" cy="731520"/>
          </a:xfrm>
          <a:prstGeom prst="rect">
            <a:avLst/>
          </a:prstGeom>
          <a:noFill/>
          <a:ln/>
        </p:spPr>
        <p:txBody>
          <a:bodyPr wrap="square" rtlCol="0" anchor="ctr"/>
          <a:lstStyle/>
          <a:p>
            <a:pPr indent="0" marL="0">
              <a:buNone/>
            </a:pPr>
            <a:r>
              <a:rPr lang="en-US" sz="1400" dirty="0">
                <a:solidFill>
                  <a:srgbClr val="FFFFFF"/>
                </a:solidFill>
              </a:rPr>
              <a:t>🛡️ Bảo Trợ Pháp Lý &amp; Vị Thế: Trực thuộc Hội Doanh Nhân Trẻ Hà Nội (HanoiBA), đảm bảo chuẩn mực pháp lý và uy tín thương hiệu.</a:t>
            </a:r>
            <a:endParaRPr lang="en-US" sz="1400" dirty="0"/>
          </a:p>
        </p:txBody>
      </p:sp>
      <p:sp>
        <p:nvSpPr>
          <p:cNvPr id="9" name="Text 7"/>
          <p:cNvSpPr/>
          <p:nvPr/>
        </p:nvSpPr>
        <p:spPr>
          <a:xfrm>
            <a:off x="1097280" y="5029200"/>
            <a:ext cx="9875520" cy="731520"/>
          </a:xfrm>
          <a:prstGeom prst="rect">
            <a:avLst/>
          </a:prstGeom>
          <a:noFill/>
          <a:ln/>
        </p:spPr>
        <p:txBody>
          <a:bodyPr wrap="square" rtlCol="0" anchor="ctr"/>
          <a:lstStyle/>
          <a:p>
            <a:pPr indent="0" marL="0">
              <a:buNone/>
            </a:pPr>
            <a:r>
              <a:rPr lang="en-US" sz="1400" dirty="0">
                <a:solidFill>
                  <a:srgbClr val="FFFFFF"/>
                </a:solidFill>
              </a:rPr>
              <a:t>🚀 Tự Hào Bản Sắc 1983: Mệnh Đại Hải Thủy — Biển lớn bao la, tương trợ cùng nhau vượt sóng gió thương trường xây dựng đế chế bền vững.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Sinh Thái Số Hóa Doanh Nhân CEO 1983 — App Hiệp Hội</dc:title>
  <dc:subject>PptxGenJS Presentation</dc:subject>
  <dc:creator>CLB Doanh Nhân CEO 1983</dc:creator>
  <cp:lastModifiedBy>CLB Doanh Nhân CEO 1983</cp:lastModifiedBy>
  <cp:revision>1</cp:revision>
  <dcterms:created xsi:type="dcterms:W3CDTF">2026-09-19T03:06:53Z</dcterms:created>
  <dcterms:modified xsi:type="dcterms:W3CDTF">2026-09-19T03:06:53Z</dcterms:modified>
</cp:coreProperties>
</file>