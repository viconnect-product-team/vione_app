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A3A"/>
        </a:solidFill>
      </p:bgPr>
    </p:bg>
    <p:spTree>
      <p:nvGrpSpPr>
        <p:cNvPr id="1" name=""/>
        <p:cNvGrpSpPr/>
        <p:nvPr/>
      </p:nvGrpSpPr>
      <p:grpSpPr>
        <a:xfrm>
          <a:off x="0" y="0"/>
          <a:ext cx="0" cy="0"/>
          <a:chOff x="0" y="0"/>
          <a:chExt cx="0" cy="0"/>
        </a:xfrm>
      </p:grpSpPr>
      <p:sp>
        <p:nvSpPr>
          <p:cNvPr id="2" name="Shape 0"/>
          <p:cNvSpPr/>
          <p:nvPr/>
        </p:nvSpPr>
        <p:spPr>
          <a:xfrm>
            <a:off x="731520" y="731520"/>
            <a:ext cx="3840480" cy="384048"/>
          </a:xfrm>
          <a:prstGeom prst="rect">
            <a:avLst/>
          </a:prstGeom>
          <a:solidFill>
            <a:srgbClr val="F59E0B"/>
          </a:solidFill>
          <a:ln/>
        </p:spPr>
      </p:sp>
      <p:sp>
        <p:nvSpPr>
          <p:cNvPr id="3" name="Text 1"/>
          <p:cNvSpPr/>
          <p:nvPr/>
        </p:nvSpPr>
        <p:spPr>
          <a:xfrm>
            <a:off x="731520" y="731520"/>
            <a:ext cx="3840480" cy="384048"/>
          </a:xfrm>
          <a:prstGeom prst="rect">
            <a:avLst/>
          </a:prstGeom>
          <a:noFill/>
          <a:ln/>
        </p:spPr>
        <p:txBody>
          <a:bodyPr wrap="square" rtlCol="0" anchor="ctr"/>
          <a:lstStyle/>
          <a:p>
            <a:pPr algn="ctr" indent="0" marL="0">
              <a:buNone/>
            </a:pPr>
            <a:r>
              <a:rPr lang="en-US" sz="1100" b="1" dirty="0">
                <a:solidFill>
                  <a:srgbClr val="0A1A3A"/>
                </a:solidFill>
                <a:latin typeface="Calibri" pitchFamily="34" charset="0"/>
                <a:ea typeface="Calibri" pitchFamily="34" charset="-122"/>
                <a:cs typeface="Calibri" pitchFamily="34" charset="-120"/>
              </a:rPr>
              <a:t>HỘI DOANH NHÂN TRẺ HÀ NỘI (HANOIBA)</a:t>
            </a:r>
            <a:endParaRPr lang="en-US" sz="1100" dirty="0"/>
          </a:p>
        </p:txBody>
      </p:sp>
      <p:sp>
        <p:nvSpPr>
          <p:cNvPr id="4" name="Text 2"/>
          <p:cNvSpPr/>
          <p:nvPr/>
        </p:nvSpPr>
        <p:spPr>
          <a:xfrm>
            <a:off x="731520" y="1417320"/>
            <a:ext cx="10725912" cy="109728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ỨNG DỤNG DI ĐỘNG CLB DOANH NHÂN CEO 1983</a:t>
            </a:r>
            <a:endParaRPr lang="en-US" sz="3200" dirty="0"/>
          </a:p>
        </p:txBody>
      </p:sp>
      <p:sp>
        <p:nvSpPr>
          <p:cNvPr id="5" name="Text 3"/>
          <p:cNvSpPr/>
          <p:nvPr/>
        </p:nvSpPr>
        <p:spPr>
          <a:xfrm>
            <a:off x="731520" y="2606040"/>
            <a:ext cx="10725912" cy="457200"/>
          </a:xfrm>
          <a:prstGeom prst="rect">
            <a:avLst/>
          </a:prstGeom>
          <a:noFill/>
          <a:ln/>
        </p:spPr>
        <p:txBody>
          <a:bodyPr wrap="square" rtlCol="0" anchor="ctr"/>
          <a:lstStyle/>
          <a:p>
            <a:pPr indent="0" marL="0">
              <a:buNone/>
            </a:pPr>
            <a:r>
              <a:rPr lang="en-US" sz="1800" b="1" i="1" dirty="0">
                <a:solidFill>
                  <a:srgbClr val="F59E0B"/>
                </a:solidFill>
                <a:latin typeface="Calibri" pitchFamily="34" charset="0"/>
                <a:ea typeface="Calibri" pitchFamily="34" charset="-122"/>
                <a:cs typeface="Calibri" pitchFamily="34" charset="-120"/>
              </a:rPr>
              <a:t>Tôn Chỉ: "Kết Nối Bền — Phát Triển Vững" · Phiên bản v2.6.0 Pro</a:t>
            </a:r>
            <a:endParaRPr lang="en-US" sz="1800" dirty="0"/>
          </a:p>
        </p:txBody>
      </p:sp>
      <p:sp>
        <p:nvSpPr>
          <p:cNvPr id="6" name="Text 4"/>
          <p:cNvSpPr/>
          <p:nvPr/>
        </p:nvSpPr>
        <p:spPr>
          <a:xfrm>
            <a:off x="731520" y="3154680"/>
            <a:ext cx="9601200" cy="731520"/>
          </a:xfrm>
          <a:prstGeom prst="rect">
            <a:avLst/>
          </a:prstGeom>
          <a:noFill/>
          <a:ln/>
        </p:spPr>
        <p:txBody>
          <a:bodyPr wrap="square" rtlCol="0" anchor="ctr"/>
          <a:lstStyle/>
          <a:p>
            <a:pPr indent="0" marL="0">
              <a:buNone/>
            </a:pPr>
            <a:r>
              <a:rPr lang="en-US" sz="1350" dirty="0">
                <a:solidFill>
                  <a:srgbClr val="E2E8F0"/>
                </a:solidFill>
                <a:latin typeface="Calibri" pitchFamily="34" charset="0"/>
                <a:ea typeface="Calibri" pitchFamily="34" charset="-122"/>
                <a:cs typeface="Calibri" pitchFamily="34" charset="-120"/>
              </a:rPr>
              <a:t>Nền tảng số hóa đặc quyền dành riêng cho Lãnh đạo cấp cao sinh năm 1983 (Quý Hợi - Đại Hải Thủy), kết nối giao thương B2B, quản lý hội viên và thẻ định danh thông minh.</a:t>
            </a:r>
            <a:endParaRPr lang="en-US" sz="1350" dirty="0"/>
          </a:p>
        </p:txBody>
      </p:sp>
      <p:sp>
        <p:nvSpPr>
          <p:cNvPr id="7" name="Shape 5"/>
          <p:cNvSpPr/>
          <p:nvPr/>
        </p:nvSpPr>
        <p:spPr>
          <a:xfrm>
            <a:off x="731520" y="4389120"/>
            <a:ext cx="3383280" cy="1645920"/>
          </a:xfrm>
          <a:prstGeom prst="rect">
            <a:avLst/>
          </a:prstGeom>
          <a:solidFill>
            <a:srgbClr val="132A56"/>
          </a:solidFill>
          <a:ln w="19050">
            <a:solidFill>
              <a:srgbClr val="003B95"/>
            </a:solidFill>
            <a:prstDash val="solid"/>
          </a:ln>
        </p:spPr>
      </p:sp>
      <p:sp>
        <p:nvSpPr>
          <p:cNvPr id="8" name="Text 6"/>
          <p:cNvSpPr/>
          <p:nvPr/>
        </p:nvSpPr>
        <p:spPr>
          <a:xfrm>
            <a:off x="1005840" y="4572000"/>
            <a:ext cx="2834640" cy="640080"/>
          </a:xfrm>
          <a:prstGeom prst="rect">
            <a:avLst/>
          </a:prstGeom>
          <a:noFill/>
          <a:ln/>
        </p:spPr>
        <p:txBody>
          <a:bodyPr wrap="square" rtlCol="0" anchor="ctr"/>
          <a:lstStyle/>
          <a:p>
            <a:pPr indent="0" marL="0">
              <a:buNone/>
            </a:pPr>
            <a:r>
              <a:rPr lang="en-US" sz="3200" b="1" dirty="0">
                <a:solidFill>
                  <a:srgbClr val="F59E0B"/>
                </a:solidFill>
                <a:latin typeface="Calibri" pitchFamily="34" charset="0"/>
                <a:ea typeface="Calibri" pitchFamily="34" charset="-122"/>
                <a:cs typeface="Calibri" pitchFamily="34" charset="-120"/>
              </a:rPr>
              <a:t>100%</a:t>
            </a:r>
            <a:endParaRPr lang="en-US" sz="3200" dirty="0"/>
          </a:p>
        </p:txBody>
      </p:sp>
      <p:sp>
        <p:nvSpPr>
          <p:cNvPr id="9" name="Text 7"/>
          <p:cNvSpPr/>
          <p:nvPr/>
        </p:nvSpPr>
        <p:spPr>
          <a:xfrm>
            <a:off x="1005840" y="5257800"/>
            <a:ext cx="2834640" cy="365760"/>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Thẻ Doanh Nhân 3D</a:t>
            </a:r>
            <a:endParaRPr lang="en-US" sz="1350" dirty="0"/>
          </a:p>
        </p:txBody>
      </p:sp>
      <p:sp>
        <p:nvSpPr>
          <p:cNvPr id="10" name="Text 8"/>
          <p:cNvSpPr/>
          <p:nvPr/>
        </p:nvSpPr>
        <p:spPr>
          <a:xfrm>
            <a:off x="1005840" y="5623560"/>
            <a:ext cx="2834640" cy="32004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Chạm NFC &amp; vCard 1 chạm</a:t>
            </a:r>
            <a:endParaRPr lang="en-US" sz="1050" dirty="0"/>
          </a:p>
        </p:txBody>
      </p:sp>
      <p:sp>
        <p:nvSpPr>
          <p:cNvPr id="11" name="Shape 9"/>
          <p:cNvSpPr/>
          <p:nvPr/>
        </p:nvSpPr>
        <p:spPr>
          <a:xfrm>
            <a:off x="4389120" y="4389120"/>
            <a:ext cx="3383280" cy="1645920"/>
          </a:xfrm>
          <a:prstGeom prst="rect">
            <a:avLst/>
          </a:prstGeom>
          <a:solidFill>
            <a:srgbClr val="132A56"/>
          </a:solidFill>
          <a:ln w="19050">
            <a:solidFill>
              <a:srgbClr val="003B95"/>
            </a:solidFill>
            <a:prstDash val="solid"/>
          </a:ln>
        </p:spPr>
      </p:sp>
      <p:sp>
        <p:nvSpPr>
          <p:cNvPr id="12" name="Text 10"/>
          <p:cNvSpPr/>
          <p:nvPr/>
        </p:nvSpPr>
        <p:spPr>
          <a:xfrm>
            <a:off x="4663440" y="4572000"/>
            <a:ext cx="2834640" cy="640080"/>
          </a:xfrm>
          <a:prstGeom prst="rect">
            <a:avLst/>
          </a:prstGeom>
          <a:noFill/>
          <a:ln/>
        </p:spPr>
        <p:txBody>
          <a:bodyPr wrap="square" rtlCol="0" anchor="ctr"/>
          <a:lstStyle/>
          <a:p>
            <a:pPr indent="0" marL="0">
              <a:buNone/>
            </a:pPr>
            <a:r>
              <a:rPr lang="en-US" sz="3200" b="1" dirty="0">
                <a:solidFill>
                  <a:srgbClr val="F59E0B"/>
                </a:solidFill>
                <a:latin typeface="Calibri" pitchFamily="34" charset="0"/>
                <a:ea typeface="Calibri" pitchFamily="34" charset="-122"/>
                <a:cs typeface="Calibri" pitchFamily="34" charset="-120"/>
              </a:rPr>
              <a:t>05</a:t>
            </a:r>
            <a:endParaRPr lang="en-US" sz="3200" dirty="0"/>
          </a:p>
        </p:txBody>
      </p:sp>
      <p:sp>
        <p:nvSpPr>
          <p:cNvPr id="13" name="Text 11"/>
          <p:cNvSpPr/>
          <p:nvPr/>
        </p:nvSpPr>
        <p:spPr>
          <a:xfrm>
            <a:off x="4663440" y="5257800"/>
            <a:ext cx="2834640" cy="365760"/>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Kênh Thông Báo CRM</a:t>
            </a:r>
            <a:endParaRPr lang="en-US" sz="1350" dirty="0"/>
          </a:p>
        </p:txBody>
      </p:sp>
      <p:sp>
        <p:nvSpPr>
          <p:cNvPr id="14" name="Text 12"/>
          <p:cNvSpPr/>
          <p:nvPr/>
        </p:nvSpPr>
        <p:spPr>
          <a:xfrm>
            <a:off x="4663440" y="5623560"/>
            <a:ext cx="2834640" cy="32004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Vé, tin nhắn, sự kiện &amp; kết nối</a:t>
            </a:r>
            <a:endParaRPr lang="en-US" sz="1050" dirty="0"/>
          </a:p>
        </p:txBody>
      </p:sp>
      <p:sp>
        <p:nvSpPr>
          <p:cNvPr id="15" name="Shape 13"/>
          <p:cNvSpPr/>
          <p:nvPr/>
        </p:nvSpPr>
        <p:spPr>
          <a:xfrm>
            <a:off x="8046720" y="4389120"/>
            <a:ext cx="3383280" cy="1645920"/>
          </a:xfrm>
          <a:prstGeom prst="rect">
            <a:avLst/>
          </a:prstGeom>
          <a:solidFill>
            <a:srgbClr val="132A56"/>
          </a:solidFill>
          <a:ln w="19050">
            <a:solidFill>
              <a:srgbClr val="003B95"/>
            </a:solidFill>
            <a:prstDash val="solid"/>
          </a:ln>
        </p:spPr>
      </p:sp>
      <p:sp>
        <p:nvSpPr>
          <p:cNvPr id="16" name="Text 14"/>
          <p:cNvSpPr/>
          <p:nvPr/>
        </p:nvSpPr>
        <p:spPr>
          <a:xfrm>
            <a:off x="8321040" y="4572000"/>
            <a:ext cx="2834640" cy="640080"/>
          </a:xfrm>
          <a:prstGeom prst="rect">
            <a:avLst/>
          </a:prstGeom>
          <a:noFill/>
          <a:ln/>
        </p:spPr>
        <p:txBody>
          <a:bodyPr wrap="square" rtlCol="0" anchor="ctr"/>
          <a:lstStyle/>
          <a:p>
            <a:pPr indent="0" marL="0">
              <a:buNone/>
            </a:pPr>
            <a:r>
              <a:rPr lang="en-US" sz="3200" b="1" dirty="0">
                <a:solidFill>
                  <a:srgbClr val="F59E0B"/>
                </a:solidFill>
                <a:latin typeface="Calibri" pitchFamily="34" charset="0"/>
                <a:ea typeface="Calibri" pitchFamily="34" charset="-122"/>
                <a:cs typeface="Calibri" pitchFamily="34" charset="-120"/>
              </a:rPr>
              <a:t>0đ</a:t>
            </a:r>
            <a:endParaRPr lang="en-US" sz="3200" dirty="0"/>
          </a:p>
        </p:txBody>
      </p:sp>
      <p:sp>
        <p:nvSpPr>
          <p:cNvPr id="17" name="Text 15"/>
          <p:cNvSpPr/>
          <p:nvPr/>
        </p:nvSpPr>
        <p:spPr>
          <a:xfrm>
            <a:off x="8321040" y="5257800"/>
            <a:ext cx="2834640" cy="365760"/>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Vé Điện Tử Tức Thì</a:t>
            </a:r>
            <a:endParaRPr lang="en-US" sz="1350" dirty="0"/>
          </a:p>
        </p:txBody>
      </p:sp>
      <p:sp>
        <p:nvSpPr>
          <p:cNvPr id="18" name="Text 16"/>
          <p:cNvSpPr/>
          <p:nvPr/>
        </p:nvSpPr>
        <p:spPr>
          <a:xfrm>
            <a:off x="8321040" y="5623560"/>
            <a:ext cx="2834640" cy="32004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Cấp mã quay số Lucky Draw #XXXX</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TỔNG QUAN TỔ CHỨC</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CLB Doanh Nhân CEO 1983 — Trực Thuộc HanoiBA</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Hội tụ các Chủ tịch HĐQT, Tổng Giám đốc, CEO, Nhà sáng lập tuổi Quý Hợi 1983 (Đại Hải Thủy)</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256032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2560320" cy="91440"/>
          </a:xfrm>
          <a:prstGeom prst="rect">
            <a:avLst/>
          </a:prstGeom>
          <a:solidFill>
            <a:srgbClr val="003B95"/>
          </a:solidFill>
          <a:ln/>
        </p:spPr>
      </p:sp>
      <p:sp>
        <p:nvSpPr>
          <p:cNvPr id="12" name="Text 10"/>
          <p:cNvSpPr/>
          <p:nvPr/>
        </p:nvSpPr>
        <p:spPr>
          <a:xfrm>
            <a:off x="960120" y="2148840"/>
            <a:ext cx="2103120" cy="274320"/>
          </a:xfrm>
          <a:prstGeom prst="rect">
            <a:avLst/>
          </a:prstGeom>
          <a:noFill/>
          <a:ln/>
        </p:spPr>
        <p:txBody>
          <a:bodyPr wrap="square" rtlCol="0" anchor="ctr"/>
          <a:lstStyle/>
          <a:p>
            <a:pPr indent="0" marL="0">
              <a:buNone/>
            </a:pPr>
            <a:r>
              <a:rPr lang="en-US" sz="1100" b="1" dirty="0">
                <a:solidFill>
                  <a:srgbClr val="003B95"/>
                </a:solidFill>
                <a:latin typeface="Calibri" pitchFamily="34" charset="0"/>
                <a:ea typeface="Calibri" pitchFamily="34" charset="-122"/>
                <a:cs typeface="Calibri" pitchFamily="34" charset="-120"/>
              </a:rPr>
              <a:t>TRỤ CỘT 01</a:t>
            </a:r>
            <a:endParaRPr lang="en-US" sz="1100" dirty="0"/>
          </a:p>
        </p:txBody>
      </p:sp>
      <p:sp>
        <p:nvSpPr>
          <p:cNvPr id="13" name="Text 11"/>
          <p:cNvSpPr/>
          <p:nvPr/>
        </p:nvSpPr>
        <p:spPr>
          <a:xfrm>
            <a:off x="960120" y="2468880"/>
            <a:ext cx="2103120" cy="73152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Giao Thương &amp; Xúc Tiến B2B</a:t>
            </a:r>
            <a:endParaRPr lang="en-US" sz="1400" dirty="0"/>
          </a:p>
        </p:txBody>
      </p:sp>
      <p:sp>
        <p:nvSpPr>
          <p:cNvPr id="14" name="Text 12"/>
          <p:cNvSpPr/>
          <p:nvPr/>
        </p:nvSpPr>
        <p:spPr>
          <a:xfrm>
            <a:off x="960120" y="3246120"/>
            <a:ext cx="2103120" cy="25603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Mạng lưới kết nối cơ hội kinh doanh nội bộ, sàn thương mại điện tử chuyên biệt C2C/B2B và chương trình đối thoại cung cầu.</a:t>
            </a:r>
            <a:endParaRPr lang="en-US" sz="1150" dirty="0"/>
          </a:p>
        </p:txBody>
      </p:sp>
      <p:sp>
        <p:nvSpPr>
          <p:cNvPr id="15" name="Shape 13"/>
          <p:cNvSpPr/>
          <p:nvPr/>
        </p:nvSpPr>
        <p:spPr>
          <a:xfrm>
            <a:off x="3429000" y="1920240"/>
            <a:ext cx="2560320" cy="4206240"/>
          </a:xfrm>
          <a:prstGeom prst="rect">
            <a:avLst/>
          </a:prstGeom>
          <a:solidFill>
            <a:srgbClr val="FFFFFF"/>
          </a:solidFill>
          <a:ln w="15240">
            <a:solidFill>
              <a:srgbClr val="E2E8F0"/>
            </a:solidFill>
            <a:prstDash val="solid"/>
          </a:ln>
        </p:spPr>
      </p:sp>
      <p:sp>
        <p:nvSpPr>
          <p:cNvPr id="16" name="Shape 14"/>
          <p:cNvSpPr/>
          <p:nvPr/>
        </p:nvSpPr>
        <p:spPr>
          <a:xfrm>
            <a:off x="3429000" y="1920240"/>
            <a:ext cx="2560320" cy="91440"/>
          </a:xfrm>
          <a:prstGeom prst="rect">
            <a:avLst/>
          </a:prstGeom>
          <a:solidFill>
            <a:srgbClr val="D97706"/>
          </a:solidFill>
          <a:ln/>
        </p:spPr>
      </p:sp>
      <p:sp>
        <p:nvSpPr>
          <p:cNvPr id="17" name="Text 15"/>
          <p:cNvSpPr/>
          <p:nvPr/>
        </p:nvSpPr>
        <p:spPr>
          <a:xfrm>
            <a:off x="3657600" y="2148840"/>
            <a:ext cx="2103120" cy="274320"/>
          </a:xfrm>
          <a:prstGeom prst="rect">
            <a:avLst/>
          </a:prstGeom>
          <a:noFill/>
          <a:ln/>
        </p:spPr>
        <p:txBody>
          <a:bodyPr wrap="square" rtlCol="0" anchor="ctr"/>
          <a:lstStyle/>
          <a:p>
            <a:pPr indent="0" marL="0">
              <a:buNone/>
            </a:pPr>
            <a:r>
              <a:rPr lang="en-US" sz="1100" b="1" dirty="0">
                <a:solidFill>
                  <a:srgbClr val="D97706"/>
                </a:solidFill>
                <a:latin typeface="Calibri" pitchFamily="34" charset="0"/>
                <a:ea typeface="Calibri" pitchFamily="34" charset="-122"/>
                <a:cs typeface="Calibri" pitchFamily="34" charset="-120"/>
              </a:rPr>
              <a:t>TRỤ CỘT 02</a:t>
            </a:r>
            <a:endParaRPr lang="en-US" sz="1100" dirty="0"/>
          </a:p>
        </p:txBody>
      </p:sp>
      <p:sp>
        <p:nvSpPr>
          <p:cNvPr id="18" name="Text 16"/>
          <p:cNvSpPr/>
          <p:nvPr/>
        </p:nvSpPr>
        <p:spPr>
          <a:xfrm>
            <a:off x="3657600" y="2468880"/>
            <a:ext cx="2103120" cy="73152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Đào Tạo &amp; Nâng Cao Năng Lực</a:t>
            </a:r>
            <a:endParaRPr lang="en-US" sz="1400" dirty="0"/>
          </a:p>
        </p:txBody>
      </p:sp>
      <p:sp>
        <p:nvSpPr>
          <p:cNvPr id="19" name="Text 17"/>
          <p:cNvSpPr/>
          <p:nvPr/>
        </p:nvSpPr>
        <p:spPr>
          <a:xfrm>
            <a:off x="3657600" y="3246120"/>
            <a:ext cx="2103120" cy="25603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Chương trình C-Level Masterclass, tọa đàm kinh tế vĩ mô, chia sẻ kinh nghiệm quản trị doanh nghiệp và chuyển đổi số thực chiến.</a:t>
            </a:r>
            <a:endParaRPr lang="en-US" sz="1150" dirty="0"/>
          </a:p>
        </p:txBody>
      </p:sp>
      <p:sp>
        <p:nvSpPr>
          <p:cNvPr id="20" name="Shape 18"/>
          <p:cNvSpPr/>
          <p:nvPr/>
        </p:nvSpPr>
        <p:spPr>
          <a:xfrm>
            <a:off x="6126480" y="1920240"/>
            <a:ext cx="2560320" cy="4206240"/>
          </a:xfrm>
          <a:prstGeom prst="rect">
            <a:avLst/>
          </a:prstGeom>
          <a:solidFill>
            <a:srgbClr val="FFFFFF"/>
          </a:solidFill>
          <a:ln w="15240">
            <a:solidFill>
              <a:srgbClr val="E2E8F0"/>
            </a:solidFill>
            <a:prstDash val="solid"/>
          </a:ln>
        </p:spPr>
      </p:sp>
      <p:sp>
        <p:nvSpPr>
          <p:cNvPr id="21" name="Shape 19"/>
          <p:cNvSpPr/>
          <p:nvPr/>
        </p:nvSpPr>
        <p:spPr>
          <a:xfrm>
            <a:off x="6126480" y="1920240"/>
            <a:ext cx="2560320" cy="91440"/>
          </a:xfrm>
          <a:prstGeom prst="rect">
            <a:avLst/>
          </a:prstGeom>
          <a:solidFill>
            <a:srgbClr val="059669"/>
          </a:solidFill>
          <a:ln/>
        </p:spPr>
      </p:sp>
      <p:sp>
        <p:nvSpPr>
          <p:cNvPr id="22" name="Text 20"/>
          <p:cNvSpPr/>
          <p:nvPr/>
        </p:nvSpPr>
        <p:spPr>
          <a:xfrm>
            <a:off x="6355080" y="2148840"/>
            <a:ext cx="210312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TRỤ CỘT 03</a:t>
            </a:r>
            <a:endParaRPr lang="en-US" sz="1100" dirty="0"/>
          </a:p>
        </p:txBody>
      </p:sp>
      <p:sp>
        <p:nvSpPr>
          <p:cNvPr id="23" name="Text 21"/>
          <p:cNvSpPr/>
          <p:nvPr/>
        </p:nvSpPr>
        <p:spPr>
          <a:xfrm>
            <a:off x="6355080" y="2468880"/>
            <a:ext cx="2103120" cy="73152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Thể Thao &amp; Gắn Kết Hội Viên</a:t>
            </a:r>
            <a:endParaRPr lang="en-US" sz="1400" dirty="0"/>
          </a:p>
        </p:txBody>
      </p:sp>
      <p:sp>
        <p:nvSpPr>
          <p:cNvPr id="24" name="Text 22"/>
          <p:cNvSpPr/>
          <p:nvPr/>
        </p:nvSpPr>
        <p:spPr>
          <a:xfrm>
            <a:off x="6355080" y="3246120"/>
            <a:ext cx="2103120" cy="25603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Giải Golf CEO 1983 thường niên, CLB Tennis, giải Chạy bộ phong trào và các chuyến Caravan khảo sát thị trường liên tỉnh.</a:t>
            </a:r>
            <a:endParaRPr lang="en-US" sz="1150" dirty="0"/>
          </a:p>
        </p:txBody>
      </p:sp>
      <p:sp>
        <p:nvSpPr>
          <p:cNvPr id="25" name="Shape 23"/>
          <p:cNvSpPr/>
          <p:nvPr/>
        </p:nvSpPr>
        <p:spPr>
          <a:xfrm>
            <a:off x="8823960" y="1920240"/>
            <a:ext cx="2560320" cy="4206240"/>
          </a:xfrm>
          <a:prstGeom prst="rect">
            <a:avLst/>
          </a:prstGeom>
          <a:solidFill>
            <a:srgbClr val="FFFFFF"/>
          </a:solidFill>
          <a:ln w="15240">
            <a:solidFill>
              <a:srgbClr val="E2E8F0"/>
            </a:solidFill>
            <a:prstDash val="solid"/>
          </a:ln>
        </p:spPr>
      </p:sp>
      <p:sp>
        <p:nvSpPr>
          <p:cNvPr id="26" name="Shape 24"/>
          <p:cNvSpPr/>
          <p:nvPr/>
        </p:nvSpPr>
        <p:spPr>
          <a:xfrm>
            <a:off x="8823960" y="1920240"/>
            <a:ext cx="2560320" cy="91440"/>
          </a:xfrm>
          <a:prstGeom prst="rect">
            <a:avLst/>
          </a:prstGeom>
          <a:solidFill>
            <a:srgbClr val="002B70"/>
          </a:solidFill>
          <a:ln/>
        </p:spPr>
      </p:sp>
      <p:sp>
        <p:nvSpPr>
          <p:cNvPr id="27" name="Text 25"/>
          <p:cNvSpPr/>
          <p:nvPr/>
        </p:nvSpPr>
        <p:spPr>
          <a:xfrm>
            <a:off x="9052560" y="2148840"/>
            <a:ext cx="2103120" cy="274320"/>
          </a:xfrm>
          <a:prstGeom prst="rect">
            <a:avLst/>
          </a:prstGeom>
          <a:noFill/>
          <a:ln/>
        </p:spPr>
        <p:txBody>
          <a:bodyPr wrap="square" rtlCol="0" anchor="ctr"/>
          <a:lstStyle/>
          <a:p>
            <a:pPr indent="0" marL="0">
              <a:buNone/>
            </a:pPr>
            <a:r>
              <a:rPr lang="en-US" sz="1100" b="1" dirty="0">
                <a:solidFill>
                  <a:srgbClr val="002B70"/>
                </a:solidFill>
                <a:latin typeface="Calibri" pitchFamily="34" charset="0"/>
                <a:ea typeface="Calibri" pitchFamily="34" charset="-122"/>
                <a:cs typeface="Calibri" pitchFamily="34" charset="-120"/>
              </a:rPr>
              <a:t>TRỤ CỘT 04</a:t>
            </a:r>
            <a:endParaRPr lang="en-US" sz="1100" dirty="0"/>
          </a:p>
        </p:txBody>
      </p:sp>
      <p:sp>
        <p:nvSpPr>
          <p:cNvPr id="28" name="Text 26"/>
          <p:cNvSpPr/>
          <p:nvPr/>
        </p:nvSpPr>
        <p:spPr>
          <a:xfrm>
            <a:off x="9052560" y="2468880"/>
            <a:ext cx="2103120" cy="73152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Văn Hóa &amp; Trách Nhiệm Xã Hội</a:t>
            </a:r>
            <a:endParaRPr lang="en-US" sz="1400" dirty="0"/>
          </a:p>
        </p:txBody>
      </p:sp>
      <p:sp>
        <p:nvSpPr>
          <p:cNvPr id="29" name="Text 27"/>
          <p:cNvSpPr/>
          <p:nvPr/>
        </p:nvSpPr>
        <p:spPr>
          <a:xfrm>
            <a:off x="9052560" y="3246120"/>
            <a:ext cx="2103120" cy="25603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Chương trình thiện nguyện vì cộng đồng, quỹ ươm mầm tài năng trẻ và các hoạt động xây dựng nếp sống văn hóa doanh nhân chuẩn mực.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ĐỊNH DANH SỐ ĐỘC BẢN</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Thẻ Doanh Nhân VIP 3D — Chạm NFC &amp; vCard Thông Minh</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Số hóa 100% danh thiếp vật lý, bảo mật danh tính, kết nối đối tác chỉ với 1 chạm</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33832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3383280" cy="457200"/>
          </a:xfrm>
          <a:prstGeom prst="rect">
            <a:avLst/>
          </a:prstGeom>
          <a:solidFill>
            <a:srgbClr val="EFF6FF"/>
          </a:solidFill>
          <a:ln/>
        </p:spPr>
      </p:sp>
      <p:sp>
        <p:nvSpPr>
          <p:cNvPr id="12" name="Text 10"/>
          <p:cNvSpPr/>
          <p:nvPr/>
        </p:nvSpPr>
        <p:spPr>
          <a:xfrm>
            <a:off x="960120" y="1920240"/>
            <a:ext cx="2926080" cy="457200"/>
          </a:xfrm>
          <a:prstGeom prst="rect">
            <a:avLst/>
          </a:prstGeom>
          <a:noFill/>
          <a:ln/>
        </p:spPr>
        <p:txBody>
          <a:bodyPr wrap="square" rtlCol="0" anchor="ctr"/>
          <a:lstStyle/>
          <a:p>
            <a:pPr indent="0" marL="0">
              <a:buNone/>
            </a:pPr>
            <a:r>
              <a:rPr lang="en-US" sz="1250" b="1" dirty="0">
                <a:solidFill>
                  <a:srgbClr val="003B95"/>
                </a:solidFill>
                <a:latin typeface="Calibri" pitchFamily="34" charset="0"/>
                <a:ea typeface="Calibri" pitchFamily="34" charset="-122"/>
                <a:cs typeface="Calibri" pitchFamily="34" charset="-120"/>
              </a:rPr>
              <a:t>Mặt Trước — Nhận Diện Đẳng Cấp</a:t>
            </a:r>
            <a:endParaRPr lang="en-US" sz="1250" dirty="0"/>
          </a:p>
        </p:txBody>
      </p:sp>
      <p:sp>
        <p:nvSpPr>
          <p:cNvPr id="13" name="Text 11"/>
          <p:cNvSpPr/>
          <p:nvPr/>
        </p:nvSpPr>
        <p:spPr>
          <a:xfrm>
            <a:off x="960120" y="256032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Logo Hiệp hội Doanh nhân CEO 1983 mạ vàng 3D sắc nét.</a:t>
            </a:r>
            <a:endParaRPr lang="en-US" sz="1100" dirty="0"/>
          </a:p>
        </p:txBody>
      </p:sp>
      <p:sp>
        <p:nvSpPr>
          <p:cNvPr id="14" name="Text 12"/>
          <p:cNvSpPr/>
          <p:nvPr/>
        </p:nvSpPr>
        <p:spPr>
          <a:xfrm>
            <a:off x="960120" y="342900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Họ tên Doanh nhân, Pháp nhân Doanh nghiệp và Chức danh C-Level.</a:t>
            </a:r>
            <a:endParaRPr lang="en-US" sz="1100" dirty="0"/>
          </a:p>
        </p:txBody>
      </p:sp>
      <p:sp>
        <p:nvSpPr>
          <p:cNvPr id="15" name="Text 13"/>
          <p:cNvSpPr/>
          <p:nvPr/>
        </p:nvSpPr>
        <p:spPr>
          <a:xfrm>
            <a:off x="960120" y="429768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Mã định danh duy nhất (CEO-1983-xxx) và Hạng thẻ VIP Gold / Diamond.</a:t>
            </a:r>
            <a:endParaRPr lang="en-US" sz="1100" dirty="0"/>
          </a:p>
        </p:txBody>
      </p:sp>
      <p:sp>
        <p:nvSpPr>
          <p:cNvPr id="16" name="Text 14"/>
          <p:cNvSpPr/>
          <p:nvPr/>
        </p:nvSpPr>
        <p:spPr>
          <a:xfrm>
            <a:off x="960120" y="516636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Thời hạn hiệu lực hội viên bảo đảm tư cách thành viên chính thức.</a:t>
            </a:r>
            <a:endParaRPr lang="en-US" sz="1100" dirty="0"/>
          </a:p>
        </p:txBody>
      </p:sp>
      <p:sp>
        <p:nvSpPr>
          <p:cNvPr id="17" name="Shape 15"/>
          <p:cNvSpPr/>
          <p:nvPr/>
        </p:nvSpPr>
        <p:spPr>
          <a:xfrm>
            <a:off x="4389120" y="1920240"/>
            <a:ext cx="3383280" cy="4206240"/>
          </a:xfrm>
          <a:prstGeom prst="rect">
            <a:avLst/>
          </a:prstGeom>
          <a:solidFill>
            <a:srgbClr val="FFFFFF"/>
          </a:solidFill>
          <a:ln w="15240">
            <a:solidFill>
              <a:srgbClr val="E2E8F0"/>
            </a:solidFill>
            <a:prstDash val="solid"/>
          </a:ln>
        </p:spPr>
      </p:sp>
      <p:sp>
        <p:nvSpPr>
          <p:cNvPr id="18" name="Shape 16"/>
          <p:cNvSpPr/>
          <p:nvPr/>
        </p:nvSpPr>
        <p:spPr>
          <a:xfrm>
            <a:off x="4389120" y="1920240"/>
            <a:ext cx="3383280" cy="457200"/>
          </a:xfrm>
          <a:prstGeom prst="rect">
            <a:avLst/>
          </a:prstGeom>
          <a:solidFill>
            <a:srgbClr val="FEF3C7"/>
          </a:solidFill>
          <a:ln/>
        </p:spPr>
      </p:sp>
      <p:sp>
        <p:nvSpPr>
          <p:cNvPr id="19" name="Text 17"/>
          <p:cNvSpPr/>
          <p:nvPr/>
        </p:nvSpPr>
        <p:spPr>
          <a:xfrm>
            <a:off x="4617720" y="1920240"/>
            <a:ext cx="2926080" cy="457200"/>
          </a:xfrm>
          <a:prstGeom prst="rect">
            <a:avLst/>
          </a:prstGeom>
          <a:noFill/>
          <a:ln/>
        </p:spPr>
        <p:txBody>
          <a:bodyPr wrap="square" rtlCol="0" anchor="ctr"/>
          <a:lstStyle/>
          <a:p>
            <a:pPr indent="0" marL="0">
              <a:buNone/>
            </a:pPr>
            <a:r>
              <a:rPr lang="en-US" sz="1250" b="1" dirty="0">
                <a:solidFill>
                  <a:srgbClr val="D97706"/>
                </a:solidFill>
                <a:latin typeface="Calibri" pitchFamily="34" charset="0"/>
                <a:ea typeface="Calibri" pitchFamily="34" charset="-122"/>
                <a:cs typeface="Calibri" pitchFamily="34" charset="-120"/>
              </a:rPr>
              <a:t>Mặt Sau — Mã QR Độc Bản &amp; Bảo Mật</a:t>
            </a:r>
            <a:endParaRPr lang="en-US" sz="1250" dirty="0"/>
          </a:p>
        </p:txBody>
      </p:sp>
      <p:sp>
        <p:nvSpPr>
          <p:cNvPr id="20" name="Text 18"/>
          <p:cNvSpPr/>
          <p:nvPr/>
        </p:nvSpPr>
        <p:spPr>
          <a:xfrm>
            <a:off x="4617720" y="256032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Mã QR tra cứu danh tính bảo mật theo chuẩn thời gian thực.</a:t>
            </a:r>
            <a:endParaRPr lang="en-US" sz="1100" dirty="0"/>
          </a:p>
        </p:txBody>
      </p:sp>
      <p:sp>
        <p:nvSpPr>
          <p:cNvPr id="21" name="Text 19"/>
          <p:cNvSpPr/>
          <p:nvPr/>
        </p:nvSpPr>
        <p:spPr>
          <a:xfrm>
            <a:off x="4617720" y="342900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Quét từ camera ngoài app tự động mở trang web xác thực chính chủ.</a:t>
            </a:r>
            <a:endParaRPr lang="en-US" sz="1100" dirty="0"/>
          </a:p>
        </p:txBody>
      </p:sp>
      <p:sp>
        <p:nvSpPr>
          <p:cNvPr id="22" name="Text 20"/>
          <p:cNvSpPr/>
          <p:nvPr/>
        </p:nvSpPr>
        <p:spPr>
          <a:xfrm>
            <a:off x="4617720" y="429768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Cam kết bảo mật thông tin tài chính và số điện thoại theo tùy chọn.</a:t>
            </a:r>
            <a:endParaRPr lang="en-US" sz="1100" dirty="0"/>
          </a:p>
        </p:txBody>
      </p:sp>
      <p:sp>
        <p:nvSpPr>
          <p:cNvPr id="23" name="Text 21"/>
          <p:cNvSpPr/>
          <p:nvPr/>
        </p:nvSpPr>
        <p:spPr>
          <a:xfrm>
            <a:off x="4617720" y="516636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Huy hiệu chứng thực điện tử 24/7 từ Ban Thư ký CLB CEO 1983.</a:t>
            </a:r>
            <a:endParaRPr lang="en-US" sz="1100" dirty="0"/>
          </a:p>
        </p:txBody>
      </p:sp>
      <p:sp>
        <p:nvSpPr>
          <p:cNvPr id="24" name="Shape 22"/>
          <p:cNvSpPr/>
          <p:nvPr/>
        </p:nvSpPr>
        <p:spPr>
          <a:xfrm>
            <a:off x="8046720" y="1920240"/>
            <a:ext cx="3383280" cy="4206240"/>
          </a:xfrm>
          <a:prstGeom prst="rect">
            <a:avLst/>
          </a:prstGeom>
          <a:solidFill>
            <a:srgbClr val="FFFFFF"/>
          </a:solidFill>
          <a:ln w="15240">
            <a:solidFill>
              <a:srgbClr val="E2E8F0"/>
            </a:solidFill>
            <a:prstDash val="solid"/>
          </a:ln>
        </p:spPr>
      </p:sp>
      <p:sp>
        <p:nvSpPr>
          <p:cNvPr id="25" name="Shape 23"/>
          <p:cNvSpPr/>
          <p:nvPr/>
        </p:nvSpPr>
        <p:spPr>
          <a:xfrm>
            <a:off x="8046720" y="1920240"/>
            <a:ext cx="3383280" cy="457200"/>
          </a:xfrm>
          <a:prstGeom prst="rect">
            <a:avLst/>
          </a:prstGeom>
          <a:solidFill>
            <a:srgbClr val="EFF6FF"/>
          </a:solidFill>
          <a:ln/>
        </p:spPr>
      </p:sp>
      <p:sp>
        <p:nvSpPr>
          <p:cNvPr id="26" name="Text 24"/>
          <p:cNvSpPr/>
          <p:nvPr/>
        </p:nvSpPr>
        <p:spPr>
          <a:xfrm>
            <a:off x="8275320" y="1920240"/>
            <a:ext cx="2926080" cy="457200"/>
          </a:xfrm>
          <a:prstGeom prst="rect">
            <a:avLst/>
          </a:prstGeom>
          <a:noFill/>
          <a:ln/>
        </p:spPr>
        <p:txBody>
          <a:bodyPr wrap="square" rtlCol="0" anchor="ctr"/>
          <a:lstStyle/>
          <a:p>
            <a:pPr indent="0" marL="0">
              <a:buNone/>
            </a:pPr>
            <a:r>
              <a:rPr lang="en-US" sz="1250" b="1" dirty="0">
                <a:solidFill>
                  <a:srgbClr val="003B95"/>
                </a:solidFill>
                <a:latin typeface="Calibri" pitchFamily="34" charset="0"/>
                <a:ea typeface="Calibri" pitchFamily="34" charset="-122"/>
                <a:cs typeface="Calibri" pitchFamily="34" charset="-120"/>
              </a:rPr>
              <a:t>Tương Tác 1 Chạm Siêu Tốc</a:t>
            </a:r>
            <a:endParaRPr lang="en-US" sz="1250" dirty="0"/>
          </a:p>
        </p:txBody>
      </p:sp>
      <p:sp>
        <p:nvSpPr>
          <p:cNvPr id="27" name="Text 25"/>
          <p:cNvSpPr/>
          <p:nvPr/>
        </p:nvSpPr>
        <p:spPr>
          <a:xfrm>
            <a:off x="8275320" y="256032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Chạm công nghệ NFC truyền danh thiếp tức thì sang điện thoại đối tác.</a:t>
            </a:r>
            <a:endParaRPr lang="en-US" sz="1100" dirty="0"/>
          </a:p>
        </p:txBody>
      </p:sp>
      <p:sp>
        <p:nvSpPr>
          <p:cNvPr id="28" name="Text 26"/>
          <p:cNvSpPr/>
          <p:nvPr/>
        </p:nvSpPr>
        <p:spPr>
          <a:xfrm>
            <a:off x="8275320" y="342900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Nút bấm Tải danh bạ (.vcf) lưu thẳng vào Phonebook iOS &amp; Android.</a:t>
            </a:r>
            <a:endParaRPr lang="en-US" sz="1100" dirty="0"/>
          </a:p>
        </p:txBody>
      </p:sp>
      <p:sp>
        <p:nvSpPr>
          <p:cNvPr id="29" name="Text 27"/>
          <p:cNvSpPr/>
          <p:nvPr/>
        </p:nvSpPr>
        <p:spPr>
          <a:xfrm>
            <a:off x="8275320" y="429768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Gọi điện, gửi Email, mở chat Zalo và Chia sẻ thẻ chỉ trong 1 thao tác.</a:t>
            </a:r>
            <a:endParaRPr lang="en-US" sz="1100" dirty="0"/>
          </a:p>
        </p:txBody>
      </p:sp>
      <p:sp>
        <p:nvSpPr>
          <p:cNvPr id="30" name="Text 28"/>
          <p:cNvSpPr/>
          <p:nvPr/>
        </p:nvSpPr>
        <p:spPr>
          <a:xfrm>
            <a:off x="8275320" y="5166360"/>
            <a:ext cx="2926080" cy="7772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  Hoàn toàn không dùng dữ liệu ảo hay thông tin mock tĩnh.</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QUẢN TRỊ SỰ KIỆN SỐ</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Hệ Thống Sự Kiện, Vé Điện Tử 0đ &amp; Bốc Thăm Lucky Draw</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Quy trình tham gia sự kiện tự động hóa 100%, trả vé ngay về Thông báo và Tin nhắn</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2560320" cy="4206240"/>
          </a:xfrm>
          <a:prstGeom prst="rect">
            <a:avLst/>
          </a:prstGeom>
          <a:solidFill>
            <a:srgbClr val="FFFFFF"/>
          </a:solidFill>
          <a:ln w="15240">
            <a:solidFill>
              <a:srgbClr val="E2E8F0"/>
            </a:solidFill>
            <a:prstDash val="solid"/>
          </a:ln>
        </p:spPr>
      </p:sp>
      <p:sp>
        <p:nvSpPr>
          <p:cNvPr id="11" name="Shape 9"/>
          <p:cNvSpPr/>
          <p:nvPr/>
        </p:nvSpPr>
        <p:spPr>
          <a:xfrm>
            <a:off x="960120" y="2194560"/>
            <a:ext cx="640080" cy="640080"/>
          </a:xfrm>
          <a:prstGeom prst="rect">
            <a:avLst/>
          </a:prstGeom>
          <a:solidFill>
            <a:srgbClr val="003B95"/>
          </a:solidFill>
          <a:ln/>
        </p:spPr>
      </p:sp>
      <p:sp>
        <p:nvSpPr>
          <p:cNvPr id="12" name="Text 10"/>
          <p:cNvSpPr/>
          <p:nvPr/>
        </p:nvSpPr>
        <p:spPr>
          <a:xfrm>
            <a:off x="960120" y="2194560"/>
            <a:ext cx="640080" cy="640080"/>
          </a:xfrm>
          <a:prstGeom prst="rect">
            <a:avLst/>
          </a:prstGeom>
          <a:noFill/>
          <a:ln/>
        </p:spPr>
        <p:txBody>
          <a:bodyPr wrap="square" rtlCol="0" anchor="ctr"/>
          <a:lstStyle/>
          <a:p>
            <a:pPr algn="ctr" indent="0" marL="0">
              <a:buNone/>
            </a:pPr>
            <a:r>
              <a:rPr lang="en-US" sz="1800" b="1" dirty="0">
                <a:solidFill>
                  <a:srgbClr val="F59E0B"/>
                </a:solidFill>
                <a:latin typeface="Calibri" pitchFamily="34" charset="0"/>
                <a:ea typeface="Calibri" pitchFamily="34" charset="-122"/>
                <a:cs typeface="Calibri" pitchFamily="34" charset="-120"/>
              </a:rPr>
              <a:t>01</a:t>
            </a:r>
            <a:endParaRPr lang="en-US" sz="1800" dirty="0"/>
          </a:p>
        </p:txBody>
      </p:sp>
      <p:sp>
        <p:nvSpPr>
          <p:cNvPr id="13" name="Text 11"/>
          <p:cNvSpPr/>
          <p:nvPr/>
        </p:nvSpPr>
        <p:spPr>
          <a:xfrm>
            <a:off x="960120" y="3017520"/>
            <a:ext cx="2103120" cy="64008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Chọn Sự Kiện &amp; Khán Phòng</a:t>
            </a:r>
            <a:endParaRPr lang="en-US" sz="1350" dirty="0"/>
          </a:p>
        </p:txBody>
      </p:sp>
      <p:sp>
        <p:nvSpPr>
          <p:cNvPr id="14" name="Text 12"/>
          <p:cNvSpPr/>
          <p:nvPr/>
        </p:nvSpPr>
        <p:spPr>
          <a:xfrm>
            <a:off x="960120" y="374904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Hội viên duyệt danh sách sự kiện, xem sơ đồ chỗ ngồi VIP, diễn giả và lịch trình gala.</a:t>
            </a:r>
            <a:endParaRPr lang="en-US" sz="1150" dirty="0"/>
          </a:p>
        </p:txBody>
      </p:sp>
      <p:sp>
        <p:nvSpPr>
          <p:cNvPr id="15" name="Shape 13"/>
          <p:cNvSpPr/>
          <p:nvPr/>
        </p:nvSpPr>
        <p:spPr>
          <a:xfrm>
            <a:off x="3429000" y="1920240"/>
            <a:ext cx="2560320" cy="4206240"/>
          </a:xfrm>
          <a:prstGeom prst="rect">
            <a:avLst/>
          </a:prstGeom>
          <a:solidFill>
            <a:srgbClr val="FFFFFF"/>
          </a:solidFill>
          <a:ln w="15240">
            <a:solidFill>
              <a:srgbClr val="E2E8F0"/>
            </a:solidFill>
            <a:prstDash val="solid"/>
          </a:ln>
        </p:spPr>
      </p:sp>
      <p:sp>
        <p:nvSpPr>
          <p:cNvPr id="16" name="Shape 14"/>
          <p:cNvSpPr/>
          <p:nvPr/>
        </p:nvSpPr>
        <p:spPr>
          <a:xfrm>
            <a:off x="3657600" y="2194560"/>
            <a:ext cx="640080" cy="640080"/>
          </a:xfrm>
          <a:prstGeom prst="rect">
            <a:avLst/>
          </a:prstGeom>
          <a:solidFill>
            <a:srgbClr val="003B95"/>
          </a:solidFill>
          <a:ln/>
        </p:spPr>
      </p:sp>
      <p:sp>
        <p:nvSpPr>
          <p:cNvPr id="17" name="Text 15"/>
          <p:cNvSpPr/>
          <p:nvPr/>
        </p:nvSpPr>
        <p:spPr>
          <a:xfrm>
            <a:off x="3657600" y="2194560"/>
            <a:ext cx="640080" cy="640080"/>
          </a:xfrm>
          <a:prstGeom prst="rect">
            <a:avLst/>
          </a:prstGeom>
          <a:noFill/>
          <a:ln/>
        </p:spPr>
        <p:txBody>
          <a:bodyPr wrap="square" rtlCol="0" anchor="ctr"/>
          <a:lstStyle/>
          <a:p>
            <a:pPr algn="ctr" indent="0" marL="0">
              <a:buNone/>
            </a:pPr>
            <a:r>
              <a:rPr lang="en-US" sz="1800" b="1" dirty="0">
                <a:solidFill>
                  <a:srgbClr val="F59E0B"/>
                </a:solidFill>
                <a:latin typeface="Calibri" pitchFamily="34" charset="0"/>
                <a:ea typeface="Calibri" pitchFamily="34" charset="-122"/>
                <a:cs typeface="Calibri" pitchFamily="34" charset="-120"/>
              </a:rPr>
              <a:t>02</a:t>
            </a:r>
            <a:endParaRPr lang="en-US" sz="1800" dirty="0"/>
          </a:p>
        </p:txBody>
      </p:sp>
      <p:sp>
        <p:nvSpPr>
          <p:cNvPr id="18" name="Text 16"/>
          <p:cNvSpPr/>
          <p:nvPr/>
        </p:nvSpPr>
        <p:spPr>
          <a:xfrm>
            <a:off x="3657600" y="3017520"/>
            <a:ext cx="2103120" cy="64008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Đăng Ký Vé Hội Viên (0đ)</a:t>
            </a:r>
            <a:endParaRPr lang="en-US" sz="1350" dirty="0"/>
          </a:p>
        </p:txBody>
      </p:sp>
      <p:sp>
        <p:nvSpPr>
          <p:cNvPr id="19" name="Text 17"/>
          <p:cNvSpPr/>
          <p:nvPr/>
        </p:nvSpPr>
        <p:spPr>
          <a:xfrm>
            <a:off x="3657600" y="374904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Bấm đăng ký vé đặc quyền 0đ; hệ thống xác thực tức thì trong 100ms không cần xét duyệt.</a:t>
            </a:r>
            <a:endParaRPr lang="en-US" sz="1150" dirty="0"/>
          </a:p>
        </p:txBody>
      </p:sp>
      <p:sp>
        <p:nvSpPr>
          <p:cNvPr id="20" name="Shape 18"/>
          <p:cNvSpPr/>
          <p:nvPr/>
        </p:nvSpPr>
        <p:spPr>
          <a:xfrm>
            <a:off x="6126480" y="1920240"/>
            <a:ext cx="2560320" cy="4206240"/>
          </a:xfrm>
          <a:prstGeom prst="rect">
            <a:avLst/>
          </a:prstGeom>
          <a:solidFill>
            <a:srgbClr val="FFFFFF"/>
          </a:solidFill>
          <a:ln w="15240">
            <a:solidFill>
              <a:srgbClr val="E2E8F0"/>
            </a:solidFill>
            <a:prstDash val="solid"/>
          </a:ln>
        </p:spPr>
      </p:sp>
      <p:sp>
        <p:nvSpPr>
          <p:cNvPr id="21" name="Shape 19"/>
          <p:cNvSpPr/>
          <p:nvPr/>
        </p:nvSpPr>
        <p:spPr>
          <a:xfrm>
            <a:off x="6355080" y="2194560"/>
            <a:ext cx="640080" cy="640080"/>
          </a:xfrm>
          <a:prstGeom prst="rect">
            <a:avLst/>
          </a:prstGeom>
          <a:solidFill>
            <a:srgbClr val="003B95"/>
          </a:solidFill>
          <a:ln/>
        </p:spPr>
      </p:sp>
      <p:sp>
        <p:nvSpPr>
          <p:cNvPr id="22" name="Text 20"/>
          <p:cNvSpPr/>
          <p:nvPr/>
        </p:nvSpPr>
        <p:spPr>
          <a:xfrm>
            <a:off x="6355080" y="2194560"/>
            <a:ext cx="640080" cy="640080"/>
          </a:xfrm>
          <a:prstGeom prst="rect">
            <a:avLst/>
          </a:prstGeom>
          <a:noFill/>
          <a:ln/>
        </p:spPr>
        <p:txBody>
          <a:bodyPr wrap="square" rtlCol="0" anchor="ctr"/>
          <a:lstStyle/>
          <a:p>
            <a:pPr algn="ctr" indent="0" marL="0">
              <a:buNone/>
            </a:pPr>
            <a:r>
              <a:rPr lang="en-US" sz="1800" b="1" dirty="0">
                <a:solidFill>
                  <a:srgbClr val="F59E0B"/>
                </a:solidFill>
                <a:latin typeface="Calibri" pitchFamily="34" charset="0"/>
                <a:ea typeface="Calibri" pitchFamily="34" charset="-122"/>
                <a:cs typeface="Calibri" pitchFamily="34" charset="-120"/>
              </a:rPr>
              <a:t>03</a:t>
            </a:r>
            <a:endParaRPr lang="en-US" sz="1800" dirty="0"/>
          </a:p>
        </p:txBody>
      </p:sp>
      <p:sp>
        <p:nvSpPr>
          <p:cNvPr id="23" name="Text 21"/>
          <p:cNvSpPr/>
          <p:nvPr/>
        </p:nvSpPr>
        <p:spPr>
          <a:xfrm>
            <a:off x="6355080" y="3017520"/>
            <a:ext cx="2103120" cy="64008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Cấp Vé &amp; Mã May Mắn</a:t>
            </a:r>
            <a:endParaRPr lang="en-US" sz="1350" dirty="0"/>
          </a:p>
        </p:txBody>
      </p:sp>
      <p:sp>
        <p:nvSpPr>
          <p:cNvPr id="24" name="Text 22"/>
          <p:cNvSpPr/>
          <p:nvPr/>
        </p:nvSpPr>
        <p:spPr>
          <a:xfrm>
            <a:off x="6355080" y="374904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Khởi tạo vé QR độc bản và cấp tự động Mã số May mắn Lucky Draw định dạng #XXXX.</a:t>
            </a:r>
            <a:endParaRPr lang="en-US" sz="1150" dirty="0"/>
          </a:p>
        </p:txBody>
      </p:sp>
      <p:sp>
        <p:nvSpPr>
          <p:cNvPr id="25" name="Shape 23"/>
          <p:cNvSpPr/>
          <p:nvPr/>
        </p:nvSpPr>
        <p:spPr>
          <a:xfrm>
            <a:off x="8823960" y="1920240"/>
            <a:ext cx="2560320" cy="4206240"/>
          </a:xfrm>
          <a:prstGeom prst="rect">
            <a:avLst/>
          </a:prstGeom>
          <a:solidFill>
            <a:srgbClr val="FFFFFF"/>
          </a:solidFill>
          <a:ln w="15240">
            <a:solidFill>
              <a:srgbClr val="E2E8F0"/>
            </a:solidFill>
            <a:prstDash val="solid"/>
          </a:ln>
        </p:spPr>
      </p:sp>
      <p:sp>
        <p:nvSpPr>
          <p:cNvPr id="26" name="Shape 24"/>
          <p:cNvSpPr/>
          <p:nvPr/>
        </p:nvSpPr>
        <p:spPr>
          <a:xfrm>
            <a:off x="9052560" y="2194560"/>
            <a:ext cx="640080" cy="640080"/>
          </a:xfrm>
          <a:prstGeom prst="rect">
            <a:avLst/>
          </a:prstGeom>
          <a:solidFill>
            <a:srgbClr val="003B95"/>
          </a:solidFill>
          <a:ln/>
        </p:spPr>
      </p:sp>
      <p:sp>
        <p:nvSpPr>
          <p:cNvPr id="27" name="Text 25"/>
          <p:cNvSpPr/>
          <p:nvPr/>
        </p:nvSpPr>
        <p:spPr>
          <a:xfrm>
            <a:off x="9052560" y="2194560"/>
            <a:ext cx="640080" cy="640080"/>
          </a:xfrm>
          <a:prstGeom prst="rect">
            <a:avLst/>
          </a:prstGeom>
          <a:noFill/>
          <a:ln/>
        </p:spPr>
        <p:txBody>
          <a:bodyPr wrap="square" rtlCol="0" anchor="ctr"/>
          <a:lstStyle/>
          <a:p>
            <a:pPr algn="ctr" indent="0" marL="0">
              <a:buNone/>
            </a:pPr>
            <a:r>
              <a:rPr lang="en-US" sz="1800" b="1" dirty="0">
                <a:solidFill>
                  <a:srgbClr val="F59E0B"/>
                </a:solidFill>
                <a:latin typeface="Calibri" pitchFamily="34" charset="0"/>
                <a:ea typeface="Calibri" pitchFamily="34" charset="-122"/>
                <a:cs typeface="Calibri" pitchFamily="34" charset="-120"/>
              </a:rPr>
              <a:t>04</a:t>
            </a:r>
            <a:endParaRPr lang="en-US" sz="1800" dirty="0"/>
          </a:p>
        </p:txBody>
      </p:sp>
      <p:sp>
        <p:nvSpPr>
          <p:cNvPr id="28" name="Text 26"/>
          <p:cNvSpPr/>
          <p:nvPr/>
        </p:nvSpPr>
        <p:spPr>
          <a:xfrm>
            <a:off x="9052560" y="3017520"/>
            <a:ext cx="2103120" cy="64008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Giao Vé Đa Kênh Tức Thì</a:t>
            </a:r>
            <a:endParaRPr lang="en-US" sz="1350" dirty="0"/>
          </a:p>
        </p:txBody>
      </p:sp>
      <p:sp>
        <p:nvSpPr>
          <p:cNvPr id="29" name="Text 27"/>
          <p:cNvSpPr/>
          <p:nvPr/>
        </p:nvSpPr>
        <p:spPr>
          <a:xfrm>
            <a:off x="9052560" y="374904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Bắn thông báo đẩy cá nhân và gửi thẻ vé tương tác trực tiếp vào Hộp thư Tin nhắn App.</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KẾT NỐI GIAO THƯƠNG</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Sàn Giao Thương B2B Nội Bộ &amp; Khớp Nhu Cầu Matching</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Tối ưu hóa dòng tiền và doanh thu thông qua chuỗi cung ứng khép kín giữa các hội viên</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33832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3383280" cy="91440"/>
          </a:xfrm>
          <a:prstGeom prst="rect">
            <a:avLst/>
          </a:prstGeom>
          <a:solidFill>
            <a:srgbClr val="003B95"/>
          </a:solidFill>
          <a:ln/>
        </p:spPr>
      </p:sp>
      <p:sp>
        <p:nvSpPr>
          <p:cNvPr id="12" name="Text 10"/>
          <p:cNvSpPr/>
          <p:nvPr/>
        </p:nvSpPr>
        <p:spPr>
          <a:xfrm>
            <a:off x="1005840" y="2194560"/>
            <a:ext cx="2834640" cy="548640"/>
          </a:xfrm>
          <a:prstGeom prst="rect">
            <a:avLst/>
          </a:prstGeom>
          <a:noFill/>
          <a:ln/>
        </p:spPr>
        <p:txBody>
          <a:bodyPr wrap="square" rtlCol="0" anchor="ctr"/>
          <a:lstStyle/>
          <a:p>
            <a:pPr indent="0" marL="0">
              <a:buNone/>
            </a:pPr>
            <a:r>
              <a:rPr lang="en-US" sz="1450" b="1" dirty="0">
                <a:solidFill>
                  <a:srgbClr val="003B95"/>
                </a:solidFill>
                <a:latin typeface="Calibri" pitchFamily="34" charset="0"/>
                <a:ea typeface="Calibri" pitchFamily="34" charset="-122"/>
                <a:cs typeface="Calibri" pitchFamily="34" charset="-120"/>
              </a:rPr>
              <a:t>Sàn Sản Phẩm &amp; Dịch Vụ B2B</a:t>
            </a:r>
            <a:endParaRPr lang="en-US" sz="1450" dirty="0"/>
          </a:p>
        </p:txBody>
      </p:sp>
      <p:sp>
        <p:nvSpPr>
          <p:cNvPr id="13" name="Text 11"/>
          <p:cNvSpPr/>
          <p:nvPr/>
        </p:nvSpPr>
        <p:spPr>
          <a:xfrm>
            <a:off x="1005840" y="2834640"/>
            <a:ext cx="2834640" cy="219456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Hội viên đăng tải sản phẩm, dịch vụ doanh nghiệp với mức chiết khấu ưu đãi nội bộ (Member Deal). Kiểm duyệt bảo đảm chất lượng pháp nhân từ Ban Thư ký.</a:t>
            </a:r>
            <a:endParaRPr lang="en-US" sz="1200" dirty="0"/>
          </a:p>
        </p:txBody>
      </p:sp>
      <p:sp>
        <p:nvSpPr>
          <p:cNvPr id="14" name="Shape 12"/>
          <p:cNvSpPr/>
          <p:nvPr/>
        </p:nvSpPr>
        <p:spPr>
          <a:xfrm>
            <a:off x="1005840" y="5212080"/>
            <a:ext cx="2834640" cy="548640"/>
          </a:xfrm>
          <a:prstGeom prst="rect">
            <a:avLst/>
          </a:prstGeom>
          <a:solidFill>
            <a:srgbClr val="F8FAFC"/>
          </a:solidFill>
          <a:ln/>
        </p:spPr>
      </p:sp>
      <p:sp>
        <p:nvSpPr>
          <p:cNvPr id="15" name="Text 13"/>
          <p:cNvSpPr/>
          <p:nvPr/>
        </p:nvSpPr>
        <p:spPr>
          <a:xfrm>
            <a:off x="1005840" y="5212080"/>
            <a:ext cx="2834640" cy="548640"/>
          </a:xfrm>
          <a:prstGeom prst="rect">
            <a:avLst/>
          </a:prstGeom>
          <a:noFill/>
          <a:ln/>
        </p:spPr>
        <p:txBody>
          <a:bodyPr wrap="square" rtlCol="0" anchor="ctr"/>
          <a:lstStyle/>
          <a:p>
            <a:pPr algn="ctr" indent="0" marL="0">
              <a:buNone/>
            </a:pPr>
            <a:r>
              <a:rPr lang="en-US" sz="1100" b="1" dirty="0">
                <a:solidFill>
                  <a:srgbClr val="003B95"/>
                </a:solidFill>
                <a:latin typeface="Calibri" pitchFamily="34" charset="0"/>
                <a:ea typeface="Calibri" pitchFamily="34" charset="-122"/>
                <a:cs typeface="Calibri" pitchFamily="34" charset="-120"/>
              </a:rPr>
              <a:t>★  Hơn 50+ Ngành nghề chủ đạo</a:t>
            </a:r>
            <a:endParaRPr lang="en-US" sz="1100" dirty="0"/>
          </a:p>
        </p:txBody>
      </p:sp>
      <p:sp>
        <p:nvSpPr>
          <p:cNvPr id="16" name="Shape 14"/>
          <p:cNvSpPr/>
          <p:nvPr/>
        </p:nvSpPr>
        <p:spPr>
          <a:xfrm>
            <a:off x="4389120" y="1920240"/>
            <a:ext cx="3383280" cy="4206240"/>
          </a:xfrm>
          <a:prstGeom prst="rect">
            <a:avLst/>
          </a:prstGeom>
          <a:solidFill>
            <a:srgbClr val="FFFFFF"/>
          </a:solidFill>
          <a:ln w="15240">
            <a:solidFill>
              <a:srgbClr val="E2E8F0"/>
            </a:solidFill>
            <a:prstDash val="solid"/>
          </a:ln>
        </p:spPr>
      </p:sp>
      <p:sp>
        <p:nvSpPr>
          <p:cNvPr id="17" name="Shape 15"/>
          <p:cNvSpPr/>
          <p:nvPr/>
        </p:nvSpPr>
        <p:spPr>
          <a:xfrm>
            <a:off x="4389120" y="1920240"/>
            <a:ext cx="3383280" cy="91440"/>
          </a:xfrm>
          <a:prstGeom prst="rect">
            <a:avLst/>
          </a:prstGeom>
          <a:solidFill>
            <a:srgbClr val="F59E0B"/>
          </a:solidFill>
          <a:ln/>
        </p:spPr>
      </p:sp>
      <p:sp>
        <p:nvSpPr>
          <p:cNvPr id="18" name="Text 16"/>
          <p:cNvSpPr/>
          <p:nvPr/>
        </p:nvSpPr>
        <p:spPr>
          <a:xfrm>
            <a:off x="4663440" y="2194560"/>
            <a:ext cx="2834640" cy="548640"/>
          </a:xfrm>
          <a:prstGeom prst="rect">
            <a:avLst/>
          </a:prstGeom>
          <a:noFill/>
          <a:ln/>
        </p:spPr>
        <p:txBody>
          <a:bodyPr wrap="square" rtlCol="0" anchor="ctr"/>
          <a:lstStyle/>
          <a:p>
            <a:pPr indent="0" marL="0">
              <a:buNone/>
            </a:pPr>
            <a:r>
              <a:rPr lang="en-US" sz="1450" b="1" dirty="0">
                <a:solidFill>
                  <a:srgbClr val="003B95"/>
                </a:solidFill>
                <a:latin typeface="Calibri" pitchFamily="34" charset="0"/>
                <a:ea typeface="Calibri" pitchFamily="34" charset="-122"/>
                <a:cs typeface="Calibri" pitchFamily="34" charset="-120"/>
              </a:rPr>
              <a:t>Bảng Tin Cơ Hội (Needs &amp; Offers)</a:t>
            </a:r>
            <a:endParaRPr lang="en-US" sz="1450" dirty="0"/>
          </a:p>
        </p:txBody>
      </p:sp>
      <p:sp>
        <p:nvSpPr>
          <p:cNvPr id="19" name="Text 17"/>
          <p:cNvSpPr/>
          <p:nvPr/>
        </p:nvSpPr>
        <p:spPr>
          <a:xfrm>
            <a:off x="4663440" y="2834640"/>
            <a:ext cx="2834640" cy="219456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Mô hình Cần Mua - Cần Bán minh bạch. Hội viên đăng tin chào thầu, tìm kiếm đối tác cung ứng và phản hồi chào giá (Send Quote) trực tiếp trên app.</a:t>
            </a:r>
            <a:endParaRPr lang="en-US" sz="1200" dirty="0"/>
          </a:p>
        </p:txBody>
      </p:sp>
      <p:sp>
        <p:nvSpPr>
          <p:cNvPr id="20" name="Shape 18"/>
          <p:cNvSpPr/>
          <p:nvPr/>
        </p:nvSpPr>
        <p:spPr>
          <a:xfrm>
            <a:off x="4663440" y="5212080"/>
            <a:ext cx="2834640" cy="548640"/>
          </a:xfrm>
          <a:prstGeom prst="rect">
            <a:avLst/>
          </a:prstGeom>
          <a:solidFill>
            <a:srgbClr val="F8FAFC"/>
          </a:solidFill>
          <a:ln/>
        </p:spPr>
      </p:sp>
      <p:sp>
        <p:nvSpPr>
          <p:cNvPr id="21" name="Text 19"/>
          <p:cNvSpPr/>
          <p:nvPr/>
        </p:nvSpPr>
        <p:spPr>
          <a:xfrm>
            <a:off x="4663440" y="5212080"/>
            <a:ext cx="2834640" cy="548640"/>
          </a:xfrm>
          <a:prstGeom prst="rect">
            <a:avLst/>
          </a:prstGeom>
          <a:noFill/>
          <a:ln/>
        </p:spPr>
        <p:txBody>
          <a:bodyPr wrap="square" rtlCol="0" anchor="ctr"/>
          <a:lstStyle/>
          <a:p>
            <a:pPr algn="ctr" indent="0" marL="0">
              <a:buNone/>
            </a:pPr>
            <a:r>
              <a:rPr lang="en-US" sz="1100" b="1" dirty="0">
                <a:solidFill>
                  <a:srgbClr val="003B95"/>
                </a:solidFill>
                <a:latin typeface="Calibri" pitchFamily="34" charset="0"/>
                <a:ea typeface="Calibri" pitchFamily="34" charset="-122"/>
                <a:cs typeface="Calibri" pitchFamily="34" charset="-120"/>
              </a:rPr>
              <a:t>★  Kết nối trực tiếp Chủ tịch &amp; CEO</a:t>
            </a:r>
            <a:endParaRPr lang="en-US" sz="1100" dirty="0"/>
          </a:p>
        </p:txBody>
      </p:sp>
      <p:sp>
        <p:nvSpPr>
          <p:cNvPr id="22" name="Shape 20"/>
          <p:cNvSpPr/>
          <p:nvPr/>
        </p:nvSpPr>
        <p:spPr>
          <a:xfrm>
            <a:off x="8046720" y="1920240"/>
            <a:ext cx="3383280" cy="4206240"/>
          </a:xfrm>
          <a:prstGeom prst="rect">
            <a:avLst/>
          </a:prstGeom>
          <a:solidFill>
            <a:srgbClr val="FFFFFF"/>
          </a:solidFill>
          <a:ln w="15240">
            <a:solidFill>
              <a:srgbClr val="E2E8F0"/>
            </a:solidFill>
            <a:prstDash val="solid"/>
          </a:ln>
        </p:spPr>
      </p:sp>
      <p:sp>
        <p:nvSpPr>
          <p:cNvPr id="23" name="Shape 21"/>
          <p:cNvSpPr/>
          <p:nvPr/>
        </p:nvSpPr>
        <p:spPr>
          <a:xfrm>
            <a:off x="8046720" y="1920240"/>
            <a:ext cx="3383280" cy="91440"/>
          </a:xfrm>
          <a:prstGeom prst="rect">
            <a:avLst/>
          </a:prstGeom>
          <a:solidFill>
            <a:srgbClr val="059669"/>
          </a:solidFill>
          <a:ln/>
        </p:spPr>
      </p:sp>
      <p:sp>
        <p:nvSpPr>
          <p:cNvPr id="24" name="Text 22"/>
          <p:cNvSpPr/>
          <p:nvPr/>
        </p:nvSpPr>
        <p:spPr>
          <a:xfrm>
            <a:off x="8321040" y="2194560"/>
            <a:ext cx="2834640" cy="548640"/>
          </a:xfrm>
          <a:prstGeom prst="rect">
            <a:avLst/>
          </a:prstGeom>
          <a:noFill/>
          <a:ln/>
        </p:spPr>
        <p:txBody>
          <a:bodyPr wrap="square" rtlCol="0" anchor="ctr"/>
          <a:lstStyle/>
          <a:p>
            <a:pPr indent="0" marL="0">
              <a:buNone/>
            </a:pPr>
            <a:r>
              <a:rPr lang="en-US" sz="1450" b="1" dirty="0">
                <a:solidFill>
                  <a:srgbClr val="003B95"/>
                </a:solidFill>
                <a:latin typeface="Calibri" pitchFamily="34" charset="0"/>
                <a:ea typeface="Calibri" pitchFamily="34" charset="-122"/>
                <a:cs typeface="Calibri" pitchFamily="34" charset="-120"/>
              </a:rPr>
              <a:t>Claim Cơ Hội &amp; Ghi Nhận Doanh Thu</a:t>
            </a:r>
            <a:endParaRPr lang="en-US" sz="1450" dirty="0"/>
          </a:p>
        </p:txBody>
      </p:sp>
      <p:sp>
        <p:nvSpPr>
          <p:cNvPr id="25" name="Text 23"/>
          <p:cNvSpPr/>
          <p:nvPr/>
        </p:nvSpPr>
        <p:spPr>
          <a:xfrm>
            <a:off x="8321040" y="2834640"/>
            <a:ext cx="2834640" cy="219456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Khi hai bên chốt hợp đồng thành công, thao tác Claim cơ hội tự động ghi nhận điểm giao thương và cập nhật vào Bảng Vinh Danh Doanh Số Hiệp Hội.</a:t>
            </a:r>
            <a:endParaRPr lang="en-US" sz="1200" dirty="0"/>
          </a:p>
        </p:txBody>
      </p:sp>
      <p:sp>
        <p:nvSpPr>
          <p:cNvPr id="26" name="Shape 24"/>
          <p:cNvSpPr/>
          <p:nvPr/>
        </p:nvSpPr>
        <p:spPr>
          <a:xfrm>
            <a:off x="8321040" y="5212080"/>
            <a:ext cx="2834640" cy="548640"/>
          </a:xfrm>
          <a:prstGeom prst="rect">
            <a:avLst/>
          </a:prstGeom>
          <a:solidFill>
            <a:srgbClr val="F8FAFC"/>
          </a:solidFill>
          <a:ln/>
        </p:spPr>
      </p:sp>
      <p:sp>
        <p:nvSpPr>
          <p:cNvPr id="27" name="Text 25"/>
          <p:cNvSpPr/>
          <p:nvPr/>
        </p:nvSpPr>
        <p:spPr>
          <a:xfrm>
            <a:off x="8321040" y="5212080"/>
            <a:ext cx="2834640" cy="548640"/>
          </a:xfrm>
          <a:prstGeom prst="rect">
            <a:avLst/>
          </a:prstGeom>
          <a:noFill/>
          <a:ln/>
        </p:spPr>
        <p:txBody>
          <a:bodyPr wrap="square" rtlCol="0" anchor="ctr"/>
          <a:lstStyle/>
          <a:p>
            <a:pPr algn="ctr" indent="0" marL="0">
              <a:buNone/>
            </a:pPr>
            <a:r>
              <a:rPr lang="en-US" sz="1100" b="1" dirty="0">
                <a:solidFill>
                  <a:srgbClr val="003B95"/>
                </a:solidFill>
                <a:latin typeface="Calibri" pitchFamily="34" charset="0"/>
                <a:ea typeface="Calibri" pitchFamily="34" charset="-122"/>
                <a:cs typeface="Calibri" pitchFamily="34" charset="-120"/>
              </a:rPr>
              <a:t>★  Minh bạch KPI đóng góp CLB</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TƯƠNG TÁC THỜI GIAN THỰC</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Mạng Xã Hội Doanh Nhân, Khoảnh Khắc &amp; Tin Nhắn 1-on-1</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Không gian số riêng tư, văn minh dành riêng cho Lãnh đạo cấp cao CEO 1983</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52120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5212080" cy="457200"/>
          </a:xfrm>
          <a:prstGeom prst="rect">
            <a:avLst/>
          </a:prstGeom>
          <a:solidFill>
            <a:srgbClr val="EFF6FF"/>
          </a:solidFill>
          <a:ln/>
        </p:spPr>
      </p:sp>
      <p:sp>
        <p:nvSpPr>
          <p:cNvPr id="12" name="Text 10"/>
          <p:cNvSpPr/>
          <p:nvPr/>
        </p:nvSpPr>
        <p:spPr>
          <a:xfrm>
            <a:off x="1005840" y="1920240"/>
            <a:ext cx="4663440" cy="45720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Bảng Tin Khoảnh Khắc (Moments)</a:t>
            </a:r>
            <a:endParaRPr lang="en-US" sz="1350" dirty="0"/>
          </a:p>
        </p:txBody>
      </p:sp>
      <p:sp>
        <p:nvSpPr>
          <p:cNvPr id="13" name="Text 11"/>
          <p:cNvSpPr/>
          <p:nvPr/>
        </p:nvSpPr>
        <p:spPr>
          <a:xfrm>
            <a:off x="1005840" y="260604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Chia sẻ thành tựu ký kết hợp đồng, giải thưởng doanh nghiệp.</a:t>
            </a:r>
            <a:endParaRPr lang="en-US" sz="1200" dirty="0"/>
          </a:p>
        </p:txBody>
      </p:sp>
      <p:sp>
        <p:nvSpPr>
          <p:cNvPr id="14" name="Text 12"/>
          <p:cNvSpPr/>
          <p:nvPr/>
        </p:nvSpPr>
        <p:spPr>
          <a:xfrm>
            <a:off x="1005840" y="342900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Bình luận dạng cây phân cấp đa tầng (Nested Comments).</a:t>
            </a:r>
            <a:endParaRPr lang="en-US" sz="1200" dirty="0"/>
          </a:p>
        </p:txBody>
      </p:sp>
      <p:sp>
        <p:nvSpPr>
          <p:cNvPr id="15" name="Text 13"/>
          <p:cNvSpPr/>
          <p:nvPr/>
        </p:nvSpPr>
        <p:spPr>
          <a:xfrm>
            <a:off x="1005840" y="425196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Tương tác thả tim, chia sẻ cơ hội trực tiếp trên dòng thời gian.</a:t>
            </a:r>
            <a:endParaRPr lang="en-US" sz="1200" dirty="0"/>
          </a:p>
        </p:txBody>
      </p:sp>
      <p:sp>
        <p:nvSpPr>
          <p:cNvPr id="16" name="Text 14"/>
          <p:cNvSpPr/>
          <p:nvPr/>
        </p:nvSpPr>
        <p:spPr>
          <a:xfrm>
            <a:off x="1005840" y="507492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Chế độ xem video ngắn và hình ảnh chất lượng cao 4K.</a:t>
            </a:r>
            <a:endParaRPr lang="en-US" sz="1200" dirty="0"/>
          </a:p>
        </p:txBody>
      </p:sp>
      <p:sp>
        <p:nvSpPr>
          <p:cNvPr id="17" name="Shape 15"/>
          <p:cNvSpPr/>
          <p:nvPr/>
        </p:nvSpPr>
        <p:spPr>
          <a:xfrm>
            <a:off x="6217920" y="1920240"/>
            <a:ext cx="5212080" cy="4206240"/>
          </a:xfrm>
          <a:prstGeom prst="rect">
            <a:avLst/>
          </a:prstGeom>
          <a:solidFill>
            <a:srgbClr val="FFFFFF"/>
          </a:solidFill>
          <a:ln w="15240">
            <a:solidFill>
              <a:srgbClr val="E2E8F0"/>
            </a:solidFill>
            <a:prstDash val="solid"/>
          </a:ln>
        </p:spPr>
      </p:sp>
      <p:sp>
        <p:nvSpPr>
          <p:cNvPr id="18" name="Shape 16"/>
          <p:cNvSpPr/>
          <p:nvPr/>
        </p:nvSpPr>
        <p:spPr>
          <a:xfrm>
            <a:off x="6217920" y="1920240"/>
            <a:ext cx="5212080" cy="457200"/>
          </a:xfrm>
          <a:prstGeom prst="rect">
            <a:avLst/>
          </a:prstGeom>
          <a:solidFill>
            <a:srgbClr val="EFF6FF"/>
          </a:solidFill>
          <a:ln/>
        </p:spPr>
      </p:sp>
      <p:sp>
        <p:nvSpPr>
          <p:cNvPr id="19" name="Text 17"/>
          <p:cNvSpPr/>
          <p:nvPr/>
        </p:nvSpPr>
        <p:spPr>
          <a:xfrm>
            <a:off x="6492240" y="1920240"/>
            <a:ext cx="4663440" cy="45720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Tin Nhắn Kết Nối Doanh Nghiệp (DM)</a:t>
            </a:r>
            <a:endParaRPr lang="en-US" sz="1350" dirty="0"/>
          </a:p>
        </p:txBody>
      </p:sp>
      <p:sp>
        <p:nvSpPr>
          <p:cNvPr id="20" name="Text 18"/>
          <p:cNvSpPr/>
          <p:nvPr/>
        </p:nvSpPr>
        <p:spPr>
          <a:xfrm>
            <a:off x="6492240" y="260604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Trao đổi bảo mật 1-1 giữa các Chủ tịch &amp; Tổng Giám đốc.</a:t>
            </a:r>
            <a:endParaRPr lang="en-US" sz="1200" dirty="0"/>
          </a:p>
        </p:txBody>
      </p:sp>
      <p:sp>
        <p:nvSpPr>
          <p:cNvPr id="21" name="Text 19"/>
          <p:cNvSpPr/>
          <p:nvPr/>
        </p:nvSpPr>
        <p:spPr>
          <a:xfrm>
            <a:off x="6492240" y="342900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Gửi danh thiếp điện tử, vị trí công ty và file tài liệu chào thầu.</a:t>
            </a:r>
            <a:endParaRPr lang="en-US" sz="1200" dirty="0"/>
          </a:p>
        </p:txBody>
      </p:sp>
      <p:sp>
        <p:nvSpPr>
          <p:cNvPr id="22" name="Text 20"/>
          <p:cNvSpPr/>
          <p:nvPr/>
        </p:nvSpPr>
        <p:spPr>
          <a:xfrm>
            <a:off x="6492240" y="425196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Nhận vé sự kiện tương tác và thẻ thông báo chính thức từ Ban Thư ký.</a:t>
            </a:r>
            <a:endParaRPr lang="en-US" sz="1200" dirty="0"/>
          </a:p>
        </p:txBody>
      </p:sp>
      <p:sp>
        <p:nvSpPr>
          <p:cNvPr id="23" name="Text 21"/>
          <p:cNvSpPr/>
          <p:nvPr/>
        </p:nvSpPr>
        <p:spPr>
          <a:xfrm>
            <a:off x="6492240" y="507492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Cuộc gọi thoại bảo mật nội bộ qua nền tảng WebRTC.</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HOẠT ĐỘNG TƯƠNG TÁC ĐẠI HỘI</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Bình Chọn Live Voting &amp; Vòng Quay May Mắn Lucky Draw</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Công nghệ số hóa thời gian thực phục vụ Đại hội thường niên và Gala CEO 1983</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52120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5212080" cy="457200"/>
          </a:xfrm>
          <a:prstGeom prst="rect">
            <a:avLst/>
          </a:prstGeom>
          <a:solidFill>
            <a:srgbClr val="EFF6FF"/>
          </a:solidFill>
          <a:ln/>
        </p:spPr>
      </p:sp>
      <p:sp>
        <p:nvSpPr>
          <p:cNvPr id="12" name="Text 10"/>
          <p:cNvSpPr/>
          <p:nvPr/>
        </p:nvSpPr>
        <p:spPr>
          <a:xfrm>
            <a:off x="1005840" y="1920240"/>
            <a:ext cx="4663440" cy="45720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Biểu Quyết &amp; Bầu Cử Trực Tiếp (Live Voting)</a:t>
            </a:r>
            <a:endParaRPr lang="en-US" sz="1350" dirty="0"/>
          </a:p>
        </p:txBody>
      </p:sp>
      <p:sp>
        <p:nvSpPr>
          <p:cNvPr id="13" name="Text 11"/>
          <p:cNvSpPr/>
          <p:nvPr/>
        </p:nvSpPr>
        <p:spPr>
          <a:xfrm>
            <a:off x="1005840" y="260604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Biểu quyết bầu Ban Chấp Hành, Nghị quyết và giải thưởng Gala.</a:t>
            </a:r>
            <a:endParaRPr lang="en-US" sz="1200" dirty="0"/>
          </a:p>
        </p:txBody>
      </p:sp>
      <p:sp>
        <p:nvSpPr>
          <p:cNvPr id="14" name="Text 12"/>
          <p:cNvSpPr/>
          <p:nvPr/>
        </p:nvSpPr>
        <p:spPr>
          <a:xfrm>
            <a:off x="1005840" y="342900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Hiển thị thông báo biểu quyết pop-up tức thì trên toàn bộ app hội viên.</a:t>
            </a:r>
            <a:endParaRPr lang="en-US" sz="1200" dirty="0"/>
          </a:p>
        </p:txBody>
      </p:sp>
      <p:sp>
        <p:nvSpPr>
          <p:cNvPr id="15" name="Text 13"/>
          <p:cNvSpPr/>
          <p:nvPr/>
        </p:nvSpPr>
        <p:spPr>
          <a:xfrm>
            <a:off x="1005840" y="425196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Khóa bình chọn tự động chống gian lận, 1 hội viên = 1 phiếu hợp lệ.</a:t>
            </a:r>
            <a:endParaRPr lang="en-US" sz="1200" dirty="0"/>
          </a:p>
        </p:txBody>
      </p:sp>
      <p:sp>
        <p:nvSpPr>
          <p:cNvPr id="16" name="Text 14"/>
          <p:cNvSpPr/>
          <p:nvPr/>
        </p:nvSpPr>
        <p:spPr>
          <a:xfrm>
            <a:off x="1005840" y="507492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Biểu đồ kết quả trực tiếp hiển thị đồng thời lên màn hình LED hội trường.</a:t>
            </a:r>
            <a:endParaRPr lang="en-US" sz="1200" dirty="0"/>
          </a:p>
        </p:txBody>
      </p:sp>
      <p:sp>
        <p:nvSpPr>
          <p:cNvPr id="17" name="Shape 15"/>
          <p:cNvSpPr/>
          <p:nvPr/>
        </p:nvSpPr>
        <p:spPr>
          <a:xfrm>
            <a:off x="6217920" y="1920240"/>
            <a:ext cx="5212080" cy="4206240"/>
          </a:xfrm>
          <a:prstGeom prst="rect">
            <a:avLst/>
          </a:prstGeom>
          <a:solidFill>
            <a:srgbClr val="FFFFFF"/>
          </a:solidFill>
          <a:ln w="15240">
            <a:solidFill>
              <a:srgbClr val="E2E8F0"/>
            </a:solidFill>
            <a:prstDash val="solid"/>
          </a:ln>
        </p:spPr>
      </p:sp>
      <p:sp>
        <p:nvSpPr>
          <p:cNvPr id="18" name="Shape 16"/>
          <p:cNvSpPr/>
          <p:nvPr/>
        </p:nvSpPr>
        <p:spPr>
          <a:xfrm>
            <a:off x="6217920" y="1920240"/>
            <a:ext cx="5212080" cy="457200"/>
          </a:xfrm>
          <a:prstGeom prst="rect">
            <a:avLst/>
          </a:prstGeom>
          <a:solidFill>
            <a:srgbClr val="FEF3C7"/>
          </a:solidFill>
          <a:ln/>
        </p:spPr>
      </p:sp>
      <p:sp>
        <p:nvSpPr>
          <p:cNvPr id="19" name="Text 17"/>
          <p:cNvSpPr/>
          <p:nvPr/>
        </p:nvSpPr>
        <p:spPr>
          <a:xfrm>
            <a:off x="6492240" y="1920240"/>
            <a:ext cx="4663440" cy="457200"/>
          </a:xfrm>
          <a:prstGeom prst="rect">
            <a:avLst/>
          </a:prstGeom>
          <a:noFill/>
          <a:ln/>
        </p:spPr>
        <p:txBody>
          <a:bodyPr wrap="square" rtlCol="0" anchor="ctr"/>
          <a:lstStyle/>
          <a:p>
            <a:pPr indent="0" marL="0">
              <a:buNone/>
            </a:pPr>
            <a:r>
              <a:rPr lang="en-US" sz="1350" b="1" dirty="0">
                <a:solidFill>
                  <a:srgbClr val="D97706"/>
                </a:solidFill>
                <a:latin typeface="Calibri" pitchFamily="34" charset="0"/>
                <a:ea typeface="Calibri" pitchFamily="34" charset="-122"/>
                <a:cs typeface="Calibri" pitchFamily="34" charset="-120"/>
              </a:rPr>
              <a:t>Quay Số May Mắn Theo Vé (Lucky Draw)</a:t>
            </a:r>
            <a:endParaRPr lang="en-US" sz="1350" dirty="0"/>
          </a:p>
        </p:txBody>
      </p:sp>
      <p:sp>
        <p:nvSpPr>
          <p:cNvPr id="20" name="Text 18"/>
          <p:cNvSpPr/>
          <p:nvPr/>
        </p:nvSpPr>
        <p:spPr>
          <a:xfrm>
            <a:off x="6492240" y="260604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Quay thưởng tự động theo Mã số May mắn #XXXX trên vé sự kiện.</a:t>
            </a:r>
            <a:endParaRPr lang="en-US" sz="1200" dirty="0"/>
          </a:p>
        </p:txBody>
      </p:sp>
      <p:sp>
        <p:nvSpPr>
          <p:cNvPr id="21" name="Text 19"/>
          <p:cNvSpPr/>
          <p:nvPr/>
        </p:nvSpPr>
        <p:spPr>
          <a:xfrm>
            <a:off x="6492240" y="342900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Hiệu ứng âm thanh, đồ họa vòng quay số kịch tính trên màn hình LED.</a:t>
            </a:r>
            <a:endParaRPr lang="en-US" sz="1200" dirty="0"/>
          </a:p>
        </p:txBody>
      </p:sp>
      <p:sp>
        <p:nvSpPr>
          <p:cNvPr id="22" name="Text 20"/>
          <p:cNvSpPr/>
          <p:nvPr/>
        </p:nvSpPr>
        <p:spPr>
          <a:xfrm>
            <a:off x="6492240" y="425196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Khi trúng thưởng: Hệ thống tự động bắn thông báo chúc mừng về App.</a:t>
            </a:r>
            <a:endParaRPr lang="en-US" sz="1200" dirty="0"/>
          </a:p>
        </p:txBody>
      </p:sp>
      <p:sp>
        <p:nvSpPr>
          <p:cNvPr id="23" name="Text 21"/>
          <p:cNvSpPr/>
          <p:nvPr/>
        </p:nvSpPr>
        <p:spPr>
          <a:xfrm>
            <a:off x="6492240" y="507492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Lịch sử trúng giải lưu trữ minh bạch, phục vụ công tác trao giải.</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TRẢI NGHIỆM ĐA NỀN TẢNG</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Cài Đặt Ứng Dụng PWA Trên iOS &amp; Android</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Không cần chờ xét duyệt App Store; cài đặt trong 10 giây với biểu tượng CEO 1983 độc bản</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2560320" cy="4206240"/>
          </a:xfrm>
          <a:prstGeom prst="rect">
            <a:avLst/>
          </a:prstGeom>
          <a:solidFill>
            <a:srgbClr val="FFFFFF"/>
          </a:solidFill>
          <a:ln w="15240">
            <a:solidFill>
              <a:srgbClr val="E2E8F0"/>
            </a:solidFill>
            <a:prstDash val="solid"/>
          </a:ln>
        </p:spPr>
      </p:sp>
      <p:sp>
        <p:nvSpPr>
          <p:cNvPr id="11" name="Shape 9"/>
          <p:cNvSpPr/>
          <p:nvPr/>
        </p:nvSpPr>
        <p:spPr>
          <a:xfrm>
            <a:off x="960120" y="2194560"/>
            <a:ext cx="640080" cy="640080"/>
          </a:xfrm>
          <a:prstGeom prst="rect">
            <a:avLst/>
          </a:prstGeom>
          <a:solidFill>
            <a:srgbClr val="003B95"/>
          </a:solidFill>
          <a:ln/>
        </p:spPr>
      </p:sp>
      <p:sp>
        <p:nvSpPr>
          <p:cNvPr id="12" name="Text 10"/>
          <p:cNvSpPr/>
          <p:nvPr/>
        </p:nvSpPr>
        <p:spPr>
          <a:xfrm>
            <a:off x="960120" y="2194560"/>
            <a:ext cx="640080" cy="640080"/>
          </a:xfrm>
          <a:prstGeom prst="rect">
            <a:avLst/>
          </a:prstGeom>
          <a:noFill/>
          <a:ln/>
        </p:spPr>
        <p:txBody>
          <a:bodyPr wrap="square"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B1</a:t>
            </a:r>
            <a:endParaRPr lang="en-US" sz="1600" dirty="0"/>
          </a:p>
        </p:txBody>
      </p:sp>
      <p:sp>
        <p:nvSpPr>
          <p:cNvPr id="13" name="Text 11"/>
          <p:cNvSpPr/>
          <p:nvPr/>
        </p:nvSpPr>
        <p:spPr>
          <a:xfrm>
            <a:off x="960120" y="3017520"/>
            <a:ext cx="2103120" cy="54864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Truy Cập Safari (iOS)</a:t>
            </a:r>
            <a:endParaRPr lang="en-US" sz="1350" dirty="0"/>
          </a:p>
        </p:txBody>
      </p:sp>
      <p:sp>
        <p:nvSpPr>
          <p:cNvPr id="14" name="Text 12"/>
          <p:cNvSpPr/>
          <p:nvPr/>
        </p:nvSpPr>
        <p:spPr>
          <a:xfrm>
            <a:off x="960120" y="365760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Mở trình duyệt Safari trên iPhone, truy cập địa chỉ hệ thống app hiệp hội.</a:t>
            </a:r>
            <a:endParaRPr lang="en-US" sz="1150" dirty="0"/>
          </a:p>
        </p:txBody>
      </p:sp>
      <p:sp>
        <p:nvSpPr>
          <p:cNvPr id="15" name="Shape 13"/>
          <p:cNvSpPr/>
          <p:nvPr/>
        </p:nvSpPr>
        <p:spPr>
          <a:xfrm>
            <a:off x="3429000" y="1920240"/>
            <a:ext cx="2560320" cy="4206240"/>
          </a:xfrm>
          <a:prstGeom prst="rect">
            <a:avLst/>
          </a:prstGeom>
          <a:solidFill>
            <a:srgbClr val="FFFFFF"/>
          </a:solidFill>
          <a:ln w="15240">
            <a:solidFill>
              <a:srgbClr val="E2E8F0"/>
            </a:solidFill>
            <a:prstDash val="solid"/>
          </a:ln>
        </p:spPr>
      </p:sp>
      <p:sp>
        <p:nvSpPr>
          <p:cNvPr id="16" name="Shape 14"/>
          <p:cNvSpPr/>
          <p:nvPr/>
        </p:nvSpPr>
        <p:spPr>
          <a:xfrm>
            <a:off x="3657600" y="2194560"/>
            <a:ext cx="640080" cy="640080"/>
          </a:xfrm>
          <a:prstGeom prst="rect">
            <a:avLst/>
          </a:prstGeom>
          <a:solidFill>
            <a:srgbClr val="003B95"/>
          </a:solidFill>
          <a:ln/>
        </p:spPr>
      </p:sp>
      <p:sp>
        <p:nvSpPr>
          <p:cNvPr id="17" name="Text 15"/>
          <p:cNvSpPr/>
          <p:nvPr/>
        </p:nvSpPr>
        <p:spPr>
          <a:xfrm>
            <a:off x="3657600" y="2194560"/>
            <a:ext cx="640080" cy="640080"/>
          </a:xfrm>
          <a:prstGeom prst="rect">
            <a:avLst/>
          </a:prstGeom>
          <a:noFill/>
          <a:ln/>
        </p:spPr>
        <p:txBody>
          <a:bodyPr wrap="square"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B2</a:t>
            </a:r>
            <a:endParaRPr lang="en-US" sz="1600" dirty="0"/>
          </a:p>
        </p:txBody>
      </p:sp>
      <p:sp>
        <p:nvSpPr>
          <p:cNvPr id="18" name="Text 16"/>
          <p:cNvSpPr/>
          <p:nvPr/>
        </p:nvSpPr>
        <p:spPr>
          <a:xfrm>
            <a:off x="3657600" y="3017520"/>
            <a:ext cx="2103120" cy="54864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Chọn Nút Chia Sẻ</a:t>
            </a:r>
            <a:endParaRPr lang="en-US" sz="1350" dirty="0"/>
          </a:p>
        </p:txBody>
      </p:sp>
      <p:sp>
        <p:nvSpPr>
          <p:cNvPr id="19" name="Text 17"/>
          <p:cNvSpPr/>
          <p:nvPr/>
        </p:nvSpPr>
        <p:spPr>
          <a:xfrm>
            <a:off x="3657600" y="365760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Nhấn vào biểu tượng Chia Sẻ (hình vuông có mũi tên hướng lên) ở thanh dưới cùng.</a:t>
            </a:r>
            <a:endParaRPr lang="en-US" sz="1150" dirty="0"/>
          </a:p>
        </p:txBody>
      </p:sp>
      <p:sp>
        <p:nvSpPr>
          <p:cNvPr id="20" name="Shape 18"/>
          <p:cNvSpPr/>
          <p:nvPr/>
        </p:nvSpPr>
        <p:spPr>
          <a:xfrm>
            <a:off x="6126480" y="1920240"/>
            <a:ext cx="2560320" cy="4206240"/>
          </a:xfrm>
          <a:prstGeom prst="rect">
            <a:avLst/>
          </a:prstGeom>
          <a:solidFill>
            <a:srgbClr val="FFFFFF"/>
          </a:solidFill>
          <a:ln w="15240">
            <a:solidFill>
              <a:srgbClr val="E2E8F0"/>
            </a:solidFill>
            <a:prstDash val="solid"/>
          </a:ln>
        </p:spPr>
      </p:sp>
      <p:sp>
        <p:nvSpPr>
          <p:cNvPr id="21" name="Shape 19"/>
          <p:cNvSpPr/>
          <p:nvPr/>
        </p:nvSpPr>
        <p:spPr>
          <a:xfrm>
            <a:off x="6355080" y="2194560"/>
            <a:ext cx="640080" cy="640080"/>
          </a:xfrm>
          <a:prstGeom prst="rect">
            <a:avLst/>
          </a:prstGeom>
          <a:solidFill>
            <a:srgbClr val="003B95"/>
          </a:solidFill>
          <a:ln/>
        </p:spPr>
      </p:sp>
      <p:sp>
        <p:nvSpPr>
          <p:cNvPr id="22" name="Text 20"/>
          <p:cNvSpPr/>
          <p:nvPr/>
        </p:nvSpPr>
        <p:spPr>
          <a:xfrm>
            <a:off x="6355080" y="2194560"/>
            <a:ext cx="640080" cy="640080"/>
          </a:xfrm>
          <a:prstGeom prst="rect">
            <a:avLst/>
          </a:prstGeom>
          <a:noFill/>
          <a:ln/>
        </p:spPr>
        <p:txBody>
          <a:bodyPr wrap="square"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B3</a:t>
            </a:r>
            <a:endParaRPr lang="en-US" sz="1600" dirty="0"/>
          </a:p>
        </p:txBody>
      </p:sp>
      <p:sp>
        <p:nvSpPr>
          <p:cNvPr id="23" name="Text 21"/>
          <p:cNvSpPr/>
          <p:nvPr/>
        </p:nvSpPr>
        <p:spPr>
          <a:xfrm>
            <a:off x="6355080" y="3017520"/>
            <a:ext cx="2103120" cy="54864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Thêm Vào Màn Hình Chính</a:t>
            </a:r>
            <a:endParaRPr lang="en-US" sz="1350" dirty="0"/>
          </a:p>
        </p:txBody>
      </p:sp>
      <p:sp>
        <p:nvSpPr>
          <p:cNvPr id="24" name="Text 22"/>
          <p:cNvSpPr/>
          <p:nvPr/>
        </p:nvSpPr>
        <p:spPr>
          <a:xfrm>
            <a:off x="6355080" y="365760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Cuộn xuống và chọn mục "Thêm vào MH chính" (Add to Home Screen).</a:t>
            </a:r>
            <a:endParaRPr lang="en-US" sz="1150" dirty="0"/>
          </a:p>
        </p:txBody>
      </p:sp>
      <p:sp>
        <p:nvSpPr>
          <p:cNvPr id="25" name="Shape 23"/>
          <p:cNvSpPr/>
          <p:nvPr/>
        </p:nvSpPr>
        <p:spPr>
          <a:xfrm>
            <a:off x="8823960" y="1920240"/>
            <a:ext cx="2560320" cy="4206240"/>
          </a:xfrm>
          <a:prstGeom prst="rect">
            <a:avLst/>
          </a:prstGeom>
          <a:solidFill>
            <a:srgbClr val="FFFFFF"/>
          </a:solidFill>
          <a:ln w="15240">
            <a:solidFill>
              <a:srgbClr val="E2E8F0"/>
            </a:solidFill>
            <a:prstDash val="solid"/>
          </a:ln>
        </p:spPr>
      </p:sp>
      <p:sp>
        <p:nvSpPr>
          <p:cNvPr id="26" name="Shape 24"/>
          <p:cNvSpPr/>
          <p:nvPr/>
        </p:nvSpPr>
        <p:spPr>
          <a:xfrm>
            <a:off x="9052560" y="2194560"/>
            <a:ext cx="640080" cy="640080"/>
          </a:xfrm>
          <a:prstGeom prst="rect">
            <a:avLst/>
          </a:prstGeom>
          <a:solidFill>
            <a:srgbClr val="003B95"/>
          </a:solidFill>
          <a:ln/>
        </p:spPr>
      </p:sp>
      <p:sp>
        <p:nvSpPr>
          <p:cNvPr id="27" name="Text 25"/>
          <p:cNvSpPr/>
          <p:nvPr/>
        </p:nvSpPr>
        <p:spPr>
          <a:xfrm>
            <a:off x="9052560" y="2194560"/>
            <a:ext cx="640080" cy="640080"/>
          </a:xfrm>
          <a:prstGeom prst="rect">
            <a:avLst/>
          </a:prstGeom>
          <a:noFill/>
          <a:ln/>
        </p:spPr>
        <p:txBody>
          <a:bodyPr wrap="square"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B4</a:t>
            </a:r>
            <a:endParaRPr lang="en-US" sz="1600" dirty="0"/>
          </a:p>
        </p:txBody>
      </p:sp>
      <p:sp>
        <p:nvSpPr>
          <p:cNvPr id="28" name="Text 26"/>
          <p:cNvSpPr/>
          <p:nvPr/>
        </p:nvSpPr>
        <p:spPr>
          <a:xfrm>
            <a:off x="9052560" y="3017520"/>
            <a:ext cx="2103120" cy="54864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Trải Nghiệm Toàn Màn Hình</a:t>
            </a:r>
            <a:endParaRPr lang="en-US" sz="1350" dirty="0"/>
          </a:p>
        </p:txBody>
      </p:sp>
      <p:sp>
        <p:nvSpPr>
          <p:cNvPr id="29" name="Text 27"/>
          <p:cNvSpPr/>
          <p:nvPr/>
        </p:nvSpPr>
        <p:spPr>
          <a:xfrm>
            <a:off x="9052560" y="365760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Biểu tượng CEO 1983 xuất hiện trên màn hình chính; mở mượt mà như app native.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GIÁ TRỊ THỰC TIỄN</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Đặc Quyền Của Doanh Nhân Khi Sử Dụng Ứng Dụng</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Gia tăng uy tín thương hiệu, mở rộng cơ hội thị trường và tiết kiệm chi phí vận hành</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33832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3383280" cy="91440"/>
          </a:xfrm>
          <a:prstGeom prst="rect">
            <a:avLst/>
          </a:prstGeom>
          <a:solidFill>
            <a:srgbClr val="003B95"/>
          </a:solidFill>
          <a:ln/>
        </p:spPr>
      </p:sp>
      <p:sp>
        <p:nvSpPr>
          <p:cNvPr id="12" name="Text 10"/>
          <p:cNvSpPr/>
          <p:nvPr/>
        </p:nvSpPr>
        <p:spPr>
          <a:xfrm>
            <a:off x="1005840" y="2194560"/>
            <a:ext cx="2834640" cy="54864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Mở Rộng Mạng Lưới C-Level</a:t>
            </a:r>
            <a:endParaRPr lang="en-US" sz="1400" dirty="0"/>
          </a:p>
        </p:txBody>
      </p:sp>
      <p:sp>
        <p:nvSpPr>
          <p:cNvPr id="13" name="Text 11"/>
          <p:cNvSpPr/>
          <p:nvPr/>
        </p:nvSpPr>
        <p:spPr>
          <a:xfrm>
            <a:off x="1005840" y="283464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Tiếp cận trực tiếp hơn 100+ Lãnh đạo doanh nghiệp sinh năm 1983 cùng thế hệ.</a:t>
            </a:r>
            <a:endParaRPr lang="en-US" sz="1150" dirty="0"/>
          </a:p>
        </p:txBody>
      </p:sp>
      <p:sp>
        <p:nvSpPr>
          <p:cNvPr id="14" name="Text 12"/>
          <p:cNvSpPr/>
          <p:nvPr/>
        </p:nvSpPr>
        <p:spPr>
          <a:xfrm>
            <a:off x="1005840" y="384048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Kết nối trên nền tảng tin cậy được bảo trợ bởi Hội Doanh Nhân Trẻ Hà Nội.</a:t>
            </a:r>
            <a:endParaRPr lang="en-US" sz="1150" dirty="0"/>
          </a:p>
        </p:txBody>
      </p:sp>
      <p:sp>
        <p:nvSpPr>
          <p:cNvPr id="15" name="Text 13"/>
          <p:cNvSpPr/>
          <p:nvPr/>
        </p:nvSpPr>
        <p:spPr>
          <a:xfrm>
            <a:off x="1005840" y="484632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Tham gia các buổi kết nối giao ban định kỳ và Gala doanh nhân cao cấp.</a:t>
            </a:r>
            <a:endParaRPr lang="en-US" sz="1150" dirty="0"/>
          </a:p>
        </p:txBody>
      </p:sp>
      <p:sp>
        <p:nvSpPr>
          <p:cNvPr id="16" name="Shape 14"/>
          <p:cNvSpPr/>
          <p:nvPr/>
        </p:nvSpPr>
        <p:spPr>
          <a:xfrm>
            <a:off x="4389120" y="1920240"/>
            <a:ext cx="3383280" cy="4206240"/>
          </a:xfrm>
          <a:prstGeom prst="rect">
            <a:avLst/>
          </a:prstGeom>
          <a:solidFill>
            <a:srgbClr val="FFFFFF"/>
          </a:solidFill>
          <a:ln w="15240">
            <a:solidFill>
              <a:srgbClr val="E2E8F0"/>
            </a:solidFill>
            <a:prstDash val="solid"/>
          </a:ln>
        </p:spPr>
      </p:sp>
      <p:sp>
        <p:nvSpPr>
          <p:cNvPr id="17" name="Shape 15"/>
          <p:cNvSpPr/>
          <p:nvPr/>
        </p:nvSpPr>
        <p:spPr>
          <a:xfrm>
            <a:off x="4389120" y="1920240"/>
            <a:ext cx="3383280" cy="91440"/>
          </a:xfrm>
          <a:prstGeom prst="rect">
            <a:avLst/>
          </a:prstGeom>
          <a:solidFill>
            <a:srgbClr val="F59E0B"/>
          </a:solidFill>
          <a:ln/>
        </p:spPr>
      </p:sp>
      <p:sp>
        <p:nvSpPr>
          <p:cNvPr id="18" name="Text 16"/>
          <p:cNvSpPr/>
          <p:nvPr/>
        </p:nvSpPr>
        <p:spPr>
          <a:xfrm>
            <a:off x="4663440" y="2194560"/>
            <a:ext cx="2834640" cy="54864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Thúc Đẩy Doanh Thu Thực</a:t>
            </a:r>
            <a:endParaRPr lang="en-US" sz="1400" dirty="0"/>
          </a:p>
        </p:txBody>
      </p:sp>
      <p:sp>
        <p:nvSpPr>
          <p:cNvPr id="19" name="Text 17"/>
          <p:cNvSpPr/>
          <p:nvPr/>
        </p:nvSpPr>
        <p:spPr>
          <a:xfrm>
            <a:off x="4663440" y="283464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Quảng bá sản phẩm, năng lực sản xuất đến chuỗi cung ứng của toàn bộ CLB.</a:t>
            </a:r>
            <a:endParaRPr lang="en-US" sz="1150" dirty="0"/>
          </a:p>
        </p:txBody>
      </p:sp>
      <p:sp>
        <p:nvSpPr>
          <p:cNvPr id="20" name="Text 18"/>
          <p:cNvSpPr/>
          <p:nvPr/>
        </p:nvSpPr>
        <p:spPr>
          <a:xfrm>
            <a:off x="4663440" y="384048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Ưu tiên hợp tác, sử dụng dịch vụ chéo với mức chiết khấu nội bộ hấp dẫn.</a:t>
            </a:r>
            <a:endParaRPr lang="en-US" sz="1150" dirty="0"/>
          </a:p>
        </p:txBody>
      </p:sp>
      <p:sp>
        <p:nvSpPr>
          <p:cNvPr id="21" name="Text 19"/>
          <p:cNvSpPr/>
          <p:nvPr/>
        </p:nvSpPr>
        <p:spPr>
          <a:xfrm>
            <a:off x="4663440" y="484632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Ghi nhận doanh số minh bạch, nâng tầm thương hiệu cá nhân và pháp nhân.</a:t>
            </a:r>
            <a:endParaRPr lang="en-US" sz="1150" dirty="0"/>
          </a:p>
        </p:txBody>
      </p:sp>
      <p:sp>
        <p:nvSpPr>
          <p:cNvPr id="22" name="Shape 20"/>
          <p:cNvSpPr/>
          <p:nvPr/>
        </p:nvSpPr>
        <p:spPr>
          <a:xfrm>
            <a:off x="8046720" y="1920240"/>
            <a:ext cx="3383280" cy="4206240"/>
          </a:xfrm>
          <a:prstGeom prst="rect">
            <a:avLst/>
          </a:prstGeom>
          <a:solidFill>
            <a:srgbClr val="FFFFFF"/>
          </a:solidFill>
          <a:ln w="15240">
            <a:solidFill>
              <a:srgbClr val="E2E8F0"/>
            </a:solidFill>
            <a:prstDash val="solid"/>
          </a:ln>
        </p:spPr>
      </p:sp>
      <p:sp>
        <p:nvSpPr>
          <p:cNvPr id="23" name="Shape 21"/>
          <p:cNvSpPr/>
          <p:nvPr/>
        </p:nvSpPr>
        <p:spPr>
          <a:xfrm>
            <a:off x="8046720" y="1920240"/>
            <a:ext cx="3383280" cy="91440"/>
          </a:xfrm>
          <a:prstGeom prst="rect">
            <a:avLst/>
          </a:prstGeom>
          <a:solidFill>
            <a:srgbClr val="003B95"/>
          </a:solidFill>
          <a:ln/>
        </p:spPr>
      </p:sp>
      <p:sp>
        <p:nvSpPr>
          <p:cNvPr id="24" name="Text 22"/>
          <p:cNvSpPr/>
          <p:nvPr/>
        </p:nvSpPr>
        <p:spPr>
          <a:xfrm>
            <a:off x="8321040" y="2194560"/>
            <a:ext cx="2834640" cy="54864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Vận Hành Số Chuyên Nghiệp</a:t>
            </a:r>
            <a:endParaRPr lang="en-US" sz="1400" dirty="0"/>
          </a:p>
        </p:txBody>
      </p:sp>
      <p:sp>
        <p:nvSpPr>
          <p:cNvPr id="25" name="Text 23"/>
          <p:cNvSpPr/>
          <p:nvPr/>
        </p:nvSpPr>
        <p:spPr>
          <a:xfrm>
            <a:off x="8321040" y="283464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Quản lý hội phí, đối soát sao kê VietQR tự động không cần thủ công.</a:t>
            </a:r>
            <a:endParaRPr lang="en-US" sz="1150" dirty="0"/>
          </a:p>
        </p:txBody>
      </p:sp>
      <p:sp>
        <p:nvSpPr>
          <p:cNvPr id="26" name="Text 24"/>
          <p:cNvSpPr/>
          <p:nvPr/>
        </p:nvSpPr>
        <p:spPr>
          <a:xfrm>
            <a:off x="8321040" y="384048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Tham dự sự kiện, hội thảo chuyên đề chỉ bằng một mã QR điểm danh.</a:t>
            </a:r>
            <a:endParaRPr lang="en-US" sz="1150" dirty="0"/>
          </a:p>
        </p:txBody>
      </p:sp>
      <p:sp>
        <p:nvSpPr>
          <p:cNvPr id="27" name="Text 25"/>
          <p:cNvSpPr/>
          <p:nvPr/>
        </p:nvSpPr>
        <p:spPr>
          <a:xfrm>
            <a:off x="8321040" y="4846320"/>
            <a:ext cx="2834640" cy="9144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  Cập nhật tin tức, nghị quyết hiệp hội và tài liệu đào tạo mọi lúc mọi nơi.</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A3A"/>
        </a:solidFill>
      </p:bgPr>
    </p:bg>
    <p:spTree>
      <p:nvGrpSpPr>
        <p:cNvPr id="1" name=""/>
        <p:cNvGrpSpPr/>
        <p:nvPr/>
      </p:nvGrpSpPr>
      <p:grpSpPr>
        <a:xfrm>
          <a:off x="0" y="0"/>
          <a:ext cx="0" cy="0"/>
          <a:chOff x="0" y="0"/>
          <a:chExt cx="0" cy="0"/>
        </a:xfrm>
      </p:grpSpPr>
      <p:sp>
        <p:nvSpPr>
          <p:cNvPr id="2" name="Shape 0"/>
          <p:cNvSpPr/>
          <p:nvPr/>
        </p:nvSpPr>
        <p:spPr>
          <a:xfrm>
            <a:off x="731520" y="1097280"/>
            <a:ext cx="3474720" cy="365760"/>
          </a:xfrm>
          <a:prstGeom prst="rect">
            <a:avLst/>
          </a:prstGeom>
          <a:solidFill>
            <a:srgbClr val="F59E0B"/>
          </a:solidFill>
          <a:ln/>
        </p:spPr>
      </p:sp>
      <p:sp>
        <p:nvSpPr>
          <p:cNvPr id="3" name="Text 1"/>
          <p:cNvSpPr/>
          <p:nvPr/>
        </p:nvSpPr>
        <p:spPr>
          <a:xfrm>
            <a:off x="731520" y="1097280"/>
            <a:ext cx="3474720" cy="365760"/>
          </a:xfrm>
          <a:prstGeom prst="rect">
            <a:avLst/>
          </a:prstGeom>
          <a:noFill/>
          <a:ln/>
        </p:spPr>
        <p:txBody>
          <a:bodyPr wrap="square" rtlCol="0" anchor="ctr"/>
          <a:lstStyle/>
          <a:p>
            <a:pPr algn="ctr" indent="0" marL="0">
              <a:buNone/>
            </a:pPr>
            <a:r>
              <a:rPr lang="en-US" sz="1050" b="1" dirty="0">
                <a:solidFill>
                  <a:srgbClr val="0A1A3A"/>
                </a:solidFill>
                <a:latin typeface="Calibri" pitchFamily="34" charset="0"/>
                <a:ea typeface="Calibri" pitchFamily="34" charset="-122"/>
                <a:cs typeface="Calibri" pitchFamily="34" charset="-120"/>
              </a:rPr>
              <a:t>HÀNH ĐỘNG HÔM NAY — VỮNG BƯỚC NGÀY MAI</a:t>
            </a:r>
            <a:endParaRPr lang="en-US" sz="1050" dirty="0"/>
          </a:p>
        </p:txBody>
      </p:sp>
      <p:sp>
        <p:nvSpPr>
          <p:cNvPr id="4" name="Text 2"/>
          <p:cNvSpPr/>
          <p:nvPr/>
        </p:nvSpPr>
        <p:spPr>
          <a:xfrm>
            <a:off x="731520" y="1645920"/>
            <a:ext cx="10725912" cy="914400"/>
          </a:xfrm>
          <a:prstGeom prst="rect">
            <a:avLst/>
          </a:prstGeom>
          <a:noFill/>
          <a:ln/>
        </p:spPr>
        <p:txBody>
          <a:bodyPr wrap="square"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CLB DOANH NHÂN CEO 1983</a:t>
            </a:r>
            <a:endParaRPr lang="en-US" sz="3400" dirty="0"/>
          </a:p>
        </p:txBody>
      </p:sp>
      <p:sp>
        <p:nvSpPr>
          <p:cNvPr id="5" name="Text 3"/>
          <p:cNvSpPr/>
          <p:nvPr/>
        </p:nvSpPr>
        <p:spPr>
          <a:xfrm>
            <a:off x="731520" y="2560320"/>
            <a:ext cx="10725912" cy="548640"/>
          </a:xfrm>
          <a:prstGeom prst="rect">
            <a:avLst/>
          </a:prstGeom>
          <a:noFill/>
          <a:ln/>
        </p:spPr>
        <p:txBody>
          <a:bodyPr wrap="square" rtlCol="0" anchor="ctr"/>
          <a:lstStyle/>
          <a:p>
            <a:pPr indent="0" marL="0">
              <a:buNone/>
            </a:pPr>
            <a:r>
              <a:rPr lang="en-US" sz="2200" b="1" i="1" dirty="0">
                <a:solidFill>
                  <a:srgbClr val="F59E0B"/>
                </a:solidFill>
                <a:latin typeface="Calibri" pitchFamily="34" charset="0"/>
                <a:ea typeface="Calibri" pitchFamily="34" charset="-122"/>
                <a:cs typeface="Calibri" pitchFamily="34" charset="-120"/>
              </a:rPr>
              <a:t>"Kết Nối Bền — Phát Triển Vững"</a:t>
            </a:r>
            <a:endParaRPr lang="en-US" sz="2200" dirty="0"/>
          </a:p>
        </p:txBody>
      </p:sp>
      <p:sp>
        <p:nvSpPr>
          <p:cNvPr id="6" name="Text 4"/>
          <p:cNvSpPr/>
          <p:nvPr/>
        </p:nvSpPr>
        <p:spPr>
          <a:xfrm>
            <a:off x="731520" y="3291840"/>
            <a:ext cx="9601200" cy="822960"/>
          </a:xfrm>
          <a:prstGeom prst="rect">
            <a:avLst/>
          </a:prstGeom>
          <a:noFill/>
          <a:ln/>
        </p:spPr>
        <p:txBody>
          <a:bodyPr wrap="square" rtlCol="0" anchor="ctr"/>
          <a:lstStyle/>
          <a:p>
            <a:pPr indent="0" marL="0">
              <a:buNone/>
            </a:pPr>
            <a:r>
              <a:rPr lang="en-US" sz="1400" dirty="0">
                <a:solidFill>
                  <a:srgbClr val="E2E8F0"/>
                </a:solidFill>
                <a:latin typeface="Calibri" pitchFamily="34" charset="0"/>
                <a:ea typeface="Calibri" pitchFamily="34" charset="-122"/>
                <a:cs typeface="Calibri" pitchFamily="34" charset="-120"/>
              </a:rPr>
              <a:t>Chào đón các Doanh nhân Lãnh đạo sinh năm 1983 gia nhập mạng lưới số hóa độc bản, tiên phong kiến tạo giá trị bền vững cho cộng đồng doanh nghiệp Việt Nam.</a:t>
            </a:r>
            <a:endParaRPr lang="en-US" sz="1400" dirty="0"/>
          </a:p>
        </p:txBody>
      </p:sp>
      <p:sp>
        <p:nvSpPr>
          <p:cNvPr id="7" name="Shape 5"/>
          <p:cNvSpPr/>
          <p:nvPr/>
        </p:nvSpPr>
        <p:spPr>
          <a:xfrm>
            <a:off x="731520" y="4572000"/>
            <a:ext cx="3383280" cy="1371600"/>
          </a:xfrm>
          <a:prstGeom prst="rect">
            <a:avLst/>
          </a:prstGeom>
          <a:solidFill>
            <a:srgbClr val="132A56"/>
          </a:solidFill>
          <a:ln w="15240">
            <a:solidFill>
              <a:srgbClr val="003B95"/>
            </a:solidFill>
            <a:prstDash val="solid"/>
          </a:ln>
        </p:spPr>
      </p:sp>
      <p:sp>
        <p:nvSpPr>
          <p:cNvPr id="8" name="Text 6"/>
          <p:cNvSpPr/>
          <p:nvPr/>
        </p:nvSpPr>
        <p:spPr>
          <a:xfrm>
            <a:off x="1005840" y="4754880"/>
            <a:ext cx="2834640" cy="320040"/>
          </a:xfrm>
          <a:prstGeom prst="rect">
            <a:avLst/>
          </a:prstGeom>
          <a:noFill/>
          <a:ln/>
        </p:spPr>
        <p:txBody>
          <a:bodyPr wrap="square"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Cổng thông tin</a:t>
            </a:r>
            <a:endParaRPr lang="en-US" sz="1200" dirty="0"/>
          </a:p>
        </p:txBody>
      </p:sp>
      <p:sp>
        <p:nvSpPr>
          <p:cNvPr id="9" name="Text 7"/>
          <p:cNvSpPr/>
          <p:nvPr/>
        </p:nvSpPr>
        <p:spPr>
          <a:xfrm>
            <a:off x="1005840" y="5166360"/>
            <a:ext cx="2834640" cy="548640"/>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https://ceo1983.com</a:t>
            </a:r>
            <a:endParaRPr lang="en-US" sz="1150" dirty="0"/>
          </a:p>
        </p:txBody>
      </p:sp>
      <p:sp>
        <p:nvSpPr>
          <p:cNvPr id="10" name="Shape 8"/>
          <p:cNvSpPr/>
          <p:nvPr/>
        </p:nvSpPr>
        <p:spPr>
          <a:xfrm>
            <a:off x="4389120" y="4572000"/>
            <a:ext cx="3383280" cy="1371600"/>
          </a:xfrm>
          <a:prstGeom prst="rect">
            <a:avLst/>
          </a:prstGeom>
          <a:solidFill>
            <a:srgbClr val="132A56"/>
          </a:solidFill>
          <a:ln w="15240">
            <a:solidFill>
              <a:srgbClr val="003B95"/>
            </a:solidFill>
            <a:prstDash val="solid"/>
          </a:ln>
        </p:spPr>
      </p:sp>
      <p:sp>
        <p:nvSpPr>
          <p:cNvPr id="11" name="Text 9"/>
          <p:cNvSpPr/>
          <p:nvPr/>
        </p:nvSpPr>
        <p:spPr>
          <a:xfrm>
            <a:off x="4663440" y="4754880"/>
            <a:ext cx="2834640" cy="320040"/>
          </a:xfrm>
          <a:prstGeom prst="rect">
            <a:avLst/>
          </a:prstGeom>
          <a:noFill/>
          <a:ln/>
        </p:spPr>
        <p:txBody>
          <a:bodyPr wrap="square"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Hệ thống Quản trị</a:t>
            </a:r>
            <a:endParaRPr lang="en-US" sz="1200" dirty="0"/>
          </a:p>
        </p:txBody>
      </p:sp>
      <p:sp>
        <p:nvSpPr>
          <p:cNvPr id="12" name="Text 10"/>
          <p:cNvSpPr/>
          <p:nvPr/>
        </p:nvSpPr>
        <p:spPr>
          <a:xfrm>
            <a:off x="4663440" y="5166360"/>
            <a:ext cx="2834640" cy="548640"/>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Web CRM &amp; App Mobile CEO 1983</a:t>
            </a:r>
            <a:endParaRPr lang="en-US" sz="1150" dirty="0"/>
          </a:p>
        </p:txBody>
      </p:sp>
      <p:sp>
        <p:nvSpPr>
          <p:cNvPr id="13" name="Shape 11"/>
          <p:cNvSpPr/>
          <p:nvPr/>
        </p:nvSpPr>
        <p:spPr>
          <a:xfrm>
            <a:off x="8046720" y="4572000"/>
            <a:ext cx="3383280" cy="1371600"/>
          </a:xfrm>
          <a:prstGeom prst="rect">
            <a:avLst/>
          </a:prstGeom>
          <a:solidFill>
            <a:srgbClr val="132A56"/>
          </a:solidFill>
          <a:ln w="15240">
            <a:solidFill>
              <a:srgbClr val="003B95"/>
            </a:solidFill>
            <a:prstDash val="solid"/>
          </a:ln>
        </p:spPr>
      </p:sp>
      <p:sp>
        <p:nvSpPr>
          <p:cNvPr id="14" name="Text 12"/>
          <p:cNvSpPr/>
          <p:nvPr/>
        </p:nvSpPr>
        <p:spPr>
          <a:xfrm>
            <a:off x="8321040" y="4754880"/>
            <a:ext cx="2834640" cy="320040"/>
          </a:xfrm>
          <a:prstGeom prst="rect">
            <a:avLst/>
          </a:prstGeom>
          <a:noFill/>
          <a:ln/>
        </p:spPr>
        <p:txBody>
          <a:bodyPr wrap="square"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Đơn vị bảo trợ</a:t>
            </a:r>
            <a:endParaRPr lang="en-US" sz="1200" dirty="0"/>
          </a:p>
        </p:txBody>
      </p:sp>
      <p:sp>
        <p:nvSpPr>
          <p:cNvPr id="15" name="Text 13"/>
          <p:cNvSpPr/>
          <p:nvPr/>
        </p:nvSpPr>
        <p:spPr>
          <a:xfrm>
            <a:off x="8321040" y="5166360"/>
            <a:ext cx="2834640" cy="548640"/>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Hội Doanh Nhân Trẻ Hà Nội (HanoiBA)</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Sinh Thái Số Hóa Doanh Nhân CEO 1983 — App Hiệp Hội</dc:title>
  <dc:subject>PptxGenJS Presentation</dc:subject>
  <dc:creator>CLB Doanh Nhân CEO 1983</dc:creator>
  <cp:lastModifiedBy>CLB Doanh Nhân CEO 1983</cp:lastModifiedBy>
  <cp:revision>1</cp:revision>
  <dcterms:created xsi:type="dcterms:W3CDTF">2026-09-19T08:01:58Z</dcterms:created>
  <dcterms:modified xsi:type="dcterms:W3CDTF">2026-09-19T08:01:58Z</dcterms:modified>
</cp:coreProperties>
</file>