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3A"/>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59E0B"/>
          </a:solidFill>
          <a:ln/>
        </p:spPr>
      </p:sp>
      <p:sp>
        <p:nvSpPr>
          <p:cNvPr id="3" name="Shape 1"/>
          <p:cNvSpPr/>
          <p:nvPr/>
        </p:nvSpPr>
        <p:spPr>
          <a:xfrm>
            <a:off x="914400" y="1097280"/>
            <a:ext cx="4754880" cy="365760"/>
          </a:xfrm>
          <a:prstGeom prst="rect">
            <a:avLst/>
          </a:prstGeom>
          <a:solidFill>
            <a:srgbClr val="132A56"/>
          </a:solidFill>
          <a:ln w="19050">
            <a:solidFill>
              <a:srgbClr val="F59E0B"/>
            </a:solidFill>
            <a:prstDash val="solid"/>
          </a:ln>
        </p:spPr>
      </p:sp>
      <p:sp>
        <p:nvSpPr>
          <p:cNvPr id="4" name="Text 2"/>
          <p:cNvSpPr/>
          <p:nvPr/>
        </p:nvSpPr>
        <p:spPr>
          <a:xfrm>
            <a:off x="914400" y="1097280"/>
            <a:ext cx="4754880" cy="365760"/>
          </a:xfrm>
          <a:prstGeom prst="rect">
            <a:avLst/>
          </a:prstGeom>
          <a:noFill/>
          <a:ln/>
        </p:spPr>
        <p:txBody>
          <a:bodyPr wrap="square"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HỆ SINH THÁI CHUYỂN ĐỔI SỐ TOÀN DIỆN HIỆP HỘI</a:t>
            </a:r>
            <a:endParaRPr lang="en-US" sz="1100" dirty="0"/>
          </a:p>
        </p:txBody>
      </p:sp>
      <p:sp>
        <p:nvSpPr>
          <p:cNvPr id="5" name="Text 3"/>
          <p:cNvSpPr/>
          <p:nvPr/>
        </p:nvSpPr>
        <p:spPr>
          <a:xfrm>
            <a:off x="914400" y="1645920"/>
            <a:ext cx="10360152" cy="100584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VIONE ECOSYSTEM · CLB DOANH NHÂN CEO 1983</a:t>
            </a:r>
            <a:endParaRPr lang="en-US" sz="3200" dirty="0"/>
          </a:p>
        </p:txBody>
      </p:sp>
      <p:sp>
        <p:nvSpPr>
          <p:cNvPr id="6" name="Text 4"/>
          <p:cNvSpPr/>
          <p:nvPr/>
        </p:nvSpPr>
        <p:spPr>
          <a:xfrm>
            <a:off x="914400" y="2651760"/>
            <a:ext cx="10360152" cy="548640"/>
          </a:xfrm>
          <a:prstGeom prst="rect">
            <a:avLst/>
          </a:prstGeom>
          <a:noFill/>
          <a:ln/>
        </p:spPr>
        <p:txBody>
          <a:bodyPr wrap="square" rtlCol="0" anchor="ctr"/>
          <a:lstStyle/>
          <a:p>
            <a:pPr indent="0" marL="0">
              <a:buNone/>
            </a:pPr>
            <a:r>
              <a:rPr lang="en-US" sz="1500" dirty="0">
                <a:solidFill>
                  <a:srgbClr val="CBD5E1"/>
                </a:solidFill>
                <a:latin typeface="Calibri" pitchFamily="34" charset="0"/>
                <a:ea typeface="Calibri" pitchFamily="34" charset="-122"/>
                <a:cs typeface="Calibri" pitchFamily="34" charset="-120"/>
              </a:rPr>
              <a:t>Giải pháp Quản trị Hiệp hội Tối cao &amp; Nền tảng Kết nối Giao thương B2B Đẳng cấp Doanh nhân</a:t>
            </a:r>
            <a:endParaRPr lang="en-US" sz="1500" dirty="0"/>
          </a:p>
        </p:txBody>
      </p:sp>
      <p:sp>
        <p:nvSpPr>
          <p:cNvPr id="7" name="Shape 5"/>
          <p:cNvSpPr/>
          <p:nvPr/>
        </p:nvSpPr>
        <p:spPr>
          <a:xfrm>
            <a:off x="914400" y="3474720"/>
            <a:ext cx="3291840" cy="2011680"/>
          </a:xfrm>
          <a:prstGeom prst="rect">
            <a:avLst/>
          </a:prstGeom>
          <a:solidFill>
            <a:srgbClr val="132A56"/>
          </a:solidFill>
          <a:ln w="15240">
            <a:solidFill>
              <a:srgbClr val="2A3E66"/>
            </a:solidFill>
            <a:prstDash val="solid"/>
          </a:ln>
        </p:spPr>
      </p:sp>
      <p:sp>
        <p:nvSpPr>
          <p:cNvPr id="8" name="Text 6"/>
          <p:cNvSpPr/>
          <p:nvPr/>
        </p:nvSpPr>
        <p:spPr>
          <a:xfrm>
            <a:off x="1097280" y="3611880"/>
            <a:ext cx="731520" cy="365760"/>
          </a:xfrm>
          <a:prstGeom prst="rect">
            <a:avLst/>
          </a:prstGeom>
          <a:noFill/>
          <a:ln/>
        </p:spPr>
        <p:txBody>
          <a:bodyPr wrap="square" rtlCol="0" anchor="ctr"/>
          <a:lstStyle/>
          <a:p>
            <a:pPr indent="0" marL="0">
              <a:buNone/>
            </a:pPr>
            <a:r>
              <a:rPr lang="en-US" sz="1800" b="1" dirty="0">
                <a:solidFill>
                  <a:srgbClr val="F59E0B"/>
                </a:solidFill>
                <a:latin typeface="Calibri" pitchFamily="34" charset="0"/>
                <a:ea typeface="Calibri" pitchFamily="34" charset="-122"/>
                <a:cs typeface="Calibri" pitchFamily="34" charset="-120"/>
              </a:rPr>
              <a:t>01</a:t>
            </a:r>
            <a:endParaRPr lang="en-US" sz="1800" dirty="0"/>
          </a:p>
        </p:txBody>
      </p:sp>
      <p:sp>
        <p:nvSpPr>
          <p:cNvPr id="9" name="Text 7"/>
          <p:cNvSpPr/>
          <p:nvPr/>
        </p:nvSpPr>
        <p:spPr>
          <a:xfrm>
            <a:off x="1097280" y="4023360"/>
            <a:ext cx="29260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Web CRM Quản Trị</a:t>
            </a:r>
            <a:endParaRPr lang="en-US" sz="1400" dirty="0"/>
          </a:p>
        </p:txBody>
      </p:sp>
      <p:sp>
        <p:nvSpPr>
          <p:cNvPr id="10" name="Text 8"/>
          <p:cNvSpPr/>
          <p:nvPr/>
        </p:nvSpPr>
        <p:spPr>
          <a:xfrm>
            <a:off x="1097280" y="4434840"/>
            <a:ext cx="2926080" cy="8686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Trung tâm kiểm soát dữ liệu hội viên, tài chính, sự kiện &amp; đối soát tự động</a:t>
            </a:r>
            <a:endParaRPr lang="en-US" sz="1100" dirty="0"/>
          </a:p>
        </p:txBody>
      </p:sp>
      <p:sp>
        <p:nvSpPr>
          <p:cNvPr id="11" name="Shape 9"/>
          <p:cNvSpPr/>
          <p:nvPr/>
        </p:nvSpPr>
        <p:spPr>
          <a:xfrm>
            <a:off x="4480560" y="3474720"/>
            <a:ext cx="3291840" cy="2011680"/>
          </a:xfrm>
          <a:prstGeom prst="rect">
            <a:avLst/>
          </a:prstGeom>
          <a:solidFill>
            <a:srgbClr val="132A56"/>
          </a:solidFill>
          <a:ln w="15240">
            <a:solidFill>
              <a:srgbClr val="2A3E66"/>
            </a:solidFill>
            <a:prstDash val="solid"/>
          </a:ln>
        </p:spPr>
      </p:sp>
      <p:sp>
        <p:nvSpPr>
          <p:cNvPr id="12" name="Text 10"/>
          <p:cNvSpPr/>
          <p:nvPr/>
        </p:nvSpPr>
        <p:spPr>
          <a:xfrm>
            <a:off x="4663440" y="3611880"/>
            <a:ext cx="731520" cy="365760"/>
          </a:xfrm>
          <a:prstGeom prst="rect">
            <a:avLst/>
          </a:prstGeom>
          <a:noFill/>
          <a:ln/>
        </p:spPr>
        <p:txBody>
          <a:bodyPr wrap="square" rtlCol="0" anchor="ctr"/>
          <a:lstStyle/>
          <a:p>
            <a:pPr indent="0" marL="0">
              <a:buNone/>
            </a:pPr>
            <a:r>
              <a:rPr lang="en-US" sz="1800" b="1" dirty="0">
                <a:solidFill>
                  <a:srgbClr val="F59E0B"/>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4663440" y="4023360"/>
            <a:ext cx="29260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Mobile App Doanh Nhân</a:t>
            </a:r>
            <a:endParaRPr lang="en-US" sz="1400" dirty="0"/>
          </a:p>
        </p:txBody>
      </p:sp>
      <p:sp>
        <p:nvSpPr>
          <p:cNvPr id="14" name="Text 12"/>
          <p:cNvSpPr/>
          <p:nvPr/>
        </p:nvSpPr>
        <p:spPr>
          <a:xfrm>
            <a:off x="4663440" y="4434840"/>
            <a:ext cx="2926080" cy="8686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Thẻ VIP 3D, Radar NFC, gian hàng Marketplace &amp; mạng xã hội cơ hội B2B</a:t>
            </a:r>
            <a:endParaRPr lang="en-US" sz="1100" dirty="0"/>
          </a:p>
        </p:txBody>
      </p:sp>
      <p:sp>
        <p:nvSpPr>
          <p:cNvPr id="15" name="Shape 13"/>
          <p:cNvSpPr/>
          <p:nvPr/>
        </p:nvSpPr>
        <p:spPr>
          <a:xfrm>
            <a:off x="8046720" y="3474720"/>
            <a:ext cx="3291840" cy="2011680"/>
          </a:xfrm>
          <a:prstGeom prst="rect">
            <a:avLst/>
          </a:prstGeom>
          <a:solidFill>
            <a:srgbClr val="132A56"/>
          </a:solidFill>
          <a:ln w="15240">
            <a:solidFill>
              <a:srgbClr val="2A3E66"/>
            </a:solidFill>
            <a:prstDash val="solid"/>
          </a:ln>
        </p:spPr>
      </p:sp>
      <p:sp>
        <p:nvSpPr>
          <p:cNvPr id="16" name="Text 14"/>
          <p:cNvSpPr/>
          <p:nvPr/>
        </p:nvSpPr>
        <p:spPr>
          <a:xfrm>
            <a:off x="8229600" y="3611880"/>
            <a:ext cx="731520" cy="365760"/>
          </a:xfrm>
          <a:prstGeom prst="rect">
            <a:avLst/>
          </a:prstGeom>
          <a:noFill/>
          <a:ln/>
        </p:spPr>
        <p:txBody>
          <a:bodyPr wrap="square" rtlCol="0" anchor="ctr"/>
          <a:lstStyle/>
          <a:p>
            <a:pPr indent="0" marL="0">
              <a:buNone/>
            </a:pPr>
            <a:r>
              <a:rPr lang="en-US" sz="1800" b="1" dirty="0">
                <a:solidFill>
                  <a:srgbClr val="F59E0B"/>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8229600" y="4023360"/>
            <a:ext cx="29260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Landing Page 3D &amp; SMTP</a:t>
            </a:r>
            <a:endParaRPr lang="en-US" sz="1400" dirty="0"/>
          </a:p>
        </p:txBody>
      </p:sp>
      <p:sp>
        <p:nvSpPr>
          <p:cNvPr id="18" name="Text 16"/>
          <p:cNvSpPr/>
          <p:nvPr/>
        </p:nvSpPr>
        <p:spPr>
          <a:xfrm>
            <a:off x="8229600" y="4434840"/>
            <a:ext cx="2926080" cy="8686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Cổng thông tin đối ngoại điện ảnh, tiếp nhận &amp; tự động cấp tài khoản qua email</a:t>
            </a:r>
            <a:endParaRPr lang="en-US" sz="1100" dirty="0"/>
          </a:p>
        </p:txBody>
      </p:sp>
      <p:sp>
        <p:nvSpPr>
          <p:cNvPr id="19" name="Text 17"/>
          <p:cNvSpPr/>
          <p:nvPr/>
        </p:nvSpPr>
        <p:spPr>
          <a:xfrm>
            <a:off x="914400" y="6126480"/>
            <a:ext cx="10360152" cy="36576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CLB Doanh Nhân CEO 1983 · Trực thuộc Hội Doanh Nhân Trẻ Hà Nội (HanoiBA) · ceo1983.com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59E0B"/>
          </a:solidFill>
          <a:ln/>
        </p:spPr>
      </p:sp>
      <p:sp>
        <p:nvSpPr>
          <p:cNvPr id="3" name="Shape 1"/>
          <p:cNvSpPr/>
          <p:nvPr/>
        </p:nvSpPr>
        <p:spPr>
          <a:xfrm>
            <a:off x="731520" y="411480"/>
            <a:ext cx="2926080" cy="292608"/>
          </a:xfrm>
          <a:prstGeom prst="rect">
            <a:avLst/>
          </a:prstGeom>
          <a:solidFill>
            <a:srgbClr val="003B95"/>
          </a:solidFill>
          <a:ln/>
        </p:spPr>
      </p:sp>
      <p:sp>
        <p:nvSpPr>
          <p:cNvPr id="4" name="Text 2"/>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THỰC TRẠNG &amp; ĐIỂM ĐAU</a:t>
            </a:r>
            <a:endParaRPr lang="en-US" sz="1000" dirty="0"/>
          </a:p>
        </p:txBody>
      </p:sp>
      <p:sp>
        <p:nvSpPr>
          <p:cNvPr id="5" name="Text 3"/>
          <p:cNvSpPr/>
          <p:nvPr/>
        </p:nvSpPr>
        <p:spPr>
          <a:xfrm>
            <a:off x="731520" y="777240"/>
            <a:ext cx="10725912" cy="594360"/>
          </a:xfrm>
          <a:prstGeom prst="rect">
            <a:avLst/>
          </a:prstGeom>
          <a:noFill/>
          <a:ln/>
        </p:spPr>
        <p:txBody>
          <a:bodyPr wrap="square" rtlCol="0" anchor="ctr"/>
          <a:lstStyle/>
          <a:p>
            <a:pPr indent="0" marL="0">
              <a:buNone/>
            </a:pPr>
            <a:r>
              <a:rPr lang="en-US" sz="2200" b="1" dirty="0">
                <a:solidFill>
                  <a:srgbClr val="003B95"/>
                </a:solidFill>
                <a:latin typeface="Calibri" pitchFamily="34" charset="0"/>
                <a:ea typeface="Calibri" pitchFamily="34" charset="-122"/>
                <a:cs typeface="Calibri" pitchFamily="34" charset="-120"/>
              </a:rPr>
              <a:t>Điểm Đau Của Các Hiệp Hội &amp; CLB Doanh Nghiệp Truyền Thống</a:t>
            </a:r>
            <a:endParaRPr lang="en-US" sz="2200" dirty="0"/>
          </a:p>
        </p:txBody>
      </p:sp>
      <p:sp>
        <p:nvSpPr>
          <p:cNvPr id="6" name="Text 4"/>
          <p:cNvSpPr/>
          <p:nvPr/>
        </p:nvSpPr>
        <p:spPr>
          <a:xfrm>
            <a:off x="731520" y="1371600"/>
            <a:ext cx="10725912"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Các thách thức lớn trong vận hành thủ công dẫn tới suy giảm tương tác và thất thoát nguồn lực</a:t>
            </a:r>
            <a:endParaRPr lang="en-US" sz="1200" dirty="0"/>
          </a:p>
        </p:txBody>
      </p:sp>
      <p:sp>
        <p:nvSpPr>
          <p:cNvPr id="7" name="Shape 5"/>
          <p:cNvSpPr/>
          <p:nvPr/>
        </p:nvSpPr>
        <p:spPr>
          <a:xfrm>
            <a:off x="731520" y="1920240"/>
            <a:ext cx="5257800" cy="1965960"/>
          </a:xfrm>
          <a:prstGeom prst="rect">
            <a:avLst/>
          </a:prstGeom>
          <a:solidFill>
            <a:srgbClr val="FFFFFF"/>
          </a:solidFill>
          <a:ln w="15240">
            <a:solidFill>
              <a:srgbClr val="E2E8F0"/>
            </a:solidFill>
            <a:prstDash val="solid"/>
          </a:ln>
        </p:spPr>
      </p:sp>
      <p:sp>
        <p:nvSpPr>
          <p:cNvPr id="8" name="Shape 6"/>
          <p:cNvSpPr/>
          <p:nvPr/>
        </p:nvSpPr>
        <p:spPr>
          <a:xfrm>
            <a:off x="1005840" y="2194560"/>
            <a:ext cx="292608" cy="292608"/>
          </a:xfrm>
          <a:prstGeom prst="rect">
            <a:avLst/>
          </a:prstGeom>
          <a:solidFill>
            <a:srgbClr val="FFF1F2"/>
          </a:solidFill>
          <a:ln w="12700">
            <a:solidFill>
              <a:srgbClr val="E11D48"/>
            </a:solidFill>
            <a:prstDash val="solid"/>
          </a:ln>
        </p:spPr>
      </p:sp>
      <p:sp>
        <p:nvSpPr>
          <p:cNvPr id="9" name="Text 7"/>
          <p:cNvSpPr/>
          <p:nvPr/>
        </p:nvSpPr>
        <p:spPr>
          <a:xfrm>
            <a:off x="1005840" y="2194560"/>
            <a:ext cx="292608" cy="292608"/>
          </a:xfrm>
          <a:prstGeom prst="rect">
            <a:avLst/>
          </a:prstGeom>
          <a:noFill/>
          <a:ln/>
        </p:spPr>
        <p:txBody>
          <a:bodyPr wrap="square" rtlCol="0" anchor="ctr"/>
          <a:lstStyle/>
          <a:p>
            <a:pPr algn="ctr" indent="0" marL="0">
              <a:buNone/>
            </a:pPr>
            <a:r>
              <a:rPr lang="en-US" sz="1300" b="1" dirty="0">
                <a:solidFill>
                  <a:srgbClr val="E11D48"/>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1417320" y="2176272"/>
            <a:ext cx="4389120" cy="36576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Quản Lý Rời Rạc &amp; Thất Thoát Dữ Liệu</a:t>
            </a:r>
            <a:endParaRPr lang="en-US" sz="1350" dirty="0"/>
          </a:p>
        </p:txBody>
      </p:sp>
      <p:sp>
        <p:nvSpPr>
          <p:cNvPr id="11" name="Text 9"/>
          <p:cNvSpPr/>
          <p:nvPr/>
        </p:nvSpPr>
        <p:spPr>
          <a:xfrm>
            <a:off x="1005840" y="2606040"/>
            <a:ext cx="4709160" cy="114300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Dữ liệu hội viên lưu phân tán trên nhiều file Excel, nhóm Zalo trôi bài; thông tin nhạy cảm của các CEO không được mã hóa bảo mật tập trung.</a:t>
            </a:r>
            <a:endParaRPr lang="en-US" sz="1150" dirty="0"/>
          </a:p>
        </p:txBody>
      </p:sp>
      <p:sp>
        <p:nvSpPr>
          <p:cNvPr id="12" name="Shape 10"/>
          <p:cNvSpPr/>
          <p:nvPr/>
        </p:nvSpPr>
        <p:spPr>
          <a:xfrm>
            <a:off x="6172200" y="1920240"/>
            <a:ext cx="5257800" cy="1965960"/>
          </a:xfrm>
          <a:prstGeom prst="rect">
            <a:avLst/>
          </a:prstGeom>
          <a:solidFill>
            <a:srgbClr val="FFFFFF"/>
          </a:solidFill>
          <a:ln w="15240">
            <a:solidFill>
              <a:srgbClr val="E2E8F0"/>
            </a:solidFill>
            <a:prstDash val="solid"/>
          </a:ln>
        </p:spPr>
      </p:sp>
      <p:sp>
        <p:nvSpPr>
          <p:cNvPr id="13" name="Shape 11"/>
          <p:cNvSpPr/>
          <p:nvPr/>
        </p:nvSpPr>
        <p:spPr>
          <a:xfrm>
            <a:off x="6446520" y="2194560"/>
            <a:ext cx="292608" cy="292608"/>
          </a:xfrm>
          <a:prstGeom prst="rect">
            <a:avLst/>
          </a:prstGeom>
          <a:solidFill>
            <a:srgbClr val="FFF1F2"/>
          </a:solidFill>
          <a:ln w="12700">
            <a:solidFill>
              <a:srgbClr val="E11D48"/>
            </a:solidFill>
            <a:prstDash val="solid"/>
          </a:ln>
        </p:spPr>
      </p:sp>
      <p:sp>
        <p:nvSpPr>
          <p:cNvPr id="14" name="Text 12"/>
          <p:cNvSpPr/>
          <p:nvPr/>
        </p:nvSpPr>
        <p:spPr>
          <a:xfrm>
            <a:off x="6446520" y="2194560"/>
            <a:ext cx="292608" cy="292608"/>
          </a:xfrm>
          <a:prstGeom prst="rect">
            <a:avLst/>
          </a:prstGeom>
          <a:noFill/>
          <a:ln/>
        </p:spPr>
        <p:txBody>
          <a:bodyPr wrap="square" rtlCol="0" anchor="ctr"/>
          <a:lstStyle/>
          <a:p>
            <a:pPr algn="ctr" indent="0" marL="0">
              <a:buNone/>
            </a:pPr>
            <a:r>
              <a:rPr lang="en-US" sz="1300" b="1" dirty="0">
                <a:solidFill>
                  <a:srgbClr val="E11D48"/>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6858000" y="2176272"/>
            <a:ext cx="4389120" cy="36576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Thu Hội Phí &amp; Kế Toán Thủ Công</a:t>
            </a:r>
            <a:endParaRPr lang="en-US" sz="1350" dirty="0"/>
          </a:p>
        </p:txBody>
      </p:sp>
      <p:sp>
        <p:nvSpPr>
          <p:cNvPr id="16" name="Text 14"/>
          <p:cNvSpPr/>
          <p:nvPr/>
        </p:nvSpPr>
        <p:spPr>
          <a:xfrm>
            <a:off x="6446520" y="2606040"/>
            <a:ext cx="4709160" cy="114300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Ban Thư ký mất hàng tuần đối soát biến động số dư ngân hàng; việc nhắc nợ hội phí niên khóa thủ công dễ gây e ngại, thiếu tinh tế giữa các doanh nhân.</a:t>
            </a:r>
            <a:endParaRPr lang="en-US" sz="1150" dirty="0"/>
          </a:p>
        </p:txBody>
      </p:sp>
      <p:sp>
        <p:nvSpPr>
          <p:cNvPr id="17" name="Shape 15"/>
          <p:cNvSpPr/>
          <p:nvPr/>
        </p:nvSpPr>
        <p:spPr>
          <a:xfrm>
            <a:off x="731520" y="4069080"/>
            <a:ext cx="5257800" cy="1965960"/>
          </a:xfrm>
          <a:prstGeom prst="rect">
            <a:avLst/>
          </a:prstGeom>
          <a:solidFill>
            <a:srgbClr val="FFFFFF"/>
          </a:solidFill>
          <a:ln w="15240">
            <a:solidFill>
              <a:srgbClr val="E2E8F0"/>
            </a:solidFill>
            <a:prstDash val="solid"/>
          </a:ln>
        </p:spPr>
      </p:sp>
      <p:sp>
        <p:nvSpPr>
          <p:cNvPr id="18" name="Shape 16"/>
          <p:cNvSpPr/>
          <p:nvPr/>
        </p:nvSpPr>
        <p:spPr>
          <a:xfrm>
            <a:off x="1005840" y="4343400"/>
            <a:ext cx="292608" cy="292608"/>
          </a:xfrm>
          <a:prstGeom prst="rect">
            <a:avLst/>
          </a:prstGeom>
          <a:solidFill>
            <a:srgbClr val="FFF1F2"/>
          </a:solidFill>
          <a:ln w="12700">
            <a:solidFill>
              <a:srgbClr val="E11D48"/>
            </a:solidFill>
            <a:prstDash val="solid"/>
          </a:ln>
        </p:spPr>
      </p:sp>
      <p:sp>
        <p:nvSpPr>
          <p:cNvPr id="19" name="Text 17"/>
          <p:cNvSpPr/>
          <p:nvPr/>
        </p:nvSpPr>
        <p:spPr>
          <a:xfrm>
            <a:off x="1005840" y="4343400"/>
            <a:ext cx="292608" cy="292608"/>
          </a:xfrm>
          <a:prstGeom prst="rect">
            <a:avLst/>
          </a:prstGeom>
          <a:noFill/>
          <a:ln/>
        </p:spPr>
        <p:txBody>
          <a:bodyPr wrap="square" rtlCol="0" anchor="ctr"/>
          <a:lstStyle/>
          <a:p>
            <a:pPr algn="ctr" indent="0" marL="0">
              <a:buNone/>
            </a:pPr>
            <a:r>
              <a:rPr lang="en-US" sz="1300" b="1" dirty="0">
                <a:solidFill>
                  <a:srgbClr val="E11D48"/>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1417320" y="4325112"/>
            <a:ext cx="4389120" cy="36576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Sự Kiện &amp; Hội Nghị Ùn Tắc Cổng</a:t>
            </a:r>
            <a:endParaRPr lang="en-US" sz="1350" dirty="0"/>
          </a:p>
        </p:txBody>
      </p:sp>
      <p:sp>
        <p:nvSpPr>
          <p:cNvPr id="21" name="Text 19"/>
          <p:cNvSpPr/>
          <p:nvPr/>
        </p:nvSpPr>
        <p:spPr>
          <a:xfrm>
            <a:off x="1005840" y="4754880"/>
            <a:ext cx="4709160" cy="114300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Quy trình check-in bàn lễ tân dùng danh sách giấy gây xếp hàng dài; không có sơ đồ phân bổ hàng ghế VIP và thiếu công cụ biểu quyết điện tử.</a:t>
            </a:r>
            <a:endParaRPr lang="en-US" sz="1150" dirty="0"/>
          </a:p>
        </p:txBody>
      </p:sp>
      <p:sp>
        <p:nvSpPr>
          <p:cNvPr id="22" name="Shape 20"/>
          <p:cNvSpPr/>
          <p:nvPr/>
        </p:nvSpPr>
        <p:spPr>
          <a:xfrm>
            <a:off x="6172200" y="4069080"/>
            <a:ext cx="5257800" cy="1965960"/>
          </a:xfrm>
          <a:prstGeom prst="rect">
            <a:avLst/>
          </a:prstGeom>
          <a:solidFill>
            <a:srgbClr val="FFFFFF"/>
          </a:solidFill>
          <a:ln w="15240">
            <a:solidFill>
              <a:srgbClr val="E2E8F0"/>
            </a:solidFill>
            <a:prstDash val="solid"/>
          </a:ln>
        </p:spPr>
      </p:sp>
      <p:sp>
        <p:nvSpPr>
          <p:cNvPr id="23" name="Shape 21"/>
          <p:cNvSpPr/>
          <p:nvPr/>
        </p:nvSpPr>
        <p:spPr>
          <a:xfrm>
            <a:off x="6446520" y="4343400"/>
            <a:ext cx="292608" cy="292608"/>
          </a:xfrm>
          <a:prstGeom prst="rect">
            <a:avLst/>
          </a:prstGeom>
          <a:solidFill>
            <a:srgbClr val="FFF1F2"/>
          </a:solidFill>
          <a:ln w="12700">
            <a:solidFill>
              <a:srgbClr val="E11D48"/>
            </a:solidFill>
            <a:prstDash val="solid"/>
          </a:ln>
        </p:spPr>
      </p:sp>
      <p:sp>
        <p:nvSpPr>
          <p:cNvPr id="24" name="Text 22"/>
          <p:cNvSpPr/>
          <p:nvPr/>
        </p:nvSpPr>
        <p:spPr>
          <a:xfrm>
            <a:off x="6446520" y="4343400"/>
            <a:ext cx="292608" cy="292608"/>
          </a:xfrm>
          <a:prstGeom prst="rect">
            <a:avLst/>
          </a:prstGeom>
          <a:noFill/>
          <a:ln/>
        </p:spPr>
        <p:txBody>
          <a:bodyPr wrap="square" rtlCol="0" anchor="ctr"/>
          <a:lstStyle/>
          <a:p>
            <a:pPr algn="ctr" indent="0" marL="0">
              <a:buNone/>
            </a:pPr>
            <a:r>
              <a:rPr lang="en-US" sz="1300" b="1" dirty="0">
                <a:solidFill>
                  <a:srgbClr val="E11D48"/>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6858000" y="4325112"/>
            <a:ext cx="4389120" cy="36576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Giao Thương B2B Hình Thức, Thiếu Đo Lường</a:t>
            </a:r>
            <a:endParaRPr lang="en-US" sz="1350" dirty="0"/>
          </a:p>
        </p:txBody>
      </p:sp>
      <p:sp>
        <p:nvSpPr>
          <p:cNvPr id="26" name="Text 24"/>
          <p:cNvSpPr/>
          <p:nvPr/>
        </p:nvSpPr>
        <p:spPr>
          <a:xfrm>
            <a:off x="6446520" y="4754880"/>
            <a:ext cx="4709160" cy="114300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Các cuộc gặp gỡ chỉ dừng lại ở giao lưu hình thức; không có sàn niêm yết sản phẩm ưu đãi nội khối và không thể đo lường giá trị hợp đồng kết nối thực chất.</a:t>
            </a:r>
            <a:endParaRPr lang="en-US" sz="1150" dirty="0"/>
          </a:p>
        </p:txBody>
      </p:sp>
      <p:sp>
        <p:nvSpPr>
          <p:cNvPr id="27" name="Shape 25"/>
          <p:cNvSpPr/>
          <p:nvPr/>
        </p:nvSpPr>
        <p:spPr>
          <a:xfrm>
            <a:off x="731520" y="6400800"/>
            <a:ext cx="10725912" cy="18288"/>
          </a:xfrm>
          <a:prstGeom prst="rect">
            <a:avLst/>
          </a:prstGeom>
          <a:solidFill>
            <a:srgbClr val="E2E8F0"/>
          </a:solidFill>
          <a:ln/>
        </p:spPr>
      </p:sp>
      <p:sp>
        <p:nvSpPr>
          <p:cNvPr id="28" name="Text 26"/>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Sinh Thái Chuyển Đổi Số Toàn Diện · CLB Doanh Nhân CEO 1983 · VIONE Ecosystem</a:t>
            </a:r>
            <a:endParaRPr lang="en-US" sz="950" dirty="0"/>
          </a:p>
        </p:txBody>
      </p:sp>
      <p:sp>
        <p:nvSpPr>
          <p:cNvPr id="29" name="Text 27"/>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HanoiBA</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59E0B"/>
          </a:solidFill>
          <a:ln/>
        </p:spPr>
      </p:sp>
      <p:sp>
        <p:nvSpPr>
          <p:cNvPr id="3" name="Shape 1"/>
          <p:cNvSpPr/>
          <p:nvPr/>
        </p:nvSpPr>
        <p:spPr>
          <a:xfrm>
            <a:off x="731520" y="411480"/>
            <a:ext cx="2926080" cy="292608"/>
          </a:xfrm>
          <a:prstGeom prst="rect">
            <a:avLst/>
          </a:prstGeom>
          <a:solidFill>
            <a:srgbClr val="003B95"/>
          </a:solidFill>
          <a:ln/>
        </p:spPr>
      </p:sp>
      <p:sp>
        <p:nvSpPr>
          <p:cNvPr id="4" name="Text 2"/>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MỤC ĐÍCH &amp; TẦM NHÌN</a:t>
            </a:r>
            <a:endParaRPr lang="en-US" sz="1000" dirty="0"/>
          </a:p>
        </p:txBody>
      </p:sp>
      <p:sp>
        <p:nvSpPr>
          <p:cNvPr id="5" name="Text 3"/>
          <p:cNvSpPr/>
          <p:nvPr/>
        </p:nvSpPr>
        <p:spPr>
          <a:xfrm>
            <a:off x="731520" y="777240"/>
            <a:ext cx="10725912" cy="594360"/>
          </a:xfrm>
          <a:prstGeom prst="rect">
            <a:avLst/>
          </a:prstGeom>
          <a:noFill/>
          <a:ln/>
        </p:spPr>
        <p:txBody>
          <a:bodyPr wrap="square" rtlCol="0" anchor="ctr"/>
          <a:lstStyle/>
          <a:p>
            <a:pPr indent="0" marL="0">
              <a:buNone/>
            </a:pPr>
            <a:r>
              <a:rPr lang="en-US" sz="2200" b="1" dirty="0">
                <a:solidFill>
                  <a:srgbClr val="003B95"/>
                </a:solidFill>
                <a:latin typeface="Calibri" pitchFamily="34" charset="0"/>
                <a:ea typeface="Calibri" pitchFamily="34" charset="-122"/>
                <a:cs typeface="Calibri" pitchFamily="34" charset="-120"/>
              </a:rPr>
              <a:t>Tôn Chỉ Hoạt Động: Gắn Kết · Chia Sẻ · Đồng Hành · Phát Triển</a:t>
            </a:r>
            <a:endParaRPr lang="en-US" sz="2200" dirty="0"/>
          </a:p>
        </p:txBody>
      </p:sp>
      <p:sp>
        <p:nvSpPr>
          <p:cNvPr id="6" name="Text 4"/>
          <p:cNvSpPr/>
          <p:nvPr/>
        </p:nvSpPr>
        <p:spPr>
          <a:xfrm>
            <a:off x="731520" y="1371600"/>
            <a:ext cx="10725912"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Xây dựng nền móng công nghệ vững chắc chuyển hóa hiệp hội thành tổ chức số hiện đại, thịnh vượng</a:t>
            </a:r>
            <a:endParaRPr lang="en-US" sz="1200" dirty="0"/>
          </a:p>
        </p:txBody>
      </p:sp>
      <p:sp>
        <p:nvSpPr>
          <p:cNvPr id="7" name="Shape 5"/>
          <p:cNvSpPr/>
          <p:nvPr/>
        </p:nvSpPr>
        <p:spPr>
          <a:xfrm>
            <a:off x="731520" y="1920240"/>
            <a:ext cx="2606040" cy="4206240"/>
          </a:xfrm>
          <a:prstGeom prst="rect">
            <a:avLst/>
          </a:prstGeom>
          <a:solidFill>
            <a:srgbClr val="FFFFFF"/>
          </a:solidFill>
          <a:ln w="19050">
            <a:solidFill>
              <a:srgbClr val="FDE68A"/>
            </a:solidFill>
            <a:prstDash val="solid"/>
          </a:ln>
        </p:spPr>
      </p:sp>
      <p:sp>
        <p:nvSpPr>
          <p:cNvPr id="8" name="Shape 6"/>
          <p:cNvSpPr/>
          <p:nvPr/>
        </p:nvSpPr>
        <p:spPr>
          <a:xfrm>
            <a:off x="960120" y="2148840"/>
            <a:ext cx="731520" cy="411480"/>
          </a:xfrm>
          <a:prstGeom prst="rect">
            <a:avLst/>
          </a:prstGeom>
          <a:solidFill>
            <a:srgbClr val="FEF3C7"/>
          </a:solidFill>
          <a:ln/>
        </p:spPr>
      </p:sp>
      <p:sp>
        <p:nvSpPr>
          <p:cNvPr id="9" name="Text 7"/>
          <p:cNvSpPr/>
          <p:nvPr/>
        </p:nvSpPr>
        <p:spPr>
          <a:xfrm>
            <a:off x="960120" y="2148840"/>
            <a:ext cx="731520" cy="411480"/>
          </a:xfrm>
          <a:prstGeom prst="rect">
            <a:avLst/>
          </a:prstGeom>
          <a:noFill/>
          <a:ln/>
        </p:spPr>
        <p:txBody>
          <a:bodyPr wrap="square" rtlCol="0" anchor="ctr"/>
          <a:lstStyle/>
          <a:p>
            <a:pPr algn="ctr" indent="0" marL="0">
              <a:buNone/>
            </a:pPr>
            <a:r>
              <a:rPr lang="en-US" sz="1600" b="1" dirty="0">
                <a:solidFill>
                  <a:srgbClr val="D97706"/>
                </a:solidFill>
                <a:latin typeface="Calibri" pitchFamily="34" charset="0"/>
                <a:ea typeface="Calibri" pitchFamily="34" charset="-122"/>
                <a:cs typeface="Calibri" pitchFamily="34" charset="-120"/>
              </a:rPr>
              <a:t>01</a:t>
            </a:r>
            <a:endParaRPr lang="en-US" sz="1600" dirty="0"/>
          </a:p>
        </p:txBody>
      </p:sp>
      <p:sp>
        <p:nvSpPr>
          <p:cNvPr id="10" name="Text 8"/>
          <p:cNvSpPr/>
          <p:nvPr/>
        </p:nvSpPr>
        <p:spPr>
          <a:xfrm>
            <a:off x="960120" y="2697480"/>
            <a:ext cx="2148840" cy="68580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Số Hóa 100% Hồ Sơ Hội Viên</a:t>
            </a:r>
            <a:endParaRPr lang="en-US" sz="1400" dirty="0"/>
          </a:p>
        </p:txBody>
      </p:sp>
      <p:sp>
        <p:nvSpPr>
          <p:cNvPr id="11" name="Text 9"/>
          <p:cNvSpPr/>
          <p:nvPr/>
        </p:nvSpPr>
        <p:spPr>
          <a:xfrm>
            <a:off x="960120" y="3429000"/>
            <a:ext cx="2148840" cy="251460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Thiết lập kho dữ liệu C-Level chuẩn hóa 360 độ: Hồ sơ pháp nhân, MST, vốn điều lệ, định danh mã hội viên độc bản duy nhất.</a:t>
            </a:r>
            <a:endParaRPr lang="en-US" sz="1150" dirty="0"/>
          </a:p>
        </p:txBody>
      </p:sp>
      <p:sp>
        <p:nvSpPr>
          <p:cNvPr id="12" name="Shape 10"/>
          <p:cNvSpPr/>
          <p:nvPr/>
        </p:nvSpPr>
        <p:spPr>
          <a:xfrm>
            <a:off x="3456432" y="1920240"/>
            <a:ext cx="2606040" cy="4206240"/>
          </a:xfrm>
          <a:prstGeom prst="rect">
            <a:avLst/>
          </a:prstGeom>
          <a:solidFill>
            <a:srgbClr val="FFFFFF"/>
          </a:solidFill>
          <a:ln w="19050">
            <a:solidFill>
              <a:srgbClr val="FDE68A"/>
            </a:solidFill>
            <a:prstDash val="solid"/>
          </a:ln>
        </p:spPr>
      </p:sp>
      <p:sp>
        <p:nvSpPr>
          <p:cNvPr id="13" name="Shape 11"/>
          <p:cNvSpPr/>
          <p:nvPr/>
        </p:nvSpPr>
        <p:spPr>
          <a:xfrm>
            <a:off x="3685032" y="2148840"/>
            <a:ext cx="731520" cy="411480"/>
          </a:xfrm>
          <a:prstGeom prst="rect">
            <a:avLst/>
          </a:prstGeom>
          <a:solidFill>
            <a:srgbClr val="FEF3C7"/>
          </a:solidFill>
          <a:ln/>
        </p:spPr>
      </p:sp>
      <p:sp>
        <p:nvSpPr>
          <p:cNvPr id="14" name="Text 12"/>
          <p:cNvSpPr/>
          <p:nvPr/>
        </p:nvSpPr>
        <p:spPr>
          <a:xfrm>
            <a:off x="3685032" y="2148840"/>
            <a:ext cx="731520" cy="411480"/>
          </a:xfrm>
          <a:prstGeom prst="rect">
            <a:avLst/>
          </a:prstGeom>
          <a:noFill/>
          <a:ln/>
        </p:spPr>
        <p:txBody>
          <a:bodyPr wrap="square" rtlCol="0" anchor="ctr"/>
          <a:lstStyle/>
          <a:p>
            <a:pPr algn="ctr" indent="0" marL="0">
              <a:buNone/>
            </a:pPr>
            <a:r>
              <a:rPr lang="en-US" sz="1600" b="1" dirty="0">
                <a:solidFill>
                  <a:srgbClr val="D97706"/>
                </a:solidFill>
                <a:latin typeface="Calibri" pitchFamily="34" charset="0"/>
                <a:ea typeface="Calibri" pitchFamily="34" charset="-122"/>
                <a:cs typeface="Calibri" pitchFamily="34" charset="-120"/>
              </a:rPr>
              <a:t>02</a:t>
            </a:r>
            <a:endParaRPr lang="en-US" sz="1600" dirty="0"/>
          </a:p>
        </p:txBody>
      </p:sp>
      <p:sp>
        <p:nvSpPr>
          <p:cNvPr id="15" name="Text 13"/>
          <p:cNvSpPr/>
          <p:nvPr/>
        </p:nvSpPr>
        <p:spPr>
          <a:xfrm>
            <a:off x="3685032" y="2697480"/>
            <a:ext cx="2148840" cy="68580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Tự Động Hóa 90% Tác Vụ Thư Ký</a:t>
            </a:r>
            <a:endParaRPr lang="en-US" sz="1400" dirty="0"/>
          </a:p>
        </p:txBody>
      </p:sp>
      <p:sp>
        <p:nvSpPr>
          <p:cNvPr id="16" name="Text 14"/>
          <p:cNvSpPr/>
          <p:nvPr/>
        </p:nvSpPr>
        <p:spPr>
          <a:xfrm>
            <a:off x="3685032" y="3429000"/>
            <a:ext cx="2148840" cy="251460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Tự động gửi email cấp tài khoản, tự động sinh mã VietQR Napas 247 gạch nợ hội phí, xuất báo cáo tài chính chỉ với 1 cú chạm.</a:t>
            </a:r>
            <a:endParaRPr lang="en-US" sz="1150" dirty="0"/>
          </a:p>
        </p:txBody>
      </p:sp>
      <p:sp>
        <p:nvSpPr>
          <p:cNvPr id="17" name="Shape 15"/>
          <p:cNvSpPr/>
          <p:nvPr/>
        </p:nvSpPr>
        <p:spPr>
          <a:xfrm>
            <a:off x="6181344" y="1920240"/>
            <a:ext cx="2606040" cy="4206240"/>
          </a:xfrm>
          <a:prstGeom prst="rect">
            <a:avLst/>
          </a:prstGeom>
          <a:solidFill>
            <a:srgbClr val="FFFFFF"/>
          </a:solidFill>
          <a:ln w="19050">
            <a:solidFill>
              <a:srgbClr val="FDE68A"/>
            </a:solidFill>
            <a:prstDash val="solid"/>
          </a:ln>
        </p:spPr>
      </p:sp>
      <p:sp>
        <p:nvSpPr>
          <p:cNvPr id="18" name="Shape 16"/>
          <p:cNvSpPr/>
          <p:nvPr/>
        </p:nvSpPr>
        <p:spPr>
          <a:xfrm>
            <a:off x="6409944" y="2148840"/>
            <a:ext cx="731520" cy="411480"/>
          </a:xfrm>
          <a:prstGeom prst="rect">
            <a:avLst/>
          </a:prstGeom>
          <a:solidFill>
            <a:srgbClr val="FEF3C7"/>
          </a:solidFill>
          <a:ln/>
        </p:spPr>
      </p:sp>
      <p:sp>
        <p:nvSpPr>
          <p:cNvPr id="19" name="Text 17"/>
          <p:cNvSpPr/>
          <p:nvPr/>
        </p:nvSpPr>
        <p:spPr>
          <a:xfrm>
            <a:off x="6409944" y="2148840"/>
            <a:ext cx="731520" cy="411480"/>
          </a:xfrm>
          <a:prstGeom prst="rect">
            <a:avLst/>
          </a:prstGeom>
          <a:noFill/>
          <a:ln/>
        </p:spPr>
        <p:txBody>
          <a:bodyPr wrap="square" rtlCol="0" anchor="ctr"/>
          <a:lstStyle/>
          <a:p>
            <a:pPr algn="ctr" indent="0" marL="0">
              <a:buNone/>
            </a:pPr>
            <a:r>
              <a:rPr lang="en-US" sz="1600" b="1" dirty="0">
                <a:solidFill>
                  <a:srgbClr val="D97706"/>
                </a:solidFill>
                <a:latin typeface="Calibri" pitchFamily="34" charset="0"/>
                <a:ea typeface="Calibri" pitchFamily="34" charset="-122"/>
                <a:cs typeface="Calibri" pitchFamily="34" charset="-120"/>
              </a:rPr>
              <a:t>03</a:t>
            </a:r>
            <a:endParaRPr lang="en-US" sz="1600" dirty="0"/>
          </a:p>
        </p:txBody>
      </p:sp>
      <p:sp>
        <p:nvSpPr>
          <p:cNvPr id="20" name="Text 18"/>
          <p:cNvSpPr/>
          <p:nvPr/>
        </p:nvSpPr>
        <p:spPr>
          <a:xfrm>
            <a:off x="6409944" y="2697480"/>
            <a:ext cx="2148840" cy="68580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Xúc Tiến Thương Mại B2B Thực Chất</a:t>
            </a:r>
            <a:endParaRPr lang="en-US" sz="1400" dirty="0"/>
          </a:p>
        </p:txBody>
      </p:sp>
      <p:sp>
        <p:nvSpPr>
          <p:cNvPr id="21" name="Text 19"/>
          <p:cNvSpPr/>
          <p:nvPr/>
        </p:nvSpPr>
        <p:spPr>
          <a:xfrm>
            <a:off x="6409944" y="3429000"/>
            <a:ext cx="2148840" cy="251460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Tạo dòng doanh thu và hợp đồng thực tế giữa 500+ doanh nghiệp thành viên qua Sàn Marketplace và Bảng tin cơ hội đầu tư.</a:t>
            </a:r>
            <a:endParaRPr lang="en-US" sz="1150" dirty="0"/>
          </a:p>
        </p:txBody>
      </p:sp>
      <p:sp>
        <p:nvSpPr>
          <p:cNvPr id="22" name="Shape 20"/>
          <p:cNvSpPr/>
          <p:nvPr/>
        </p:nvSpPr>
        <p:spPr>
          <a:xfrm>
            <a:off x="8906256" y="1920240"/>
            <a:ext cx="2606040" cy="4206240"/>
          </a:xfrm>
          <a:prstGeom prst="rect">
            <a:avLst/>
          </a:prstGeom>
          <a:solidFill>
            <a:srgbClr val="FFFFFF"/>
          </a:solidFill>
          <a:ln w="19050">
            <a:solidFill>
              <a:srgbClr val="FDE68A"/>
            </a:solidFill>
            <a:prstDash val="solid"/>
          </a:ln>
        </p:spPr>
      </p:sp>
      <p:sp>
        <p:nvSpPr>
          <p:cNvPr id="23" name="Shape 21"/>
          <p:cNvSpPr/>
          <p:nvPr/>
        </p:nvSpPr>
        <p:spPr>
          <a:xfrm>
            <a:off x="9134856" y="2148840"/>
            <a:ext cx="731520" cy="411480"/>
          </a:xfrm>
          <a:prstGeom prst="rect">
            <a:avLst/>
          </a:prstGeom>
          <a:solidFill>
            <a:srgbClr val="FEF3C7"/>
          </a:solidFill>
          <a:ln/>
        </p:spPr>
      </p:sp>
      <p:sp>
        <p:nvSpPr>
          <p:cNvPr id="24" name="Text 22"/>
          <p:cNvSpPr/>
          <p:nvPr/>
        </p:nvSpPr>
        <p:spPr>
          <a:xfrm>
            <a:off x="9134856" y="2148840"/>
            <a:ext cx="731520" cy="411480"/>
          </a:xfrm>
          <a:prstGeom prst="rect">
            <a:avLst/>
          </a:prstGeom>
          <a:noFill/>
          <a:ln/>
        </p:spPr>
        <p:txBody>
          <a:bodyPr wrap="square" rtlCol="0" anchor="ctr"/>
          <a:lstStyle/>
          <a:p>
            <a:pPr algn="ctr" indent="0" marL="0">
              <a:buNone/>
            </a:pPr>
            <a:r>
              <a:rPr lang="en-US" sz="1600" b="1" dirty="0">
                <a:solidFill>
                  <a:srgbClr val="D97706"/>
                </a:solidFill>
                <a:latin typeface="Calibri" pitchFamily="34" charset="0"/>
                <a:ea typeface="Calibri" pitchFamily="34" charset="-122"/>
                <a:cs typeface="Calibri" pitchFamily="34" charset="-120"/>
              </a:rPr>
              <a:t>04</a:t>
            </a:r>
            <a:endParaRPr lang="en-US" sz="1600" dirty="0"/>
          </a:p>
        </p:txBody>
      </p:sp>
      <p:sp>
        <p:nvSpPr>
          <p:cNvPr id="25" name="Text 23"/>
          <p:cNvSpPr/>
          <p:nvPr/>
        </p:nvSpPr>
        <p:spPr>
          <a:xfrm>
            <a:off x="9134856" y="2697480"/>
            <a:ext cx="2148840" cy="68580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Nâng Tầm Vị Thế Thương Hiệu</a:t>
            </a:r>
            <a:endParaRPr lang="en-US" sz="1400" dirty="0"/>
          </a:p>
        </p:txBody>
      </p:sp>
      <p:sp>
        <p:nvSpPr>
          <p:cNvPr id="26" name="Text 24"/>
          <p:cNvSpPr/>
          <p:nvPr/>
        </p:nvSpPr>
        <p:spPr>
          <a:xfrm>
            <a:off x="9134856" y="3429000"/>
            <a:ext cx="2148840" cy="251460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Đưa CLB CEO 1983 trở thành hình mẫu tiêu biểu của HanoiBA với công nghệ Thẻ thông minh NFC và ứng dụng di động độc quyền.</a:t>
            </a:r>
            <a:endParaRPr lang="en-US" sz="1150" dirty="0"/>
          </a:p>
        </p:txBody>
      </p:sp>
      <p:sp>
        <p:nvSpPr>
          <p:cNvPr id="27" name="Shape 25"/>
          <p:cNvSpPr/>
          <p:nvPr/>
        </p:nvSpPr>
        <p:spPr>
          <a:xfrm>
            <a:off x="731520" y="6400800"/>
            <a:ext cx="10725912" cy="18288"/>
          </a:xfrm>
          <a:prstGeom prst="rect">
            <a:avLst/>
          </a:prstGeom>
          <a:solidFill>
            <a:srgbClr val="E2E8F0"/>
          </a:solidFill>
          <a:ln/>
        </p:spPr>
      </p:sp>
      <p:sp>
        <p:nvSpPr>
          <p:cNvPr id="28" name="Text 26"/>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Sinh Thái Chuyển Đổi Số Toàn Diện · CLB Doanh Nhân CEO 1983 · VIONE Ecosystem</a:t>
            </a:r>
            <a:endParaRPr lang="en-US" sz="950" dirty="0"/>
          </a:p>
        </p:txBody>
      </p:sp>
      <p:sp>
        <p:nvSpPr>
          <p:cNvPr id="29" name="Text 27"/>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HanoiBA</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59E0B"/>
          </a:solidFill>
          <a:ln/>
        </p:spPr>
      </p:sp>
      <p:sp>
        <p:nvSpPr>
          <p:cNvPr id="3" name="Shape 1"/>
          <p:cNvSpPr/>
          <p:nvPr/>
        </p:nvSpPr>
        <p:spPr>
          <a:xfrm>
            <a:off x="731520" y="411480"/>
            <a:ext cx="2926080" cy="292608"/>
          </a:xfrm>
          <a:prstGeom prst="rect">
            <a:avLst/>
          </a:prstGeom>
          <a:solidFill>
            <a:srgbClr val="003B95"/>
          </a:solidFill>
          <a:ln/>
        </p:spPr>
      </p:sp>
      <p:sp>
        <p:nvSpPr>
          <p:cNvPr id="4" name="Text 2"/>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KIẾN TRÚC HỆ THỐNG</a:t>
            </a:r>
            <a:endParaRPr lang="en-US" sz="1000" dirty="0"/>
          </a:p>
        </p:txBody>
      </p:sp>
      <p:sp>
        <p:nvSpPr>
          <p:cNvPr id="5" name="Text 3"/>
          <p:cNvSpPr/>
          <p:nvPr/>
        </p:nvSpPr>
        <p:spPr>
          <a:xfrm>
            <a:off x="731520" y="777240"/>
            <a:ext cx="10725912" cy="594360"/>
          </a:xfrm>
          <a:prstGeom prst="rect">
            <a:avLst/>
          </a:prstGeom>
          <a:noFill/>
          <a:ln/>
        </p:spPr>
        <p:txBody>
          <a:bodyPr wrap="square" rtlCol="0" anchor="ctr"/>
          <a:lstStyle/>
          <a:p>
            <a:pPr indent="0" marL="0">
              <a:buNone/>
            </a:pPr>
            <a:r>
              <a:rPr lang="en-US" sz="2200" b="1" dirty="0">
                <a:solidFill>
                  <a:srgbClr val="003B95"/>
                </a:solidFill>
                <a:latin typeface="Calibri" pitchFamily="34" charset="0"/>
                <a:ea typeface="Calibri" pitchFamily="34" charset="-122"/>
                <a:cs typeface="Calibri" pitchFamily="34" charset="-120"/>
              </a:rPr>
              <a:t>Kiến Trúc "Kiềng Ba Chân" Hoàn Hảo &amp; Đồng Bộ Thời Gian Thực</a:t>
            </a:r>
            <a:endParaRPr lang="en-US" sz="2200" dirty="0"/>
          </a:p>
        </p:txBody>
      </p:sp>
      <p:sp>
        <p:nvSpPr>
          <p:cNvPr id="6" name="Text 4"/>
          <p:cNvSpPr/>
          <p:nvPr/>
        </p:nvSpPr>
        <p:spPr>
          <a:xfrm>
            <a:off x="731520" y="1371600"/>
            <a:ext cx="10725912"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Mô hình kết hợp 3 phân hệ liên thông tuyệt đối qua nền tảng PostgreSQL, Socket.io và HTTPS</a:t>
            </a:r>
            <a:endParaRPr lang="en-US" sz="1200" dirty="0"/>
          </a:p>
        </p:txBody>
      </p:sp>
      <p:sp>
        <p:nvSpPr>
          <p:cNvPr id="7" name="Shape 5"/>
          <p:cNvSpPr/>
          <p:nvPr/>
        </p:nvSpPr>
        <p:spPr>
          <a:xfrm>
            <a:off x="731520" y="1920240"/>
            <a:ext cx="3474720" cy="4206240"/>
          </a:xfrm>
          <a:prstGeom prst="rect">
            <a:avLst/>
          </a:prstGeom>
          <a:solidFill>
            <a:srgbClr val="FFFFFF"/>
          </a:solidFill>
          <a:ln w="19050">
            <a:solidFill>
              <a:srgbClr val="003B95"/>
            </a:solidFill>
            <a:prstDash val="solid"/>
          </a:ln>
        </p:spPr>
      </p:sp>
      <p:sp>
        <p:nvSpPr>
          <p:cNvPr id="8" name="Shape 6"/>
          <p:cNvSpPr/>
          <p:nvPr/>
        </p:nvSpPr>
        <p:spPr>
          <a:xfrm>
            <a:off x="731520" y="1920240"/>
            <a:ext cx="3474720" cy="731520"/>
          </a:xfrm>
          <a:prstGeom prst="rect">
            <a:avLst/>
          </a:prstGeom>
          <a:solidFill>
            <a:srgbClr val="003B95"/>
          </a:solidFill>
          <a:ln/>
        </p:spPr>
      </p:sp>
      <p:sp>
        <p:nvSpPr>
          <p:cNvPr id="9" name="Text 7"/>
          <p:cNvSpPr/>
          <p:nvPr/>
        </p:nvSpPr>
        <p:spPr>
          <a:xfrm>
            <a:off x="914400" y="1965960"/>
            <a:ext cx="310896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Web CRM Quản Trị</a:t>
            </a:r>
            <a:endParaRPr lang="en-US" sz="1300" dirty="0"/>
          </a:p>
        </p:txBody>
      </p:sp>
      <p:sp>
        <p:nvSpPr>
          <p:cNvPr id="10" name="Text 8"/>
          <p:cNvSpPr/>
          <p:nvPr/>
        </p:nvSpPr>
        <p:spPr>
          <a:xfrm>
            <a:off x="914400" y="2286000"/>
            <a:ext cx="3108960" cy="274320"/>
          </a:xfrm>
          <a:prstGeom prst="rect">
            <a:avLst/>
          </a:prstGeom>
          <a:noFill/>
          <a:ln/>
        </p:spPr>
        <p:txBody>
          <a:bodyPr wrap="square" rtlCol="0" anchor="ctr"/>
          <a:lstStyle/>
          <a:p>
            <a:pPr indent="0" marL="0">
              <a:buNone/>
            </a:pPr>
            <a:r>
              <a:rPr lang="en-US" sz="950" dirty="0">
                <a:solidFill>
                  <a:srgbClr val="F59E0B"/>
                </a:solidFill>
                <a:latin typeface="Calibri" pitchFamily="34" charset="0"/>
                <a:ea typeface="Calibri" pitchFamily="34" charset="-122"/>
                <a:cs typeface="Calibri" pitchFamily="34" charset="-120"/>
              </a:rPr>
              <a:t>https://14.225.217.232:5443</a:t>
            </a:r>
            <a:endParaRPr lang="en-US" sz="950" dirty="0"/>
          </a:p>
        </p:txBody>
      </p:sp>
      <p:sp>
        <p:nvSpPr>
          <p:cNvPr id="11" name="Text 9"/>
          <p:cNvSpPr/>
          <p:nvPr/>
        </p:nvSpPr>
        <p:spPr>
          <a:xfrm>
            <a:off x="914400" y="2724912"/>
            <a:ext cx="310896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Dành cho Ban Thư Ký &amp; Ban Chấp Hành</a:t>
            </a:r>
            <a:endParaRPr lang="en-US" sz="1000" dirty="0"/>
          </a:p>
        </p:txBody>
      </p:sp>
      <p:sp>
        <p:nvSpPr>
          <p:cNvPr id="12" name="Text 10"/>
          <p:cNvSpPr/>
          <p:nvPr/>
        </p:nvSpPr>
        <p:spPr>
          <a:xfrm>
            <a:off x="914400" y="3063240"/>
            <a:ext cx="3108960" cy="29260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Thẩm định và phê duyệt hồ sơ doanh nghiệp 360°</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Quản lý sự kiện, cấu hình vé và sơ đồ rạp chiếu Cinema Map</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Điểm danh đại biểu tốc độ cao bằng mã QR tại cổng</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Bảng theo dõi niên khóa hội phí &amp; công tắc gạch nợ tự động</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Kiểm duyệt Sàn B2B Marketplace &amp; Bảng tin cơ hội</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Vận hành Biểu quyết trực tiếp và Quay thưởng Lucky Draw</a:t>
            </a:r>
            <a:endParaRPr lang="en-US" sz="1050" dirty="0"/>
          </a:p>
        </p:txBody>
      </p:sp>
      <p:sp>
        <p:nvSpPr>
          <p:cNvPr id="13" name="Shape 11"/>
          <p:cNvSpPr/>
          <p:nvPr/>
        </p:nvSpPr>
        <p:spPr>
          <a:xfrm>
            <a:off x="4370832" y="1920240"/>
            <a:ext cx="3474720" cy="4206240"/>
          </a:xfrm>
          <a:prstGeom prst="rect">
            <a:avLst/>
          </a:prstGeom>
          <a:solidFill>
            <a:srgbClr val="FFFFFF"/>
          </a:solidFill>
          <a:ln w="19050">
            <a:solidFill>
              <a:srgbClr val="003B95"/>
            </a:solidFill>
            <a:prstDash val="solid"/>
          </a:ln>
        </p:spPr>
      </p:sp>
      <p:sp>
        <p:nvSpPr>
          <p:cNvPr id="14" name="Shape 12"/>
          <p:cNvSpPr/>
          <p:nvPr/>
        </p:nvSpPr>
        <p:spPr>
          <a:xfrm>
            <a:off x="4370832" y="1920240"/>
            <a:ext cx="3474720" cy="731520"/>
          </a:xfrm>
          <a:prstGeom prst="rect">
            <a:avLst/>
          </a:prstGeom>
          <a:solidFill>
            <a:srgbClr val="003B95"/>
          </a:solidFill>
          <a:ln/>
        </p:spPr>
      </p:sp>
      <p:sp>
        <p:nvSpPr>
          <p:cNvPr id="15" name="Text 13"/>
          <p:cNvSpPr/>
          <p:nvPr/>
        </p:nvSpPr>
        <p:spPr>
          <a:xfrm>
            <a:off x="4553712" y="1965960"/>
            <a:ext cx="310896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Mobile App Doanh Nhân</a:t>
            </a:r>
            <a:endParaRPr lang="en-US" sz="1300" dirty="0"/>
          </a:p>
        </p:txBody>
      </p:sp>
      <p:sp>
        <p:nvSpPr>
          <p:cNvPr id="16" name="Text 14"/>
          <p:cNvSpPr/>
          <p:nvPr/>
        </p:nvSpPr>
        <p:spPr>
          <a:xfrm>
            <a:off x="4553712" y="2286000"/>
            <a:ext cx="3108960" cy="274320"/>
          </a:xfrm>
          <a:prstGeom prst="rect">
            <a:avLst/>
          </a:prstGeom>
          <a:noFill/>
          <a:ln/>
        </p:spPr>
        <p:txBody>
          <a:bodyPr wrap="square" rtlCol="0" anchor="ctr"/>
          <a:lstStyle/>
          <a:p>
            <a:pPr indent="0" marL="0">
              <a:buNone/>
            </a:pPr>
            <a:r>
              <a:rPr lang="en-US" sz="950" dirty="0">
                <a:solidFill>
                  <a:srgbClr val="F59E0B"/>
                </a:solidFill>
                <a:latin typeface="Calibri" pitchFamily="34" charset="0"/>
                <a:ea typeface="Calibri" pitchFamily="34" charset="-122"/>
                <a:cs typeface="Calibri" pitchFamily="34" charset="-120"/>
              </a:rPr>
              <a:t>https://14.225.217.232:5444</a:t>
            </a:r>
            <a:endParaRPr lang="en-US" sz="950" dirty="0"/>
          </a:p>
        </p:txBody>
      </p:sp>
      <p:sp>
        <p:nvSpPr>
          <p:cNvPr id="17" name="Text 15"/>
          <p:cNvSpPr/>
          <p:nvPr/>
        </p:nvSpPr>
        <p:spPr>
          <a:xfrm>
            <a:off x="4553712" y="2724912"/>
            <a:ext cx="310896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Dành cho 500+ Doanh Nhân C-Level</a:t>
            </a:r>
            <a:endParaRPr lang="en-US" sz="1000" dirty="0"/>
          </a:p>
        </p:txBody>
      </p:sp>
      <p:sp>
        <p:nvSpPr>
          <p:cNvPr id="18" name="Text 16"/>
          <p:cNvSpPr/>
          <p:nvPr/>
        </p:nvSpPr>
        <p:spPr>
          <a:xfrm>
            <a:off x="4553712" y="3063240"/>
            <a:ext cx="3108960" cy="29260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Thẻ Hội viên VIP 3D mạ vàng &amp; Radar NFC quét lân cận</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Danh thiếp số công khai 1-chạm xuất danh bạ .vcf chuẩn</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Đăng ký sự kiện: Vé miễn phí 0đ và Vé có phí VietQR</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Mua bán Sàn giao thương Luxury 3 section phân trang</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Nhắn tin Messenger VIP: Chat 1-1, nhóm, gửi định vị GPS</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Ví lưu trữ vé Check-in và nhận thẻ vinh danh Lucky Draw</a:t>
            </a:r>
            <a:endParaRPr lang="en-US" sz="1050" dirty="0"/>
          </a:p>
        </p:txBody>
      </p:sp>
      <p:sp>
        <p:nvSpPr>
          <p:cNvPr id="19" name="Shape 17"/>
          <p:cNvSpPr/>
          <p:nvPr/>
        </p:nvSpPr>
        <p:spPr>
          <a:xfrm>
            <a:off x="8010144" y="1920240"/>
            <a:ext cx="3474720" cy="4206240"/>
          </a:xfrm>
          <a:prstGeom prst="rect">
            <a:avLst/>
          </a:prstGeom>
          <a:solidFill>
            <a:srgbClr val="FFFFFF"/>
          </a:solidFill>
          <a:ln w="19050">
            <a:solidFill>
              <a:srgbClr val="003B95"/>
            </a:solidFill>
            <a:prstDash val="solid"/>
          </a:ln>
        </p:spPr>
      </p:sp>
      <p:sp>
        <p:nvSpPr>
          <p:cNvPr id="20" name="Shape 18"/>
          <p:cNvSpPr/>
          <p:nvPr/>
        </p:nvSpPr>
        <p:spPr>
          <a:xfrm>
            <a:off x="8010144" y="1920240"/>
            <a:ext cx="3474720" cy="731520"/>
          </a:xfrm>
          <a:prstGeom prst="rect">
            <a:avLst/>
          </a:prstGeom>
          <a:solidFill>
            <a:srgbClr val="003B95"/>
          </a:solidFill>
          <a:ln/>
        </p:spPr>
      </p:sp>
      <p:sp>
        <p:nvSpPr>
          <p:cNvPr id="21" name="Text 19"/>
          <p:cNvSpPr/>
          <p:nvPr/>
        </p:nvSpPr>
        <p:spPr>
          <a:xfrm>
            <a:off x="8193024" y="1965960"/>
            <a:ext cx="310896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Landing Page 3D &amp; Email</a:t>
            </a:r>
            <a:endParaRPr lang="en-US" sz="1300" dirty="0"/>
          </a:p>
        </p:txBody>
      </p:sp>
      <p:sp>
        <p:nvSpPr>
          <p:cNvPr id="22" name="Text 20"/>
          <p:cNvSpPr/>
          <p:nvPr/>
        </p:nvSpPr>
        <p:spPr>
          <a:xfrm>
            <a:off x="8193024" y="2286000"/>
            <a:ext cx="3108960" cy="274320"/>
          </a:xfrm>
          <a:prstGeom prst="rect">
            <a:avLst/>
          </a:prstGeom>
          <a:noFill/>
          <a:ln/>
        </p:spPr>
        <p:txBody>
          <a:bodyPr wrap="square" rtlCol="0" anchor="ctr"/>
          <a:lstStyle/>
          <a:p>
            <a:pPr indent="0" marL="0">
              <a:buNone/>
            </a:pPr>
            <a:r>
              <a:rPr lang="en-US" sz="950" dirty="0">
                <a:solidFill>
                  <a:srgbClr val="F59E0B"/>
                </a:solidFill>
                <a:latin typeface="Calibri" pitchFamily="34" charset="0"/>
                <a:ea typeface="Calibri" pitchFamily="34" charset="-122"/>
                <a:cs typeface="Calibri" pitchFamily="34" charset="-120"/>
              </a:rPr>
              <a:t>https://14.225.217.232:5444/landing/ceo/v1</a:t>
            </a:r>
            <a:endParaRPr lang="en-US" sz="950" dirty="0"/>
          </a:p>
        </p:txBody>
      </p:sp>
      <p:sp>
        <p:nvSpPr>
          <p:cNvPr id="23" name="Text 21"/>
          <p:cNvSpPr/>
          <p:nvPr/>
        </p:nvSpPr>
        <p:spPr>
          <a:xfrm>
            <a:off x="8193024" y="2724912"/>
            <a:ext cx="310896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Cổng Đối Ngoại &amp; Tiếp Nhận Hội Viên Mới</a:t>
            </a:r>
            <a:endParaRPr lang="en-US" sz="1000" dirty="0"/>
          </a:p>
        </p:txBody>
      </p:sp>
      <p:sp>
        <p:nvSpPr>
          <p:cNvPr id="24" name="Text 22"/>
          <p:cNvSpPr/>
          <p:nvPr/>
        </p:nvSpPr>
        <p:spPr>
          <a:xfrm>
            <a:off x="8193024" y="3063240"/>
            <a:ext cx="3108960" cy="29260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Trải nghiệm điện ảnh 3D cuộn mượt mà giới thiệu 4 trụ cột</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Tiếp nhận form đăng ký thông tin C-Level và pháp nhân MST</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Tự động tạo tài khoản vione_users và sinh mật khẩu bảo mật</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Gửi ngay bức Email HTML chào mừng chứa tài khoản qua SMTP</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Cơ chế tra cứu tiến độ hồ sơ tự động polling mỗi 4 giây</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Hướng dẫn cài đặt ứng dụng PWA trên iOS Safari &amp; Android</a:t>
            </a:r>
            <a:endParaRPr lang="en-US" sz="1050" dirty="0"/>
          </a:p>
        </p:txBody>
      </p:sp>
      <p:sp>
        <p:nvSpPr>
          <p:cNvPr id="25" name="Shape 23"/>
          <p:cNvSpPr/>
          <p:nvPr/>
        </p:nvSpPr>
        <p:spPr>
          <a:xfrm>
            <a:off x="731520" y="6400800"/>
            <a:ext cx="10725912" cy="18288"/>
          </a:xfrm>
          <a:prstGeom prst="rect">
            <a:avLst/>
          </a:prstGeom>
          <a:solidFill>
            <a:srgbClr val="E2E8F0"/>
          </a:solidFill>
          <a:ln/>
        </p:spPr>
      </p:sp>
      <p:sp>
        <p:nvSpPr>
          <p:cNvPr id="26"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Sinh Thái Chuyển Đổi Số Toàn Diện · CLB Doanh Nhân CEO 1983 · VIONE Ecosystem</a:t>
            </a:r>
            <a:endParaRPr lang="en-US" sz="950" dirty="0"/>
          </a:p>
        </p:txBody>
      </p:sp>
      <p:sp>
        <p:nvSpPr>
          <p:cNvPr id="27"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HanoiBA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59E0B"/>
          </a:solidFill>
          <a:ln/>
        </p:spPr>
      </p:sp>
      <p:sp>
        <p:nvSpPr>
          <p:cNvPr id="3" name="Shape 1"/>
          <p:cNvSpPr/>
          <p:nvPr/>
        </p:nvSpPr>
        <p:spPr>
          <a:xfrm>
            <a:off x="731520" y="411480"/>
            <a:ext cx="2926080" cy="292608"/>
          </a:xfrm>
          <a:prstGeom prst="rect">
            <a:avLst/>
          </a:prstGeom>
          <a:solidFill>
            <a:srgbClr val="003B95"/>
          </a:solidFill>
          <a:ln/>
        </p:spPr>
      </p:sp>
      <p:sp>
        <p:nvSpPr>
          <p:cNvPr id="4" name="Text 2"/>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TRỤ CỘT QUẢN TRỊ 1</a:t>
            </a:r>
            <a:endParaRPr lang="en-US" sz="1000" dirty="0"/>
          </a:p>
        </p:txBody>
      </p:sp>
      <p:sp>
        <p:nvSpPr>
          <p:cNvPr id="5" name="Text 3"/>
          <p:cNvSpPr/>
          <p:nvPr/>
        </p:nvSpPr>
        <p:spPr>
          <a:xfrm>
            <a:off x="731520" y="777240"/>
            <a:ext cx="10725912" cy="594360"/>
          </a:xfrm>
          <a:prstGeom prst="rect">
            <a:avLst/>
          </a:prstGeom>
          <a:noFill/>
          <a:ln/>
        </p:spPr>
        <p:txBody>
          <a:bodyPr wrap="square" rtlCol="0" anchor="ctr"/>
          <a:lstStyle/>
          <a:p>
            <a:pPr indent="0" marL="0">
              <a:buNone/>
            </a:pPr>
            <a:r>
              <a:rPr lang="en-US" sz="2200" b="1" dirty="0">
                <a:solidFill>
                  <a:srgbClr val="003B95"/>
                </a:solidFill>
                <a:latin typeface="Calibri" pitchFamily="34" charset="0"/>
                <a:ea typeface="Calibri" pitchFamily="34" charset="-122"/>
                <a:cs typeface="Calibri" pitchFamily="34" charset="-120"/>
              </a:rPr>
              <a:t>Web CRM: "Bộ Não Điều Hành" Tối Cao Của Ban Lãnh Đạo Hiệp Hội</a:t>
            </a:r>
            <a:endParaRPr lang="en-US" sz="2200" dirty="0"/>
          </a:p>
        </p:txBody>
      </p:sp>
      <p:sp>
        <p:nvSpPr>
          <p:cNvPr id="6" name="Text 4"/>
          <p:cNvSpPr/>
          <p:nvPr/>
        </p:nvSpPr>
        <p:spPr>
          <a:xfrm>
            <a:off x="731520" y="1371600"/>
            <a:ext cx="10725912"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Tập trung toàn quyền thẩm định, điều phối tài chính, quản lý đại biểu và bảo mật thông tin</a:t>
            </a:r>
            <a:endParaRPr lang="en-US" sz="1200" dirty="0"/>
          </a:p>
        </p:txBody>
      </p:sp>
      <p:sp>
        <p:nvSpPr>
          <p:cNvPr id="7" name="Shape 5"/>
          <p:cNvSpPr/>
          <p:nvPr/>
        </p:nvSpPr>
        <p:spPr>
          <a:xfrm>
            <a:off x="731520" y="1920240"/>
            <a:ext cx="3474720" cy="1965960"/>
          </a:xfrm>
          <a:prstGeom prst="rect">
            <a:avLst/>
          </a:prstGeom>
          <a:solidFill>
            <a:srgbClr val="FFFFFF"/>
          </a:solidFill>
          <a:ln w="15240">
            <a:solidFill>
              <a:srgbClr val="E2E8F0"/>
            </a:solidFill>
            <a:prstDash val="solid"/>
          </a:ln>
        </p:spPr>
      </p:sp>
      <p:sp>
        <p:nvSpPr>
          <p:cNvPr id="8" name="Shape 6"/>
          <p:cNvSpPr/>
          <p:nvPr/>
        </p:nvSpPr>
        <p:spPr>
          <a:xfrm>
            <a:off x="960120" y="2148840"/>
            <a:ext cx="109728" cy="320040"/>
          </a:xfrm>
          <a:prstGeom prst="rect">
            <a:avLst/>
          </a:prstGeom>
          <a:solidFill>
            <a:srgbClr val="003B95"/>
          </a:solidFill>
          <a:ln/>
        </p:spPr>
      </p:sp>
      <p:sp>
        <p:nvSpPr>
          <p:cNvPr id="9" name="Text 7"/>
          <p:cNvSpPr/>
          <p:nvPr/>
        </p:nvSpPr>
        <p:spPr>
          <a:xfrm>
            <a:off x="1143000" y="2121408"/>
            <a:ext cx="2880360" cy="365760"/>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Quản Lý Hội Viên &amp; Drawer 360°</a:t>
            </a:r>
            <a:endParaRPr lang="en-US" sz="1250" dirty="0"/>
          </a:p>
        </p:txBody>
      </p:sp>
      <p:sp>
        <p:nvSpPr>
          <p:cNvPr id="10" name="Text 8"/>
          <p:cNvSpPr/>
          <p:nvPr/>
        </p:nvSpPr>
        <p:spPr>
          <a:xfrm>
            <a:off x="960120" y="2542032"/>
            <a:ext cx="3017520" cy="123444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Thẩm định hồ sơ doanh nghiệp, tra cứu MST, vốn điều lệ, xem ảnh chân dung C-Level và bấm phê duyệt (Approve) kích hoạt thẻ VIP tức thì.</a:t>
            </a:r>
            <a:endParaRPr lang="en-US" sz="1050" dirty="0"/>
          </a:p>
        </p:txBody>
      </p:sp>
      <p:sp>
        <p:nvSpPr>
          <p:cNvPr id="11" name="Shape 9"/>
          <p:cNvSpPr/>
          <p:nvPr/>
        </p:nvSpPr>
        <p:spPr>
          <a:xfrm>
            <a:off x="4370832" y="1920240"/>
            <a:ext cx="3474720" cy="1965960"/>
          </a:xfrm>
          <a:prstGeom prst="rect">
            <a:avLst/>
          </a:prstGeom>
          <a:solidFill>
            <a:srgbClr val="FFFFFF"/>
          </a:solidFill>
          <a:ln w="15240">
            <a:solidFill>
              <a:srgbClr val="E2E8F0"/>
            </a:solidFill>
            <a:prstDash val="solid"/>
          </a:ln>
        </p:spPr>
      </p:sp>
      <p:sp>
        <p:nvSpPr>
          <p:cNvPr id="12" name="Shape 10"/>
          <p:cNvSpPr/>
          <p:nvPr/>
        </p:nvSpPr>
        <p:spPr>
          <a:xfrm>
            <a:off x="4599432" y="2148840"/>
            <a:ext cx="109728" cy="320040"/>
          </a:xfrm>
          <a:prstGeom prst="rect">
            <a:avLst/>
          </a:prstGeom>
          <a:solidFill>
            <a:srgbClr val="003B95"/>
          </a:solidFill>
          <a:ln/>
        </p:spPr>
      </p:sp>
      <p:sp>
        <p:nvSpPr>
          <p:cNvPr id="13" name="Text 11"/>
          <p:cNvSpPr/>
          <p:nvPr/>
        </p:nvSpPr>
        <p:spPr>
          <a:xfrm>
            <a:off x="4782312" y="2121408"/>
            <a:ext cx="2880360" cy="365760"/>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Quản Trị Sự Kiện &amp; Cinema Map</a:t>
            </a:r>
            <a:endParaRPr lang="en-US" sz="1250" dirty="0"/>
          </a:p>
        </p:txBody>
      </p:sp>
      <p:sp>
        <p:nvSpPr>
          <p:cNvPr id="14" name="Text 12"/>
          <p:cNvSpPr/>
          <p:nvPr/>
        </p:nvSpPr>
        <p:spPr>
          <a:xfrm>
            <a:off x="4599432" y="2542032"/>
            <a:ext cx="3017520" cy="123444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Tạo sự kiện theo template chuyên biệt, cấu hình vé 0đ hoặc có phí, thiết kế sơ đồ rạp chiếu kéo thả vị trí ghế VIP Lãnh đạo.</a:t>
            </a:r>
            <a:endParaRPr lang="en-US" sz="1050" dirty="0"/>
          </a:p>
        </p:txBody>
      </p:sp>
      <p:sp>
        <p:nvSpPr>
          <p:cNvPr id="15" name="Shape 13"/>
          <p:cNvSpPr/>
          <p:nvPr/>
        </p:nvSpPr>
        <p:spPr>
          <a:xfrm>
            <a:off x="8010144" y="1920240"/>
            <a:ext cx="3474720" cy="1965960"/>
          </a:xfrm>
          <a:prstGeom prst="rect">
            <a:avLst/>
          </a:prstGeom>
          <a:solidFill>
            <a:srgbClr val="FFFFFF"/>
          </a:solidFill>
          <a:ln w="15240">
            <a:solidFill>
              <a:srgbClr val="E2E8F0"/>
            </a:solidFill>
            <a:prstDash val="solid"/>
          </a:ln>
        </p:spPr>
      </p:sp>
      <p:sp>
        <p:nvSpPr>
          <p:cNvPr id="16" name="Shape 14"/>
          <p:cNvSpPr/>
          <p:nvPr/>
        </p:nvSpPr>
        <p:spPr>
          <a:xfrm>
            <a:off x="8238744" y="2148840"/>
            <a:ext cx="109728" cy="320040"/>
          </a:xfrm>
          <a:prstGeom prst="rect">
            <a:avLst/>
          </a:prstGeom>
          <a:solidFill>
            <a:srgbClr val="003B95"/>
          </a:solidFill>
          <a:ln/>
        </p:spPr>
      </p:sp>
      <p:sp>
        <p:nvSpPr>
          <p:cNvPr id="17" name="Text 15"/>
          <p:cNvSpPr/>
          <p:nvPr/>
        </p:nvSpPr>
        <p:spPr>
          <a:xfrm>
            <a:off x="8421624" y="2121408"/>
            <a:ext cx="2880360" cy="365760"/>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Check-in QR Điểm Danh Tốc Độ Cao</a:t>
            </a:r>
            <a:endParaRPr lang="en-US" sz="1250" dirty="0"/>
          </a:p>
        </p:txBody>
      </p:sp>
      <p:sp>
        <p:nvSpPr>
          <p:cNvPr id="18" name="Text 16"/>
          <p:cNvSpPr/>
          <p:nvPr/>
        </p:nvSpPr>
        <p:spPr>
          <a:xfrm>
            <a:off x="8238744" y="2542032"/>
            <a:ext cx="3017520" cy="123444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Ban tổ chức dùng camera quét mã QR trên vé đại biểu; hệ thống phát âm thanh bíp xác nhận, đổi trạng thái trong 1 giây, ngăn chặn vé trùng.</a:t>
            </a:r>
            <a:endParaRPr lang="en-US" sz="1050" dirty="0"/>
          </a:p>
        </p:txBody>
      </p:sp>
      <p:sp>
        <p:nvSpPr>
          <p:cNvPr id="19" name="Shape 17"/>
          <p:cNvSpPr/>
          <p:nvPr/>
        </p:nvSpPr>
        <p:spPr>
          <a:xfrm>
            <a:off x="731520" y="4069080"/>
            <a:ext cx="3474720" cy="1965960"/>
          </a:xfrm>
          <a:prstGeom prst="rect">
            <a:avLst/>
          </a:prstGeom>
          <a:solidFill>
            <a:srgbClr val="FFFFFF"/>
          </a:solidFill>
          <a:ln w="15240">
            <a:solidFill>
              <a:srgbClr val="E2E8F0"/>
            </a:solidFill>
            <a:prstDash val="solid"/>
          </a:ln>
        </p:spPr>
      </p:sp>
      <p:sp>
        <p:nvSpPr>
          <p:cNvPr id="20" name="Shape 18"/>
          <p:cNvSpPr/>
          <p:nvPr/>
        </p:nvSpPr>
        <p:spPr>
          <a:xfrm>
            <a:off x="960120" y="4297680"/>
            <a:ext cx="109728" cy="320040"/>
          </a:xfrm>
          <a:prstGeom prst="rect">
            <a:avLst/>
          </a:prstGeom>
          <a:solidFill>
            <a:srgbClr val="003B95"/>
          </a:solidFill>
          <a:ln/>
        </p:spPr>
      </p:sp>
      <p:sp>
        <p:nvSpPr>
          <p:cNvPr id="21" name="Text 19"/>
          <p:cNvSpPr/>
          <p:nvPr/>
        </p:nvSpPr>
        <p:spPr>
          <a:xfrm>
            <a:off x="1143000" y="4270248"/>
            <a:ext cx="2880360" cy="365760"/>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Bảng Hội Phí &amp; Công Tắc Gạch Nợ</a:t>
            </a:r>
            <a:endParaRPr lang="en-US" sz="1250" dirty="0"/>
          </a:p>
        </p:txBody>
      </p:sp>
      <p:sp>
        <p:nvSpPr>
          <p:cNvPr id="22" name="Text 20"/>
          <p:cNvSpPr/>
          <p:nvPr/>
        </p:nvSpPr>
        <p:spPr>
          <a:xfrm>
            <a:off x="960120" y="4690872"/>
            <a:ext cx="3017520" cy="123444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Theo dõi niên khóa đóng phí của từng doanh nghiệp, công tắc gạch nợ 1 chạm, tự động sinh mã VietQR Napas 247 và lưu lịch sử kế toán.</a:t>
            </a:r>
            <a:endParaRPr lang="en-US" sz="1050" dirty="0"/>
          </a:p>
        </p:txBody>
      </p:sp>
      <p:sp>
        <p:nvSpPr>
          <p:cNvPr id="23" name="Shape 21"/>
          <p:cNvSpPr/>
          <p:nvPr/>
        </p:nvSpPr>
        <p:spPr>
          <a:xfrm>
            <a:off x="4370832" y="4069080"/>
            <a:ext cx="3474720" cy="1965960"/>
          </a:xfrm>
          <a:prstGeom prst="rect">
            <a:avLst/>
          </a:prstGeom>
          <a:solidFill>
            <a:srgbClr val="FFFFFF"/>
          </a:solidFill>
          <a:ln w="15240">
            <a:solidFill>
              <a:srgbClr val="E2E8F0"/>
            </a:solidFill>
            <a:prstDash val="solid"/>
          </a:ln>
        </p:spPr>
      </p:sp>
      <p:sp>
        <p:nvSpPr>
          <p:cNvPr id="24" name="Shape 22"/>
          <p:cNvSpPr/>
          <p:nvPr/>
        </p:nvSpPr>
        <p:spPr>
          <a:xfrm>
            <a:off x="4599432" y="4297680"/>
            <a:ext cx="109728" cy="320040"/>
          </a:xfrm>
          <a:prstGeom prst="rect">
            <a:avLst/>
          </a:prstGeom>
          <a:solidFill>
            <a:srgbClr val="003B95"/>
          </a:solidFill>
          <a:ln/>
        </p:spPr>
      </p:sp>
      <p:sp>
        <p:nvSpPr>
          <p:cNvPr id="25" name="Text 23"/>
          <p:cNvSpPr/>
          <p:nvPr/>
        </p:nvSpPr>
        <p:spPr>
          <a:xfrm>
            <a:off x="4782312" y="4270248"/>
            <a:ext cx="2880360" cy="365760"/>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Kiểm Duyệt Marketplace &amp; Cơ Hội B2B</a:t>
            </a:r>
            <a:endParaRPr lang="en-US" sz="1250" dirty="0"/>
          </a:p>
        </p:txBody>
      </p:sp>
      <p:sp>
        <p:nvSpPr>
          <p:cNvPr id="26" name="Text 24"/>
          <p:cNvSpPr/>
          <p:nvPr/>
        </p:nvSpPr>
        <p:spPr>
          <a:xfrm>
            <a:off x="4599432" y="4690872"/>
            <a:ext cx="3017520" cy="123444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Duyệt các mặt hàng niêm yết từ App, gắn nhãn khuyến mãi nội bộ CLB, quản lý bài đăng giao thương và hỗ trợ kết nối đối tác.</a:t>
            </a:r>
            <a:endParaRPr lang="en-US" sz="1050" dirty="0"/>
          </a:p>
        </p:txBody>
      </p:sp>
      <p:sp>
        <p:nvSpPr>
          <p:cNvPr id="27" name="Shape 25"/>
          <p:cNvSpPr/>
          <p:nvPr/>
        </p:nvSpPr>
        <p:spPr>
          <a:xfrm>
            <a:off x="8010144" y="4069080"/>
            <a:ext cx="3474720" cy="1965960"/>
          </a:xfrm>
          <a:prstGeom prst="rect">
            <a:avLst/>
          </a:prstGeom>
          <a:solidFill>
            <a:srgbClr val="FFFFFF"/>
          </a:solidFill>
          <a:ln w="15240">
            <a:solidFill>
              <a:srgbClr val="E2E8F0"/>
            </a:solidFill>
            <a:prstDash val="solid"/>
          </a:ln>
        </p:spPr>
      </p:sp>
      <p:sp>
        <p:nvSpPr>
          <p:cNvPr id="28" name="Shape 26"/>
          <p:cNvSpPr/>
          <p:nvPr/>
        </p:nvSpPr>
        <p:spPr>
          <a:xfrm>
            <a:off x="8238744" y="4297680"/>
            <a:ext cx="109728" cy="320040"/>
          </a:xfrm>
          <a:prstGeom prst="rect">
            <a:avLst/>
          </a:prstGeom>
          <a:solidFill>
            <a:srgbClr val="003B95"/>
          </a:solidFill>
          <a:ln/>
        </p:spPr>
      </p:sp>
      <p:sp>
        <p:nvSpPr>
          <p:cNvPr id="29" name="Text 27"/>
          <p:cNvSpPr/>
          <p:nvPr/>
        </p:nvSpPr>
        <p:spPr>
          <a:xfrm>
            <a:off x="8421624" y="4270248"/>
            <a:ext cx="2880360" cy="365760"/>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Biểu Quyết Trực Tiếp &amp; Lucky Draw</a:t>
            </a:r>
            <a:endParaRPr lang="en-US" sz="1250" dirty="0"/>
          </a:p>
        </p:txBody>
      </p:sp>
      <p:sp>
        <p:nvSpPr>
          <p:cNvPr id="30" name="Text 28"/>
          <p:cNvSpPr/>
          <p:nvPr/>
        </p:nvSpPr>
        <p:spPr>
          <a:xfrm>
            <a:off x="8238744" y="4690872"/>
            <a:ext cx="3017520" cy="123444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Kích hoạt phiên bỏ phiếu đại hội đẩy trực tiếp về điện thoại hội viên, quay số may mắn #XXXX và phát lệnh chúc mừng lên màn hình LED.</a:t>
            </a:r>
            <a:endParaRPr lang="en-US" sz="1050" dirty="0"/>
          </a:p>
        </p:txBody>
      </p:sp>
      <p:sp>
        <p:nvSpPr>
          <p:cNvPr id="31" name="Shape 29"/>
          <p:cNvSpPr/>
          <p:nvPr/>
        </p:nvSpPr>
        <p:spPr>
          <a:xfrm>
            <a:off x="731520" y="6400800"/>
            <a:ext cx="10725912" cy="18288"/>
          </a:xfrm>
          <a:prstGeom prst="rect">
            <a:avLst/>
          </a:prstGeom>
          <a:solidFill>
            <a:srgbClr val="E2E8F0"/>
          </a:solidFill>
          <a:ln/>
        </p:spPr>
      </p:sp>
      <p:sp>
        <p:nvSpPr>
          <p:cNvPr id="32" name="Text 30"/>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Sinh Thái Chuyển Đổi Số Toàn Diện · CLB Doanh Nhân CEO 1983 · VIONE Ecosystem</a:t>
            </a:r>
            <a:endParaRPr lang="en-US" sz="950" dirty="0"/>
          </a:p>
        </p:txBody>
      </p:sp>
      <p:sp>
        <p:nvSpPr>
          <p:cNvPr id="33" name="Text 31"/>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HanoiBA</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59E0B"/>
          </a:solidFill>
          <a:ln/>
        </p:spPr>
      </p:sp>
      <p:sp>
        <p:nvSpPr>
          <p:cNvPr id="3" name="Shape 1"/>
          <p:cNvSpPr/>
          <p:nvPr/>
        </p:nvSpPr>
        <p:spPr>
          <a:xfrm>
            <a:off x="731520" y="411480"/>
            <a:ext cx="2926080" cy="292608"/>
          </a:xfrm>
          <a:prstGeom prst="rect">
            <a:avLst/>
          </a:prstGeom>
          <a:solidFill>
            <a:srgbClr val="003B95"/>
          </a:solidFill>
          <a:ln/>
        </p:spPr>
      </p:sp>
      <p:sp>
        <p:nvSpPr>
          <p:cNvPr id="4" name="Text 2"/>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TRỤ CỘT DOANH NHÂN 2</a:t>
            </a:r>
            <a:endParaRPr lang="en-US" sz="1000" dirty="0"/>
          </a:p>
        </p:txBody>
      </p:sp>
      <p:sp>
        <p:nvSpPr>
          <p:cNvPr id="5" name="Text 3"/>
          <p:cNvSpPr/>
          <p:nvPr/>
        </p:nvSpPr>
        <p:spPr>
          <a:xfrm>
            <a:off x="731520" y="777240"/>
            <a:ext cx="10725912" cy="594360"/>
          </a:xfrm>
          <a:prstGeom prst="rect">
            <a:avLst/>
          </a:prstGeom>
          <a:noFill/>
          <a:ln/>
        </p:spPr>
        <p:txBody>
          <a:bodyPr wrap="square" rtlCol="0" anchor="ctr"/>
          <a:lstStyle/>
          <a:p>
            <a:pPr indent="0" marL="0">
              <a:buNone/>
            </a:pPr>
            <a:r>
              <a:rPr lang="en-US" sz="2200" b="1" dirty="0">
                <a:solidFill>
                  <a:srgbClr val="003B95"/>
                </a:solidFill>
                <a:latin typeface="Calibri" pitchFamily="34" charset="0"/>
                <a:ea typeface="Calibri" pitchFamily="34" charset="-122"/>
                <a:cs typeface="Calibri" pitchFamily="34" charset="-120"/>
              </a:rPr>
              <a:t>Mobile App: "Văn Phòng Bỏ Túi" &amp; Thẻ Hội Viên VIP 3D</a:t>
            </a:r>
            <a:endParaRPr lang="en-US" sz="2200" dirty="0"/>
          </a:p>
        </p:txBody>
      </p:sp>
      <p:sp>
        <p:nvSpPr>
          <p:cNvPr id="6" name="Text 4"/>
          <p:cNvSpPr/>
          <p:nvPr/>
        </p:nvSpPr>
        <p:spPr>
          <a:xfrm>
            <a:off x="731520" y="1371600"/>
            <a:ext cx="10725912"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Trải nghiệm thượng lưu, công nghệ kết nối hiện đại và giao thương B2B không biên giới</a:t>
            </a:r>
            <a:endParaRPr lang="en-US" sz="1200" dirty="0"/>
          </a:p>
        </p:txBody>
      </p:sp>
      <p:sp>
        <p:nvSpPr>
          <p:cNvPr id="7" name="Shape 5"/>
          <p:cNvSpPr/>
          <p:nvPr/>
        </p:nvSpPr>
        <p:spPr>
          <a:xfrm>
            <a:off x="731520" y="1920240"/>
            <a:ext cx="5257800" cy="1965960"/>
          </a:xfrm>
          <a:prstGeom prst="rect">
            <a:avLst/>
          </a:prstGeom>
          <a:solidFill>
            <a:srgbClr val="FFFFFF"/>
          </a:solidFill>
          <a:ln w="15240">
            <a:solidFill>
              <a:srgbClr val="FDE68A"/>
            </a:solidFill>
            <a:prstDash val="solid"/>
          </a:ln>
        </p:spPr>
      </p:sp>
      <p:sp>
        <p:nvSpPr>
          <p:cNvPr id="8" name="Text 6"/>
          <p:cNvSpPr/>
          <p:nvPr/>
        </p:nvSpPr>
        <p:spPr>
          <a:xfrm>
            <a:off x="1005840" y="2148840"/>
            <a:ext cx="4709160" cy="347472"/>
          </a:xfrm>
          <a:prstGeom prst="rect">
            <a:avLst/>
          </a:prstGeom>
          <a:noFill/>
          <a:ln/>
        </p:spPr>
        <p:txBody>
          <a:bodyPr wrap="square" rtlCol="0" anchor="ctr"/>
          <a:lstStyle/>
          <a:p>
            <a:pPr indent="0" marL="0">
              <a:buNone/>
            </a:pPr>
            <a:r>
              <a:rPr lang="en-US" sz="1350" b="1" dirty="0">
                <a:solidFill>
                  <a:srgbClr val="003B95"/>
                </a:solidFill>
                <a:latin typeface="Calibri" pitchFamily="34" charset="0"/>
                <a:ea typeface="Calibri" pitchFamily="34" charset="-122"/>
                <a:cs typeface="Calibri" pitchFamily="34" charset="-120"/>
              </a:rPr>
              <a:t>1. Thẻ Hội Viên VIP 3D &amp; Radar NFC</a:t>
            </a:r>
            <a:endParaRPr lang="en-US" sz="1350" dirty="0"/>
          </a:p>
        </p:txBody>
      </p:sp>
      <p:sp>
        <p:nvSpPr>
          <p:cNvPr id="9" name="Text 7"/>
          <p:cNvSpPr/>
          <p:nvPr/>
        </p:nvSpPr>
        <p:spPr>
          <a:xfrm>
            <a:off x="1005840" y="2560320"/>
            <a:ext cx="4709160" cy="123444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Thiết kế mạ vàng 3D hiển thị Mã định danh (M1983-007), doanh nghiệp pháp nhân và thời hạn thẻ. Tích hợp Radar quét tìm doanh nhân lân cận trong bán kính sự kiện và chạm thẻ NFC thông minh.</a:t>
            </a:r>
            <a:endParaRPr lang="en-US" sz="1100" dirty="0"/>
          </a:p>
        </p:txBody>
      </p:sp>
      <p:sp>
        <p:nvSpPr>
          <p:cNvPr id="10" name="Shape 8"/>
          <p:cNvSpPr/>
          <p:nvPr/>
        </p:nvSpPr>
        <p:spPr>
          <a:xfrm>
            <a:off x="6172200" y="1920240"/>
            <a:ext cx="5257800" cy="1965960"/>
          </a:xfrm>
          <a:prstGeom prst="rect">
            <a:avLst/>
          </a:prstGeom>
          <a:solidFill>
            <a:srgbClr val="FFFFFF"/>
          </a:solidFill>
          <a:ln w="15240">
            <a:solidFill>
              <a:srgbClr val="FDE68A"/>
            </a:solidFill>
            <a:prstDash val="solid"/>
          </a:ln>
        </p:spPr>
      </p:sp>
      <p:sp>
        <p:nvSpPr>
          <p:cNvPr id="11" name="Text 9"/>
          <p:cNvSpPr/>
          <p:nvPr/>
        </p:nvSpPr>
        <p:spPr>
          <a:xfrm>
            <a:off x="6446520" y="2148840"/>
            <a:ext cx="4709160" cy="347472"/>
          </a:xfrm>
          <a:prstGeom prst="rect">
            <a:avLst/>
          </a:prstGeom>
          <a:noFill/>
          <a:ln/>
        </p:spPr>
        <p:txBody>
          <a:bodyPr wrap="square" rtlCol="0" anchor="ctr"/>
          <a:lstStyle/>
          <a:p>
            <a:pPr indent="0" marL="0">
              <a:buNone/>
            </a:pPr>
            <a:r>
              <a:rPr lang="en-US" sz="1350" b="1" dirty="0">
                <a:solidFill>
                  <a:srgbClr val="003B95"/>
                </a:solidFill>
                <a:latin typeface="Calibri" pitchFamily="34" charset="0"/>
                <a:ea typeface="Calibri" pitchFamily="34" charset="-122"/>
                <a:cs typeface="Calibri" pitchFamily="34" charset="-120"/>
              </a:rPr>
              <a:t>2. Danh Thiếp Số Công Khai 1-Chạm (.vcf)</a:t>
            </a:r>
            <a:endParaRPr lang="en-US" sz="1350" dirty="0"/>
          </a:p>
        </p:txBody>
      </p:sp>
      <p:sp>
        <p:nvSpPr>
          <p:cNvPr id="12" name="Text 10"/>
          <p:cNvSpPr/>
          <p:nvPr/>
        </p:nvSpPr>
        <p:spPr>
          <a:xfrm>
            <a:off x="6446520" y="2560320"/>
            <a:ext cx="4709160" cy="123444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Khi đối tác quét mã QR từ camera thường hoặc Zalo, mở ngay trang danh thiếp xác thực 100% khớp tài khoản thực tế. Tích hợp nút Lưu danh bạ (.vcf) xuất thẳng vào điện thoại, gọi điện, email và nhắn Zalo tức thì.</a:t>
            </a:r>
            <a:endParaRPr lang="en-US" sz="1100" dirty="0"/>
          </a:p>
        </p:txBody>
      </p:sp>
      <p:sp>
        <p:nvSpPr>
          <p:cNvPr id="13" name="Shape 11"/>
          <p:cNvSpPr/>
          <p:nvPr/>
        </p:nvSpPr>
        <p:spPr>
          <a:xfrm>
            <a:off x="731520" y="4069080"/>
            <a:ext cx="5257800" cy="1965960"/>
          </a:xfrm>
          <a:prstGeom prst="rect">
            <a:avLst/>
          </a:prstGeom>
          <a:solidFill>
            <a:srgbClr val="FFFFFF"/>
          </a:solidFill>
          <a:ln w="15240">
            <a:solidFill>
              <a:srgbClr val="FDE68A"/>
            </a:solidFill>
            <a:prstDash val="solid"/>
          </a:ln>
        </p:spPr>
      </p:sp>
      <p:sp>
        <p:nvSpPr>
          <p:cNvPr id="14" name="Text 12"/>
          <p:cNvSpPr/>
          <p:nvPr/>
        </p:nvSpPr>
        <p:spPr>
          <a:xfrm>
            <a:off x="1005840" y="4297680"/>
            <a:ext cx="4709160" cy="347472"/>
          </a:xfrm>
          <a:prstGeom prst="rect">
            <a:avLst/>
          </a:prstGeom>
          <a:noFill/>
          <a:ln/>
        </p:spPr>
        <p:txBody>
          <a:bodyPr wrap="square" rtlCol="0" anchor="ctr"/>
          <a:lstStyle/>
          <a:p>
            <a:pPr indent="0" marL="0">
              <a:buNone/>
            </a:pPr>
            <a:r>
              <a:rPr lang="en-US" sz="1350" b="1" dirty="0">
                <a:solidFill>
                  <a:srgbClr val="003B95"/>
                </a:solidFill>
                <a:latin typeface="Calibri" pitchFamily="34" charset="0"/>
                <a:ea typeface="Calibri" pitchFamily="34" charset="-122"/>
                <a:cs typeface="Calibri" pitchFamily="34" charset="-120"/>
              </a:rPr>
              <a:t>3. Sàn Thương Mại Điện Tử Luxury 3 Section</a:t>
            </a:r>
            <a:endParaRPr lang="en-US" sz="1350" dirty="0"/>
          </a:p>
        </p:txBody>
      </p:sp>
      <p:sp>
        <p:nvSpPr>
          <p:cNvPr id="15" name="Text 13"/>
          <p:cNvSpPr/>
          <p:nvPr/>
        </p:nvSpPr>
        <p:spPr>
          <a:xfrm>
            <a:off x="1005840" y="4709160"/>
            <a:ext cx="4709160" cy="123444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Giao diện E-Commerce cao cấp với 3 phân khu phân trang độc lập: Sản phẩm mới đăng, Sản phẩm xem nhiều nhất, và Gian hàng Doanh nghiệp nổi bật. Hiển thị giá ưu đãi độc quyền dành riêng cho hội viên CEO 1983.</a:t>
            </a:r>
            <a:endParaRPr lang="en-US" sz="1100" dirty="0"/>
          </a:p>
        </p:txBody>
      </p:sp>
      <p:sp>
        <p:nvSpPr>
          <p:cNvPr id="16" name="Shape 14"/>
          <p:cNvSpPr/>
          <p:nvPr/>
        </p:nvSpPr>
        <p:spPr>
          <a:xfrm>
            <a:off x="6172200" y="4069080"/>
            <a:ext cx="5257800" cy="1965960"/>
          </a:xfrm>
          <a:prstGeom prst="rect">
            <a:avLst/>
          </a:prstGeom>
          <a:solidFill>
            <a:srgbClr val="FFFFFF"/>
          </a:solidFill>
          <a:ln w="15240">
            <a:solidFill>
              <a:srgbClr val="FDE68A"/>
            </a:solidFill>
            <a:prstDash val="solid"/>
          </a:ln>
        </p:spPr>
      </p:sp>
      <p:sp>
        <p:nvSpPr>
          <p:cNvPr id="17" name="Text 15"/>
          <p:cNvSpPr/>
          <p:nvPr/>
        </p:nvSpPr>
        <p:spPr>
          <a:xfrm>
            <a:off x="6446520" y="4297680"/>
            <a:ext cx="4709160" cy="347472"/>
          </a:xfrm>
          <a:prstGeom prst="rect">
            <a:avLst/>
          </a:prstGeom>
          <a:noFill/>
          <a:ln/>
        </p:spPr>
        <p:txBody>
          <a:bodyPr wrap="square" rtlCol="0" anchor="ctr"/>
          <a:lstStyle/>
          <a:p>
            <a:pPr indent="0" marL="0">
              <a:buNone/>
            </a:pPr>
            <a:r>
              <a:rPr lang="en-US" sz="1350" b="1" dirty="0">
                <a:solidFill>
                  <a:srgbClr val="003B95"/>
                </a:solidFill>
                <a:latin typeface="Calibri" pitchFamily="34" charset="0"/>
                <a:ea typeface="Calibri" pitchFamily="34" charset="-122"/>
                <a:cs typeface="Calibri" pitchFamily="34" charset="-120"/>
              </a:rPr>
              <a:t>4. Tin Nhắn VIP &amp; 5 Kênh Chính Thức</a:t>
            </a:r>
            <a:endParaRPr lang="en-US" sz="1350" dirty="0"/>
          </a:p>
        </p:txBody>
      </p:sp>
      <p:sp>
        <p:nvSpPr>
          <p:cNvPr id="18" name="Text 16"/>
          <p:cNvSpPr/>
          <p:nvPr/>
        </p:nvSpPr>
        <p:spPr>
          <a:xfrm>
            <a:off x="6446520" y="4709160"/>
            <a:ext cx="4709160" cy="123444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Hệ thống tin nhắn phong cách Messenger cao cấp: 5 kênh truyền thông CLB, chat riêng 1-1, chat nhóm, thu hồi tin nhắn, chia sẻ định vị GPS trụ sở doanh nghiệp và thanh công cụ đính kèm tài liệu mở rộng.</a:t>
            </a:r>
            <a:endParaRPr lang="en-US" sz="1100" dirty="0"/>
          </a:p>
        </p:txBody>
      </p:sp>
      <p:sp>
        <p:nvSpPr>
          <p:cNvPr id="19" name="Shape 17"/>
          <p:cNvSpPr/>
          <p:nvPr/>
        </p:nvSpPr>
        <p:spPr>
          <a:xfrm>
            <a:off x="731520" y="6400800"/>
            <a:ext cx="10725912" cy="18288"/>
          </a:xfrm>
          <a:prstGeom prst="rect">
            <a:avLst/>
          </a:prstGeom>
          <a:solidFill>
            <a:srgbClr val="E2E8F0"/>
          </a:solidFill>
          <a:ln/>
        </p:spPr>
      </p:sp>
      <p:sp>
        <p:nvSpPr>
          <p:cNvPr id="20" name="Text 18"/>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Sinh Thái Chuyển Đổi Số Toàn Diện · CLB Doanh Nhân CEO 1983 · VIONE Ecosystem</a:t>
            </a:r>
            <a:endParaRPr lang="en-US" sz="950" dirty="0"/>
          </a:p>
        </p:txBody>
      </p:sp>
      <p:sp>
        <p:nvSpPr>
          <p:cNvPr id="21" name="Text 19"/>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HanoiBA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59E0B"/>
          </a:solidFill>
          <a:ln/>
        </p:spPr>
      </p:sp>
      <p:sp>
        <p:nvSpPr>
          <p:cNvPr id="3" name="Shape 1"/>
          <p:cNvSpPr/>
          <p:nvPr/>
        </p:nvSpPr>
        <p:spPr>
          <a:xfrm>
            <a:off x="731520" y="411480"/>
            <a:ext cx="2926080" cy="292608"/>
          </a:xfrm>
          <a:prstGeom prst="rect">
            <a:avLst/>
          </a:prstGeom>
          <a:solidFill>
            <a:srgbClr val="003B95"/>
          </a:solidFill>
          <a:ln/>
        </p:spPr>
      </p:sp>
      <p:sp>
        <p:nvSpPr>
          <p:cNvPr id="4" name="Text 2"/>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ĐỘT PHÁ TỔ CHỨC SỰ KIỆN</a:t>
            </a:r>
            <a:endParaRPr lang="en-US" sz="1000" dirty="0"/>
          </a:p>
        </p:txBody>
      </p:sp>
      <p:sp>
        <p:nvSpPr>
          <p:cNvPr id="5" name="Text 3"/>
          <p:cNvSpPr/>
          <p:nvPr/>
        </p:nvSpPr>
        <p:spPr>
          <a:xfrm>
            <a:off x="731520" y="777240"/>
            <a:ext cx="10725912" cy="594360"/>
          </a:xfrm>
          <a:prstGeom prst="rect">
            <a:avLst/>
          </a:prstGeom>
          <a:noFill/>
          <a:ln/>
        </p:spPr>
        <p:txBody>
          <a:bodyPr wrap="square" rtlCol="0" anchor="ctr"/>
          <a:lstStyle/>
          <a:p>
            <a:pPr indent="0" marL="0">
              <a:buNone/>
            </a:pPr>
            <a:r>
              <a:rPr lang="en-US" sz="2200" b="1" dirty="0">
                <a:solidFill>
                  <a:srgbClr val="003B95"/>
                </a:solidFill>
                <a:latin typeface="Calibri" pitchFamily="34" charset="0"/>
                <a:ea typeface="Calibri" pitchFamily="34" charset="-122"/>
                <a:cs typeface="Calibri" pitchFamily="34" charset="-120"/>
              </a:rPr>
              <a:t>Tự Động Hóa 2 Luồng Sự Kiện: Miễn Phí (0đ) &amp; Thu Phí VietQR</a:t>
            </a:r>
            <a:endParaRPr lang="en-US" sz="2200" dirty="0"/>
          </a:p>
        </p:txBody>
      </p:sp>
      <p:sp>
        <p:nvSpPr>
          <p:cNvPr id="6" name="Text 4"/>
          <p:cNvSpPr/>
          <p:nvPr/>
        </p:nvSpPr>
        <p:spPr>
          <a:xfrm>
            <a:off x="731520" y="1371600"/>
            <a:ext cx="10725912"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Quy trình khép kín từ CRM khởi tạo, App đặt vé đến Check-in cổng và quay thưởng may mắn</a:t>
            </a:r>
            <a:endParaRPr lang="en-US" sz="1200" dirty="0"/>
          </a:p>
        </p:txBody>
      </p:sp>
      <p:sp>
        <p:nvSpPr>
          <p:cNvPr id="7" name="Shape 5"/>
          <p:cNvSpPr/>
          <p:nvPr/>
        </p:nvSpPr>
        <p:spPr>
          <a:xfrm>
            <a:off x="731520" y="1920240"/>
            <a:ext cx="5257800" cy="4206240"/>
          </a:xfrm>
          <a:prstGeom prst="rect">
            <a:avLst/>
          </a:prstGeom>
          <a:solidFill>
            <a:srgbClr val="FFFFFF"/>
          </a:solidFill>
          <a:ln w="19050">
            <a:solidFill>
              <a:srgbClr val="059669"/>
            </a:solidFill>
            <a:prstDash val="solid"/>
          </a:ln>
        </p:spPr>
      </p:sp>
      <p:sp>
        <p:nvSpPr>
          <p:cNvPr id="8" name="Shape 6"/>
          <p:cNvSpPr/>
          <p:nvPr/>
        </p:nvSpPr>
        <p:spPr>
          <a:xfrm>
            <a:off x="731520" y="1920240"/>
            <a:ext cx="5257800" cy="548640"/>
          </a:xfrm>
          <a:prstGeom prst="rect">
            <a:avLst/>
          </a:prstGeom>
          <a:solidFill>
            <a:srgbClr val="ECFDF5"/>
          </a:solidFill>
          <a:ln/>
        </p:spPr>
      </p:sp>
      <p:sp>
        <p:nvSpPr>
          <p:cNvPr id="9" name="Text 7"/>
          <p:cNvSpPr/>
          <p:nvPr/>
        </p:nvSpPr>
        <p:spPr>
          <a:xfrm>
            <a:off x="1005840" y="2011680"/>
            <a:ext cx="4709160" cy="365760"/>
          </a:xfrm>
          <a:prstGeom prst="rect">
            <a:avLst/>
          </a:prstGeom>
          <a:noFill/>
          <a:ln/>
        </p:spPr>
        <p:txBody>
          <a:bodyPr wrap="square"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CASE 1: SỰ KIỆN MIỄN PHÍ (0 ĐỒNG)</a:t>
            </a:r>
            <a:endParaRPr lang="en-US" sz="1300" dirty="0"/>
          </a:p>
        </p:txBody>
      </p:sp>
      <p:sp>
        <p:nvSpPr>
          <p:cNvPr id="10" name="Text 8"/>
          <p:cNvSpPr/>
          <p:nvPr/>
        </p:nvSpPr>
        <p:spPr>
          <a:xfrm>
            <a:off x="1005840" y="2606040"/>
            <a:ext cx="4709160" cy="3383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1. Khởi tạo CRM: Ban tổ chức nhập tiêu đề, tải banner 16:9, diễn giả và đặt giá vé = 0 đ.</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2. Đồng bộ App: Thẻ sự kiện gắn tag xanh "Miễn phí (0 đ)" hiển thị trên trang chủ và tab Sự kiện.</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3. Đăng ký 1-Chạm: Hội viên bấm "Đăng ký tham gia", xác nhận nhận vé không qua bước thanh toán.</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4. Cấp Vé Tức Thì: Sinh mã vé REG-XXXX kèm Mã QR Check-in động tại cổng hội trường.</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5. Tự Động Sinh Số May Mắn #XXXX: Cấp mã số quay thưởng Lucky Draw 4 chữ số vào CSDL.</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6. Đẩy Thông Báo &amp; Tin Nhắn: Gửi vé chi tiết vào mục Thông báo và Hộp thư của hội viên.</a:t>
            </a:r>
            <a:endParaRPr lang="en-US" sz="1050" dirty="0"/>
          </a:p>
        </p:txBody>
      </p:sp>
      <p:sp>
        <p:nvSpPr>
          <p:cNvPr id="11" name="Shape 9"/>
          <p:cNvSpPr/>
          <p:nvPr/>
        </p:nvSpPr>
        <p:spPr>
          <a:xfrm>
            <a:off x="6199632" y="1920240"/>
            <a:ext cx="5257800" cy="4206240"/>
          </a:xfrm>
          <a:prstGeom prst="rect">
            <a:avLst/>
          </a:prstGeom>
          <a:solidFill>
            <a:srgbClr val="FFFFFF"/>
          </a:solidFill>
          <a:ln w="19050">
            <a:solidFill>
              <a:srgbClr val="F59E0B"/>
            </a:solidFill>
            <a:prstDash val="solid"/>
          </a:ln>
        </p:spPr>
      </p:sp>
      <p:sp>
        <p:nvSpPr>
          <p:cNvPr id="12" name="Shape 10"/>
          <p:cNvSpPr/>
          <p:nvPr/>
        </p:nvSpPr>
        <p:spPr>
          <a:xfrm>
            <a:off x="6199632" y="1920240"/>
            <a:ext cx="5257800" cy="548640"/>
          </a:xfrm>
          <a:prstGeom prst="rect">
            <a:avLst/>
          </a:prstGeom>
          <a:solidFill>
            <a:srgbClr val="FEF3C7"/>
          </a:solidFill>
          <a:ln/>
        </p:spPr>
      </p:sp>
      <p:sp>
        <p:nvSpPr>
          <p:cNvPr id="13" name="Text 11"/>
          <p:cNvSpPr/>
          <p:nvPr/>
        </p:nvSpPr>
        <p:spPr>
          <a:xfrm>
            <a:off x="6473952" y="2011680"/>
            <a:ext cx="4709160" cy="365760"/>
          </a:xfrm>
          <a:prstGeom prst="rect">
            <a:avLst/>
          </a:prstGeom>
          <a:noFill/>
          <a:ln/>
        </p:spPr>
        <p:txBody>
          <a:bodyPr wrap="square" rtlCol="0" anchor="ctr"/>
          <a:lstStyle/>
          <a:p>
            <a:pPr indent="0" marL="0">
              <a:buNone/>
            </a:pPr>
            <a:r>
              <a:rPr lang="en-US" sz="1300" b="1" dirty="0">
                <a:solidFill>
                  <a:srgbClr val="D97706"/>
                </a:solidFill>
                <a:latin typeface="Calibri" pitchFamily="34" charset="0"/>
                <a:ea typeface="Calibri" pitchFamily="34" charset="-122"/>
                <a:cs typeface="Calibri" pitchFamily="34" charset="-120"/>
              </a:rPr>
              <a:t>CASE 2: SỰ KIỆN THU PHÍ (VIETQR NAPAS 247)</a:t>
            </a:r>
            <a:endParaRPr lang="en-US" sz="1300" dirty="0"/>
          </a:p>
        </p:txBody>
      </p:sp>
      <p:sp>
        <p:nvSpPr>
          <p:cNvPr id="14" name="Text 12"/>
          <p:cNvSpPr/>
          <p:nvPr/>
        </p:nvSpPr>
        <p:spPr>
          <a:xfrm>
            <a:off x="6473952" y="2606040"/>
            <a:ext cx="4709160" cy="3383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1. Khởi tạo CRM: Cấu hình giá vé (500.000 đ), số tài khoản thụ hưởng ngân hàng của CLB.</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2. Đồng bộ App: Thẻ sự kiện gắn tag vàng "500.000 đ / vé" kèm phân khu chỗ ngồi VIP/Standard.</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3. Chọn Số Lượng Vé: Hội viên chọn số vé, hệ thống tự tính tổng tiền và mở tóm tắt chi phí.</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4. Cổng Thanh Toán VietQR Động: Tự sinh mã QR ngân hàng chứa sẵn số tiền và cú pháp chuẩn.</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5. Quét Thanh Toán 3 Giây: Hội viên mở app ngân hàng quét mã, chuyển khoản nhanh Napas 247.</a:t>
            </a:r>
            <a:endParaRPr lang="en-US" sz="1050" dirty="0"/>
          </a:p>
          <a:p>
            <a:pPr indent="0" marL="0">
              <a:buNone/>
            </a:pP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6. Gạch Nợ &amp; Trả Vé: CRM tự động gạch nợ sau đối soát, cấp vé có mã QR động và số may mắn.</a:t>
            </a:r>
            <a:endParaRPr lang="en-US" sz="1050" dirty="0"/>
          </a:p>
        </p:txBody>
      </p:sp>
      <p:sp>
        <p:nvSpPr>
          <p:cNvPr id="15" name="Shape 13"/>
          <p:cNvSpPr/>
          <p:nvPr/>
        </p:nvSpPr>
        <p:spPr>
          <a:xfrm>
            <a:off x="731520" y="6400800"/>
            <a:ext cx="10725912" cy="18288"/>
          </a:xfrm>
          <a:prstGeom prst="rect">
            <a:avLst/>
          </a:prstGeom>
          <a:solidFill>
            <a:srgbClr val="E2E8F0"/>
          </a:solidFill>
          <a:ln/>
        </p:spPr>
      </p:sp>
      <p:sp>
        <p:nvSpPr>
          <p:cNvPr id="16" name="Text 1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Sinh Thái Chuyển Đổi Số Toàn Diện · CLB Doanh Nhân CEO 1983 · VIONE Ecosystem</a:t>
            </a:r>
            <a:endParaRPr lang="en-US" sz="950" dirty="0"/>
          </a:p>
        </p:txBody>
      </p:sp>
      <p:sp>
        <p:nvSpPr>
          <p:cNvPr id="17" name="Text 1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HanoiBA</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59E0B"/>
          </a:solidFill>
          <a:ln/>
        </p:spPr>
      </p:sp>
      <p:sp>
        <p:nvSpPr>
          <p:cNvPr id="3" name="Shape 1"/>
          <p:cNvSpPr/>
          <p:nvPr/>
        </p:nvSpPr>
        <p:spPr>
          <a:xfrm>
            <a:off x="731520" y="411480"/>
            <a:ext cx="2926080" cy="292608"/>
          </a:xfrm>
          <a:prstGeom prst="rect">
            <a:avLst/>
          </a:prstGeom>
          <a:solidFill>
            <a:srgbClr val="003B95"/>
          </a:solidFill>
          <a:ln/>
        </p:spPr>
      </p:sp>
      <p:sp>
        <p:nvSpPr>
          <p:cNvPr id="4" name="Text 2"/>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CỔNG TIẾP NHẬN ĐỐI NGOẠI</a:t>
            </a:r>
            <a:endParaRPr lang="en-US" sz="1000" dirty="0"/>
          </a:p>
        </p:txBody>
      </p:sp>
      <p:sp>
        <p:nvSpPr>
          <p:cNvPr id="5" name="Text 3"/>
          <p:cNvSpPr/>
          <p:nvPr/>
        </p:nvSpPr>
        <p:spPr>
          <a:xfrm>
            <a:off x="731520" y="777240"/>
            <a:ext cx="10725912" cy="594360"/>
          </a:xfrm>
          <a:prstGeom prst="rect">
            <a:avLst/>
          </a:prstGeom>
          <a:noFill/>
          <a:ln/>
        </p:spPr>
        <p:txBody>
          <a:bodyPr wrap="square" rtlCol="0" anchor="ctr"/>
          <a:lstStyle/>
          <a:p>
            <a:pPr indent="0" marL="0">
              <a:buNone/>
            </a:pPr>
            <a:r>
              <a:rPr lang="en-US" sz="2200" b="1" dirty="0">
                <a:solidFill>
                  <a:srgbClr val="003B95"/>
                </a:solidFill>
                <a:latin typeface="Calibri" pitchFamily="34" charset="0"/>
                <a:ea typeface="Calibri" pitchFamily="34" charset="-122"/>
                <a:cs typeface="Calibri" pitchFamily="34" charset="-120"/>
              </a:rPr>
              <a:t>Landing Page 3D &amp; Luồng Đăng Ký Tự Động Gửi Email Mật Khẩu</a:t>
            </a:r>
            <a:endParaRPr lang="en-US" sz="2200" dirty="0"/>
          </a:p>
        </p:txBody>
      </p:sp>
      <p:sp>
        <p:nvSpPr>
          <p:cNvPr id="6" name="Text 4"/>
          <p:cNvSpPr/>
          <p:nvPr/>
        </p:nvSpPr>
        <p:spPr>
          <a:xfrm>
            <a:off x="731520" y="1371600"/>
            <a:ext cx="10725912"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Cơ chế tiếp nhận hồ sơ C-Level liền mạch từ Cổng thông tin tới hộp thư người dùng và CRM</a:t>
            </a:r>
            <a:endParaRPr lang="en-US" sz="1200" dirty="0"/>
          </a:p>
        </p:txBody>
      </p:sp>
      <p:sp>
        <p:nvSpPr>
          <p:cNvPr id="7" name="Shape 5"/>
          <p:cNvSpPr/>
          <p:nvPr/>
        </p:nvSpPr>
        <p:spPr>
          <a:xfrm>
            <a:off x="731520" y="1920240"/>
            <a:ext cx="2606040" cy="4206240"/>
          </a:xfrm>
          <a:prstGeom prst="rect">
            <a:avLst/>
          </a:prstGeom>
          <a:solidFill>
            <a:srgbClr val="FFFFFF"/>
          </a:solidFill>
          <a:ln w="15240">
            <a:solidFill>
              <a:srgbClr val="E2E8F0"/>
            </a:solidFill>
            <a:prstDash val="solid"/>
          </a:ln>
        </p:spPr>
      </p:sp>
      <p:sp>
        <p:nvSpPr>
          <p:cNvPr id="8" name="Shape 6"/>
          <p:cNvSpPr/>
          <p:nvPr/>
        </p:nvSpPr>
        <p:spPr>
          <a:xfrm>
            <a:off x="960120" y="2148840"/>
            <a:ext cx="1005840" cy="365760"/>
          </a:xfrm>
          <a:prstGeom prst="rect">
            <a:avLst/>
          </a:prstGeom>
          <a:solidFill>
            <a:srgbClr val="003B95"/>
          </a:solidFill>
          <a:ln/>
        </p:spPr>
      </p:sp>
      <p:sp>
        <p:nvSpPr>
          <p:cNvPr id="9" name="Text 7"/>
          <p:cNvSpPr/>
          <p:nvPr/>
        </p:nvSpPr>
        <p:spPr>
          <a:xfrm>
            <a:off x="960120" y="2148840"/>
            <a:ext cx="10058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Bước 1</a:t>
            </a:r>
            <a:endParaRPr lang="en-US" sz="1100" dirty="0"/>
          </a:p>
        </p:txBody>
      </p:sp>
      <p:sp>
        <p:nvSpPr>
          <p:cNvPr id="10" name="Text 8"/>
          <p:cNvSpPr/>
          <p:nvPr/>
        </p:nvSpPr>
        <p:spPr>
          <a:xfrm>
            <a:off x="960120" y="2651760"/>
            <a:ext cx="2148840" cy="73152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Nộp Hồ Sơ Tại Landing Page</a:t>
            </a:r>
            <a:endParaRPr lang="en-US" sz="1300" dirty="0"/>
          </a:p>
        </p:txBody>
      </p:sp>
      <p:sp>
        <p:nvSpPr>
          <p:cNvPr id="11" name="Text 9"/>
          <p:cNvSpPr/>
          <p:nvPr/>
        </p:nvSpPr>
        <p:spPr>
          <a:xfrm>
            <a:off x="960120" y="3429000"/>
            <a:ext cx="2148840" cy="246888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Doanh nhân truy cập /landing/ceo/v1, điền form tiếp nhận C-Level (Họ tên, Năm sinh 1983, Doanh nghiệp, MST, SĐT, Email).</a:t>
            </a:r>
            <a:endParaRPr lang="en-US" sz="1100" dirty="0"/>
          </a:p>
        </p:txBody>
      </p:sp>
      <p:sp>
        <p:nvSpPr>
          <p:cNvPr id="12" name="Shape 10"/>
          <p:cNvSpPr/>
          <p:nvPr/>
        </p:nvSpPr>
        <p:spPr>
          <a:xfrm>
            <a:off x="3456432" y="1920240"/>
            <a:ext cx="2606040" cy="4206240"/>
          </a:xfrm>
          <a:prstGeom prst="rect">
            <a:avLst/>
          </a:prstGeom>
          <a:solidFill>
            <a:srgbClr val="FFFFFF"/>
          </a:solidFill>
          <a:ln w="15240">
            <a:solidFill>
              <a:srgbClr val="E2E8F0"/>
            </a:solidFill>
            <a:prstDash val="solid"/>
          </a:ln>
        </p:spPr>
      </p:sp>
      <p:sp>
        <p:nvSpPr>
          <p:cNvPr id="13" name="Shape 11"/>
          <p:cNvSpPr/>
          <p:nvPr/>
        </p:nvSpPr>
        <p:spPr>
          <a:xfrm>
            <a:off x="3685032" y="2148840"/>
            <a:ext cx="1005840" cy="365760"/>
          </a:xfrm>
          <a:prstGeom prst="rect">
            <a:avLst/>
          </a:prstGeom>
          <a:solidFill>
            <a:srgbClr val="003B95"/>
          </a:solidFill>
          <a:ln/>
        </p:spPr>
      </p:sp>
      <p:sp>
        <p:nvSpPr>
          <p:cNvPr id="14" name="Text 12"/>
          <p:cNvSpPr/>
          <p:nvPr/>
        </p:nvSpPr>
        <p:spPr>
          <a:xfrm>
            <a:off x="3685032" y="2148840"/>
            <a:ext cx="10058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Bước 2</a:t>
            </a:r>
            <a:endParaRPr lang="en-US" sz="1100" dirty="0"/>
          </a:p>
        </p:txBody>
      </p:sp>
      <p:sp>
        <p:nvSpPr>
          <p:cNvPr id="15" name="Text 13"/>
          <p:cNvSpPr/>
          <p:nvPr/>
        </p:nvSpPr>
        <p:spPr>
          <a:xfrm>
            <a:off x="3685032" y="2651760"/>
            <a:ext cx="2148840" cy="73152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Tự Động Sinh Tài Khoản Hệ Thống</a:t>
            </a:r>
            <a:endParaRPr lang="en-US" sz="1300" dirty="0"/>
          </a:p>
        </p:txBody>
      </p:sp>
      <p:sp>
        <p:nvSpPr>
          <p:cNvPr id="16" name="Text 14"/>
          <p:cNvSpPr/>
          <p:nvPr/>
        </p:nvSpPr>
        <p:spPr>
          <a:xfrm>
            <a:off x="3685032" y="3429000"/>
            <a:ext cx="2148840" cy="246888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Backend khởi tạo hồ sơ trong public.members trạng thái pending, sinh tài khoản vione_users với mật khẩu bảo mật ngẫu nhiên.</a:t>
            </a:r>
            <a:endParaRPr lang="en-US" sz="1100" dirty="0"/>
          </a:p>
        </p:txBody>
      </p:sp>
      <p:sp>
        <p:nvSpPr>
          <p:cNvPr id="17" name="Shape 15"/>
          <p:cNvSpPr/>
          <p:nvPr/>
        </p:nvSpPr>
        <p:spPr>
          <a:xfrm>
            <a:off x="6181344" y="1920240"/>
            <a:ext cx="2606040" cy="4206240"/>
          </a:xfrm>
          <a:prstGeom prst="rect">
            <a:avLst/>
          </a:prstGeom>
          <a:solidFill>
            <a:srgbClr val="FFFFFF"/>
          </a:solidFill>
          <a:ln w="15240">
            <a:solidFill>
              <a:srgbClr val="E2E8F0"/>
            </a:solidFill>
            <a:prstDash val="solid"/>
          </a:ln>
        </p:spPr>
      </p:sp>
      <p:sp>
        <p:nvSpPr>
          <p:cNvPr id="18" name="Shape 16"/>
          <p:cNvSpPr/>
          <p:nvPr/>
        </p:nvSpPr>
        <p:spPr>
          <a:xfrm>
            <a:off x="6409944" y="2148840"/>
            <a:ext cx="1005840" cy="365760"/>
          </a:xfrm>
          <a:prstGeom prst="rect">
            <a:avLst/>
          </a:prstGeom>
          <a:solidFill>
            <a:srgbClr val="003B95"/>
          </a:solidFill>
          <a:ln/>
        </p:spPr>
      </p:sp>
      <p:sp>
        <p:nvSpPr>
          <p:cNvPr id="19" name="Text 17"/>
          <p:cNvSpPr/>
          <p:nvPr/>
        </p:nvSpPr>
        <p:spPr>
          <a:xfrm>
            <a:off x="6409944" y="2148840"/>
            <a:ext cx="10058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Bước 3</a:t>
            </a:r>
            <a:endParaRPr lang="en-US" sz="1100" dirty="0"/>
          </a:p>
        </p:txBody>
      </p:sp>
      <p:sp>
        <p:nvSpPr>
          <p:cNvPr id="20" name="Text 18"/>
          <p:cNvSpPr/>
          <p:nvPr/>
        </p:nvSpPr>
        <p:spPr>
          <a:xfrm>
            <a:off x="6409944" y="2651760"/>
            <a:ext cx="2148840" cy="73152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Gửi Email HTML Chào Mừng Tức Thì</a:t>
            </a:r>
            <a:endParaRPr lang="en-US" sz="1300" dirty="0"/>
          </a:p>
        </p:txBody>
      </p:sp>
      <p:sp>
        <p:nvSpPr>
          <p:cNvPr id="21" name="Text 19"/>
          <p:cNvSpPr/>
          <p:nvPr/>
        </p:nvSpPr>
        <p:spPr>
          <a:xfrm>
            <a:off x="6409944" y="3429000"/>
            <a:ext cx="2148840" cy="246888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Giao thức SMTP tự động bắn thư chào mừng về hòm thư người đăng ký: Chứa tên đăng nhập, mật khẩu, link truy cập App và hướng dẫn PWA.</a:t>
            </a:r>
            <a:endParaRPr lang="en-US" sz="1100" dirty="0"/>
          </a:p>
        </p:txBody>
      </p:sp>
      <p:sp>
        <p:nvSpPr>
          <p:cNvPr id="22" name="Shape 20"/>
          <p:cNvSpPr/>
          <p:nvPr/>
        </p:nvSpPr>
        <p:spPr>
          <a:xfrm>
            <a:off x="8906256" y="1920240"/>
            <a:ext cx="2606040" cy="4206240"/>
          </a:xfrm>
          <a:prstGeom prst="rect">
            <a:avLst/>
          </a:prstGeom>
          <a:solidFill>
            <a:srgbClr val="FFFFFF"/>
          </a:solidFill>
          <a:ln w="15240">
            <a:solidFill>
              <a:srgbClr val="E2E8F0"/>
            </a:solidFill>
            <a:prstDash val="solid"/>
          </a:ln>
        </p:spPr>
      </p:sp>
      <p:sp>
        <p:nvSpPr>
          <p:cNvPr id="23" name="Shape 21"/>
          <p:cNvSpPr/>
          <p:nvPr/>
        </p:nvSpPr>
        <p:spPr>
          <a:xfrm>
            <a:off x="9134856" y="2148840"/>
            <a:ext cx="1005840" cy="365760"/>
          </a:xfrm>
          <a:prstGeom prst="rect">
            <a:avLst/>
          </a:prstGeom>
          <a:solidFill>
            <a:srgbClr val="003B95"/>
          </a:solidFill>
          <a:ln/>
        </p:spPr>
      </p:sp>
      <p:sp>
        <p:nvSpPr>
          <p:cNvPr id="24" name="Text 22"/>
          <p:cNvSpPr/>
          <p:nvPr/>
        </p:nvSpPr>
        <p:spPr>
          <a:xfrm>
            <a:off x="9134856" y="2148840"/>
            <a:ext cx="10058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Bước 4</a:t>
            </a:r>
            <a:endParaRPr lang="en-US" sz="1100" dirty="0"/>
          </a:p>
        </p:txBody>
      </p:sp>
      <p:sp>
        <p:nvSpPr>
          <p:cNvPr id="25" name="Text 23"/>
          <p:cNvSpPr/>
          <p:nvPr/>
        </p:nvSpPr>
        <p:spPr>
          <a:xfrm>
            <a:off x="9134856" y="2651760"/>
            <a:ext cx="2148840" cy="73152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Ban Thư Ký Phê Duyệt Trên CRM</a:t>
            </a:r>
            <a:endParaRPr lang="en-US" sz="1300" dirty="0"/>
          </a:p>
        </p:txBody>
      </p:sp>
      <p:sp>
        <p:nvSpPr>
          <p:cNvPr id="26" name="Text 24"/>
          <p:cNvSpPr/>
          <p:nvPr/>
        </p:nvSpPr>
        <p:spPr>
          <a:xfrm>
            <a:off x="9134856" y="3429000"/>
            <a:ext cx="2148840" cy="246888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Hồ sơ hiển thị trên CRM /members; Thư ký kiểm tra giấy phép ĐKKD và bấm Approve để kích hoạt đầy đủ quyền hội viên chính thức.</a:t>
            </a:r>
            <a:endParaRPr lang="en-US" sz="1100" dirty="0"/>
          </a:p>
        </p:txBody>
      </p:sp>
      <p:sp>
        <p:nvSpPr>
          <p:cNvPr id="27" name="Shape 25"/>
          <p:cNvSpPr/>
          <p:nvPr/>
        </p:nvSpPr>
        <p:spPr>
          <a:xfrm>
            <a:off x="731520" y="6400800"/>
            <a:ext cx="10725912" cy="18288"/>
          </a:xfrm>
          <a:prstGeom prst="rect">
            <a:avLst/>
          </a:prstGeom>
          <a:solidFill>
            <a:srgbClr val="E2E8F0"/>
          </a:solidFill>
          <a:ln/>
        </p:spPr>
      </p:sp>
      <p:sp>
        <p:nvSpPr>
          <p:cNvPr id="28" name="Text 26"/>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Sinh Thái Chuyển Đổi Số Toàn Diện · CLB Doanh Nhân CEO 1983 · VIONE Ecosystem</a:t>
            </a:r>
            <a:endParaRPr lang="en-US" sz="950" dirty="0"/>
          </a:p>
        </p:txBody>
      </p:sp>
      <p:sp>
        <p:nvSpPr>
          <p:cNvPr id="29" name="Text 27"/>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HanoiBA</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59E0B"/>
          </a:solidFill>
          <a:ln/>
        </p:spPr>
      </p:sp>
      <p:sp>
        <p:nvSpPr>
          <p:cNvPr id="3" name="Shape 1"/>
          <p:cNvSpPr/>
          <p:nvPr/>
        </p:nvSpPr>
        <p:spPr>
          <a:xfrm>
            <a:off x="731520" y="411480"/>
            <a:ext cx="2926080" cy="292608"/>
          </a:xfrm>
          <a:prstGeom prst="rect">
            <a:avLst/>
          </a:prstGeom>
          <a:solidFill>
            <a:srgbClr val="003B95"/>
          </a:solidFill>
          <a:ln/>
        </p:spPr>
      </p:sp>
      <p:sp>
        <p:nvSpPr>
          <p:cNvPr id="4" name="Text 2"/>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SỰ PHÙ HỢP ĐỘC BẢN</a:t>
            </a:r>
            <a:endParaRPr lang="en-US" sz="1000" dirty="0"/>
          </a:p>
        </p:txBody>
      </p:sp>
      <p:sp>
        <p:nvSpPr>
          <p:cNvPr id="5" name="Text 3"/>
          <p:cNvSpPr/>
          <p:nvPr/>
        </p:nvSpPr>
        <p:spPr>
          <a:xfrm>
            <a:off x="731520" y="777240"/>
            <a:ext cx="10725912" cy="594360"/>
          </a:xfrm>
          <a:prstGeom prst="rect">
            <a:avLst/>
          </a:prstGeom>
          <a:noFill/>
          <a:ln/>
        </p:spPr>
        <p:txBody>
          <a:bodyPr wrap="square" rtlCol="0" anchor="ctr"/>
          <a:lstStyle/>
          <a:p>
            <a:pPr indent="0" marL="0">
              <a:buNone/>
            </a:pPr>
            <a:r>
              <a:rPr lang="en-US" sz="2200" b="1" dirty="0">
                <a:solidFill>
                  <a:srgbClr val="003B95"/>
                </a:solidFill>
                <a:latin typeface="Calibri" pitchFamily="34" charset="0"/>
                <a:ea typeface="Calibri" pitchFamily="34" charset="-122"/>
                <a:cs typeface="Calibri" pitchFamily="34" charset="-120"/>
              </a:rPr>
              <a:t>Tại Sao Hệ Thống Này "Đo Ni Đóng Giày" Cho CLB CEO 1983?</a:t>
            </a:r>
            <a:endParaRPr lang="en-US" sz="2200" dirty="0"/>
          </a:p>
        </p:txBody>
      </p:sp>
      <p:sp>
        <p:nvSpPr>
          <p:cNvPr id="6" name="Text 4"/>
          <p:cNvSpPr/>
          <p:nvPr/>
        </p:nvSpPr>
        <p:spPr>
          <a:xfrm>
            <a:off x="731520" y="1371600"/>
            <a:ext cx="10725912"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Tích hợp sâu sắc văn hóa, bản lĩnh thương trường và nhu cầu kết nối của thế hệ Doanh nhân Quý Hợi</a:t>
            </a:r>
            <a:endParaRPr lang="en-US" sz="1200" dirty="0"/>
          </a:p>
        </p:txBody>
      </p:sp>
      <p:sp>
        <p:nvSpPr>
          <p:cNvPr id="7" name="Shape 5"/>
          <p:cNvSpPr/>
          <p:nvPr/>
        </p:nvSpPr>
        <p:spPr>
          <a:xfrm>
            <a:off x="731520" y="1920240"/>
            <a:ext cx="5257800" cy="1965960"/>
          </a:xfrm>
          <a:prstGeom prst="rect">
            <a:avLst/>
          </a:prstGeom>
          <a:solidFill>
            <a:srgbClr val="FFFFFF"/>
          </a:solidFill>
          <a:ln w="15240">
            <a:solidFill>
              <a:srgbClr val="003B95"/>
            </a:solidFill>
            <a:prstDash val="solid"/>
          </a:ln>
        </p:spPr>
      </p:sp>
      <p:sp>
        <p:nvSpPr>
          <p:cNvPr id="8" name="Text 6"/>
          <p:cNvSpPr/>
          <p:nvPr/>
        </p:nvSpPr>
        <p:spPr>
          <a:xfrm>
            <a:off x="1005840" y="2148840"/>
            <a:ext cx="4709160" cy="347472"/>
          </a:xfrm>
          <a:prstGeom prst="rect">
            <a:avLst/>
          </a:prstGeom>
          <a:noFill/>
          <a:ln/>
        </p:spPr>
        <p:txBody>
          <a:bodyPr wrap="square" rtlCol="0" anchor="ctr"/>
          <a:lstStyle/>
          <a:p>
            <a:pPr indent="0" marL="0">
              <a:buNone/>
            </a:pPr>
            <a:r>
              <a:rPr lang="en-US" sz="1350" b="1" dirty="0">
                <a:solidFill>
                  <a:srgbClr val="003B95"/>
                </a:solidFill>
                <a:latin typeface="Calibri" pitchFamily="34" charset="0"/>
                <a:ea typeface="Calibri" pitchFamily="34" charset="-122"/>
                <a:cs typeface="Calibri" pitchFamily="34" charset="-120"/>
              </a:rPr>
              <a:t>Phong Thủy &amp; Nhận Diện Bản Mệnh 1983</a:t>
            </a:r>
            <a:endParaRPr lang="en-US" sz="1350" dirty="0"/>
          </a:p>
        </p:txBody>
      </p:sp>
      <p:sp>
        <p:nvSpPr>
          <p:cNvPr id="9" name="Text 7"/>
          <p:cNvSpPr/>
          <p:nvPr/>
        </p:nvSpPr>
        <p:spPr>
          <a:xfrm>
            <a:off x="1005840" y="2560320"/>
            <a:ext cx="4709160" cy="123444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Doanh nhân sinh năm 1983 mang tuổi Quý Hợi - Mệnh Đại Hải Thủy. Hệ thống áp dụng bảng màu Xanh Royal Navy tượng trưng cho biển lớn bao la kết hợp Vàng Kim Hoàng Gia, thể hiện sự chín muồi, thịnh vượng và vững chãi.</a:t>
            </a:r>
            <a:endParaRPr lang="en-US" sz="1100" dirty="0"/>
          </a:p>
        </p:txBody>
      </p:sp>
      <p:sp>
        <p:nvSpPr>
          <p:cNvPr id="10" name="Shape 8"/>
          <p:cNvSpPr/>
          <p:nvPr/>
        </p:nvSpPr>
        <p:spPr>
          <a:xfrm>
            <a:off x="6172200" y="1920240"/>
            <a:ext cx="5257800" cy="1965960"/>
          </a:xfrm>
          <a:prstGeom prst="rect">
            <a:avLst/>
          </a:prstGeom>
          <a:solidFill>
            <a:srgbClr val="FFFFFF"/>
          </a:solidFill>
          <a:ln w="15240">
            <a:solidFill>
              <a:srgbClr val="003B95"/>
            </a:solidFill>
            <a:prstDash val="solid"/>
          </a:ln>
        </p:spPr>
      </p:sp>
      <p:sp>
        <p:nvSpPr>
          <p:cNvPr id="11" name="Text 9"/>
          <p:cNvSpPr/>
          <p:nvPr/>
        </p:nvSpPr>
        <p:spPr>
          <a:xfrm>
            <a:off x="6446520" y="2148840"/>
            <a:ext cx="4709160" cy="347472"/>
          </a:xfrm>
          <a:prstGeom prst="rect">
            <a:avLst/>
          </a:prstGeom>
          <a:noFill/>
          <a:ln/>
        </p:spPr>
        <p:txBody>
          <a:bodyPr wrap="square" rtlCol="0" anchor="ctr"/>
          <a:lstStyle/>
          <a:p>
            <a:pPr indent="0" marL="0">
              <a:buNone/>
            </a:pPr>
            <a:r>
              <a:rPr lang="en-US" sz="1350" b="1" dirty="0">
                <a:solidFill>
                  <a:srgbClr val="003B95"/>
                </a:solidFill>
                <a:latin typeface="Calibri" pitchFamily="34" charset="0"/>
                <a:ea typeface="Calibri" pitchFamily="34" charset="-122"/>
                <a:cs typeface="Calibri" pitchFamily="34" charset="-120"/>
              </a:rPr>
              <a:t>Chuẩn Hóa Mô Hình Trực Thuộc HanoiBA</a:t>
            </a:r>
            <a:endParaRPr lang="en-US" sz="1350" dirty="0"/>
          </a:p>
        </p:txBody>
      </p:sp>
      <p:sp>
        <p:nvSpPr>
          <p:cNvPr id="12" name="Text 10"/>
          <p:cNvSpPr/>
          <p:nvPr/>
        </p:nvSpPr>
        <p:spPr>
          <a:xfrm>
            <a:off x="6446520" y="2560320"/>
            <a:ext cx="4709160" cy="123444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Cấu trúc hệ thống tích hợp đầy đủ 7 Ban chuyên trách của Hiệp Hội Doanh Nhân Trẻ Hà Nội: Ban Thư Ký, Ban Xúc Tiến Thương Mại, Ban Sự Kiện, Ban Truyền Thông, Ban Tài Chính... giúp quản trị bài bản và kế thừa lâu dài.</a:t>
            </a:r>
            <a:endParaRPr lang="en-US" sz="1100" dirty="0"/>
          </a:p>
        </p:txBody>
      </p:sp>
      <p:sp>
        <p:nvSpPr>
          <p:cNvPr id="13" name="Shape 11"/>
          <p:cNvSpPr/>
          <p:nvPr/>
        </p:nvSpPr>
        <p:spPr>
          <a:xfrm>
            <a:off x="731520" y="4069080"/>
            <a:ext cx="5257800" cy="1965960"/>
          </a:xfrm>
          <a:prstGeom prst="rect">
            <a:avLst/>
          </a:prstGeom>
          <a:solidFill>
            <a:srgbClr val="FFFFFF"/>
          </a:solidFill>
          <a:ln w="15240">
            <a:solidFill>
              <a:srgbClr val="003B95"/>
            </a:solidFill>
            <a:prstDash val="solid"/>
          </a:ln>
        </p:spPr>
      </p:sp>
      <p:sp>
        <p:nvSpPr>
          <p:cNvPr id="14" name="Text 12"/>
          <p:cNvSpPr/>
          <p:nvPr/>
        </p:nvSpPr>
        <p:spPr>
          <a:xfrm>
            <a:off x="1005840" y="4297680"/>
            <a:ext cx="4709160" cy="347472"/>
          </a:xfrm>
          <a:prstGeom prst="rect">
            <a:avLst/>
          </a:prstGeom>
          <a:noFill/>
          <a:ln/>
        </p:spPr>
        <p:txBody>
          <a:bodyPr wrap="square" rtlCol="0" anchor="ctr"/>
          <a:lstStyle/>
          <a:p>
            <a:pPr indent="0" marL="0">
              <a:buNone/>
            </a:pPr>
            <a:r>
              <a:rPr lang="en-US" sz="1350" b="1" dirty="0">
                <a:solidFill>
                  <a:srgbClr val="003B95"/>
                </a:solidFill>
                <a:latin typeface="Calibri" pitchFamily="34" charset="0"/>
                <a:ea typeface="Calibri" pitchFamily="34" charset="-122"/>
                <a:cs typeface="Calibri" pitchFamily="34" charset="-120"/>
              </a:rPr>
              <a:t>Tối Ưu Trải Nghiệm Lãnh Đạo C-Level</a:t>
            </a:r>
            <a:endParaRPr lang="en-US" sz="1350" dirty="0"/>
          </a:p>
        </p:txBody>
      </p:sp>
      <p:sp>
        <p:nvSpPr>
          <p:cNvPr id="15" name="Text 13"/>
          <p:cNvSpPr/>
          <p:nvPr/>
        </p:nvSpPr>
        <p:spPr>
          <a:xfrm>
            <a:off x="1005840" y="4709160"/>
            <a:ext cx="4709160" cy="123444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Các chủ doanh nghiệp bận rộn cần giải pháp "1-Chạm": Chạm lưu danh bạ .vcf, chạm quét điểm danh sự kiện, chạm quét VietQR không cần nhập liệu số tiền hay số tài khoản, thao tác nhanh gọn trên mọi thiết bị.</a:t>
            </a:r>
            <a:endParaRPr lang="en-US" sz="1100" dirty="0"/>
          </a:p>
        </p:txBody>
      </p:sp>
      <p:sp>
        <p:nvSpPr>
          <p:cNvPr id="16" name="Shape 14"/>
          <p:cNvSpPr/>
          <p:nvPr/>
        </p:nvSpPr>
        <p:spPr>
          <a:xfrm>
            <a:off x="6172200" y="4069080"/>
            <a:ext cx="5257800" cy="1965960"/>
          </a:xfrm>
          <a:prstGeom prst="rect">
            <a:avLst/>
          </a:prstGeom>
          <a:solidFill>
            <a:srgbClr val="FFFFFF"/>
          </a:solidFill>
          <a:ln w="15240">
            <a:solidFill>
              <a:srgbClr val="003B95"/>
            </a:solidFill>
            <a:prstDash val="solid"/>
          </a:ln>
        </p:spPr>
      </p:sp>
      <p:sp>
        <p:nvSpPr>
          <p:cNvPr id="17" name="Text 15"/>
          <p:cNvSpPr/>
          <p:nvPr/>
        </p:nvSpPr>
        <p:spPr>
          <a:xfrm>
            <a:off x="6446520" y="4297680"/>
            <a:ext cx="4709160" cy="347472"/>
          </a:xfrm>
          <a:prstGeom prst="rect">
            <a:avLst/>
          </a:prstGeom>
          <a:noFill/>
          <a:ln/>
        </p:spPr>
        <p:txBody>
          <a:bodyPr wrap="square" rtlCol="0" anchor="ctr"/>
          <a:lstStyle/>
          <a:p>
            <a:pPr indent="0" marL="0">
              <a:buNone/>
            </a:pPr>
            <a:r>
              <a:rPr lang="en-US" sz="1350" b="1" dirty="0">
                <a:solidFill>
                  <a:srgbClr val="003B95"/>
                </a:solidFill>
                <a:latin typeface="Calibri" pitchFamily="34" charset="0"/>
                <a:ea typeface="Calibri" pitchFamily="34" charset="-122"/>
                <a:cs typeface="Calibri" pitchFamily="34" charset="-120"/>
              </a:rPr>
              <a:t>Giải Quyết Nhu Cầu Giao Thương B2B Thực Chất</a:t>
            </a:r>
            <a:endParaRPr lang="en-US" sz="1350" dirty="0"/>
          </a:p>
        </p:txBody>
      </p:sp>
      <p:sp>
        <p:nvSpPr>
          <p:cNvPr id="18" name="Text 16"/>
          <p:cNvSpPr/>
          <p:nvPr/>
        </p:nvSpPr>
        <p:spPr>
          <a:xfrm>
            <a:off x="6446520" y="4709160"/>
            <a:ext cx="4709160" cy="123444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500+ doanh nghiệp thành viên đang ở độ tuổi vàng phát triển kinh tế. Sàn Marketplace và Bảng tin cơ hội giúp các thành viên ưu tiên sử dụng sản phẩm dịch vụ của nhau, giữ dòng tiền lưu chuyển nội khối bền vững.</a:t>
            </a:r>
            <a:endParaRPr lang="en-US" sz="1100" dirty="0"/>
          </a:p>
        </p:txBody>
      </p:sp>
      <p:sp>
        <p:nvSpPr>
          <p:cNvPr id="19" name="Shape 17"/>
          <p:cNvSpPr/>
          <p:nvPr/>
        </p:nvSpPr>
        <p:spPr>
          <a:xfrm>
            <a:off x="731520" y="6400800"/>
            <a:ext cx="10725912" cy="18288"/>
          </a:xfrm>
          <a:prstGeom prst="rect">
            <a:avLst/>
          </a:prstGeom>
          <a:solidFill>
            <a:srgbClr val="E2E8F0"/>
          </a:solidFill>
          <a:ln/>
        </p:spPr>
      </p:sp>
      <p:sp>
        <p:nvSpPr>
          <p:cNvPr id="20" name="Text 18"/>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Sinh Thái Chuyển Đổi Số Toàn Diện · CLB Doanh Nhân CEO 1983 · VIONE Ecosystem</a:t>
            </a:r>
            <a:endParaRPr lang="en-US" sz="950" dirty="0"/>
          </a:p>
        </p:txBody>
      </p:sp>
      <p:sp>
        <p:nvSpPr>
          <p:cNvPr id="21" name="Text 19"/>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HanoiBA</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59E0B"/>
          </a:solidFill>
          <a:ln/>
        </p:spPr>
      </p:sp>
      <p:sp>
        <p:nvSpPr>
          <p:cNvPr id="3" name="Shape 1"/>
          <p:cNvSpPr/>
          <p:nvPr/>
        </p:nvSpPr>
        <p:spPr>
          <a:xfrm>
            <a:off x="731520" y="411480"/>
            <a:ext cx="2926080" cy="292608"/>
          </a:xfrm>
          <a:prstGeom prst="rect">
            <a:avLst/>
          </a:prstGeom>
          <a:solidFill>
            <a:srgbClr val="003B95"/>
          </a:solidFill>
          <a:ln/>
        </p:spPr>
      </p:sp>
      <p:sp>
        <p:nvSpPr>
          <p:cNvPr id="4" name="Text 2"/>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GIÁ TRỊ &amp; HIỆU QUẢ VẬN HÀNH</a:t>
            </a:r>
            <a:endParaRPr lang="en-US" sz="1000" dirty="0"/>
          </a:p>
        </p:txBody>
      </p:sp>
      <p:sp>
        <p:nvSpPr>
          <p:cNvPr id="5" name="Text 3"/>
          <p:cNvSpPr/>
          <p:nvPr/>
        </p:nvSpPr>
        <p:spPr>
          <a:xfrm>
            <a:off x="731520" y="777240"/>
            <a:ext cx="10725912" cy="594360"/>
          </a:xfrm>
          <a:prstGeom prst="rect">
            <a:avLst/>
          </a:prstGeom>
          <a:noFill/>
          <a:ln/>
        </p:spPr>
        <p:txBody>
          <a:bodyPr wrap="square" rtlCol="0" anchor="ctr"/>
          <a:lstStyle/>
          <a:p>
            <a:pPr indent="0" marL="0">
              <a:buNone/>
            </a:pPr>
            <a:r>
              <a:rPr lang="en-US" sz="2200" b="1" dirty="0">
                <a:solidFill>
                  <a:srgbClr val="003B95"/>
                </a:solidFill>
                <a:latin typeface="Calibri" pitchFamily="34" charset="0"/>
                <a:ea typeface="Calibri" pitchFamily="34" charset="-122"/>
                <a:cs typeface="Calibri" pitchFamily="34" charset="-120"/>
              </a:rPr>
              <a:t>Các Chỉ Số Đo Lường Thành Công (ROI) Đột Phá Sau Khi Vận Hành</a:t>
            </a:r>
            <a:endParaRPr lang="en-US" sz="2200" dirty="0"/>
          </a:p>
        </p:txBody>
      </p:sp>
      <p:sp>
        <p:nvSpPr>
          <p:cNvPr id="6" name="Text 4"/>
          <p:cNvSpPr/>
          <p:nvPr/>
        </p:nvSpPr>
        <p:spPr>
          <a:xfrm>
            <a:off x="731520" y="1371600"/>
            <a:ext cx="10725912"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Những con số thực tế chứng minh hiệu quả đầu tư và chuyển đổi số cho tổ chức</a:t>
            </a:r>
            <a:endParaRPr lang="en-US" sz="1200" dirty="0"/>
          </a:p>
        </p:txBody>
      </p:sp>
      <p:sp>
        <p:nvSpPr>
          <p:cNvPr id="7" name="Shape 5"/>
          <p:cNvSpPr/>
          <p:nvPr/>
        </p:nvSpPr>
        <p:spPr>
          <a:xfrm>
            <a:off x="731520" y="1920240"/>
            <a:ext cx="2606040" cy="4206240"/>
          </a:xfrm>
          <a:prstGeom prst="rect">
            <a:avLst/>
          </a:prstGeom>
          <a:solidFill>
            <a:srgbClr val="FFFFFF"/>
          </a:solidFill>
          <a:ln w="19050">
            <a:solidFill>
              <a:srgbClr val="FDE68A"/>
            </a:solidFill>
            <a:prstDash val="solid"/>
          </a:ln>
        </p:spPr>
      </p:sp>
      <p:sp>
        <p:nvSpPr>
          <p:cNvPr id="8" name="Shape 6"/>
          <p:cNvSpPr/>
          <p:nvPr/>
        </p:nvSpPr>
        <p:spPr>
          <a:xfrm>
            <a:off x="914400" y="2148840"/>
            <a:ext cx="2240280" cy="1005840"/>
          </a:xfrm>
          <a:prstGeom prst="rect">
            <a:avLst/>
          </a:prstGeom>
          <a:solidFill>
            <a:srgbClr val="EFF6FF"/>
          </a:solidFill>
          <a:ln/>
        </p:spPr>
      </p:sp>
      <p:sp>
        <p:nvSpPr>
          <p:cNvPr id="9" name="Text 7"/>
          <p:cNvSpPr/>
          <p:nvPr/>
        </p:nvSpPr>
        <p:spPr>
          <a:xfrm>
            <a:off x="914400" y="2194560"/>
            <a:ext cx="2240280" cy="594360"/>
          </a:xfrm>
          <a:prstGeom prst="rect">
            <a:avLst/>
          </a:prstGeom>
          <a:noFill/>
          <a:ln/>
        </p:spPr>
        <p:txBody>
          <a:bodyPr wrap="square" rtlCol="0" anchor="ctr"/>
          <a:lstStyle/>
          <a:p>
            <a:pPr algn="ctr" indent="0" marL="0">
              <a:buNone/>
            </a:pPr>
            <a:r>
              <a:rPr lang="en-US" sz="2600" b="1" dirty="0">
                <a:solidFill>
                  <a:srgbClr val="003B95"/>
                </a:solidFill>
                <a:latin typeface="Calibri" pitchFamily="34" charset="0"/>
                <a:ea typeface="Calibri" pitchFamily="34" charset="-122"/>
                <a:cs typeface="Calibri" pitchFamily="34" charset="-120"/>
              </a:rPr>
              <a:t>90%</a:t>
            </a:r>
            <a:endParaRPr lang="en-US" sz="2600" dirty="0"/>
          </a:p>
        </p:txBody>
      </p:sp>
      <p:sp>
        <p:nvSpPr>
          <p:cNvPr id="10" name="Text 8"/>
          <p:cNvSpPr/>
          <p:nvPr/>
        </p:nvSpPr>
        <p:spPr>
          <a:xfrm>
            <a:off x="914400" y="2788920"/>
            <a:ext cx="2240280" cy="320040"/>
          </a:xfrm>
          <a:prstGeom prst="rect">
            <a:avLst/>
          </a:prstGeom>
          <a:noFill/>
          <a:ln/>
        </p:spPr>
        <p:txBody>
          <a:bodyPr wrap="square" rtlCol="0" anchor="ctr"/>
          <a:lstStyle/>
          <a:p>
            <a:pPr algn="ctr" indent="0" marL="0">
              <a:buNone/>
            </a:pPr>
            <a:r>
              <a:rPr lang="en-US" sz="1100" b="1" dirty="0">
                <a:solidFill>
                  <a:srgbClr val="D97706"/>
                </a:solidFill>
                <a:latin typeface="Calibri" pitchFamily="34" charset="0"/>
                <a:ea typeface="Calibri" pitchFamily="34" charset="-122"/>
                <a:cs typeface="Calibri" pitchFamily="34" charset="-120"/>
              </a:rPr>
              <a:t>Giảm Thời Gian Thủ Tục</a:t>
            </a:r>
            <a:endParaRPr lang="en-US" sz="1100" dirty="0"/>
          </a:p>
        </p:txBody>
      </p:sp>
      <p:sp>
        <p:nvSpPr>
          <p:cNvPr id="11" name="Text 9"/>
          <p:cNvSpPr/>
          <p:nvPr/>
        </p:nvSpPr>
        <p:spPr>
          <a:xfrm>
            <a:off x="960120" y="3337560"/>
            <a:ext cx="2148840" cy="260604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Cắt giảm 90% thời gian xử lý thủ tục hành chính, nộp hồ sơ, thẩm định và cấp thẻ hội viên so với phương thức giấy tờ truyền thống.</a:t>
            </a:r>
            <a:endParaRPr lang="en-US" sz="1150" dirty="0"/>
          </a:p>
        </p:txBody>
      </p:sp>
      <p:sp>
        <p:nvSpPr>
          <p:cNvPr id="12" name="Shape 10"/>
          <p:cNvSpPr/>
          <p:nvPr/>
        </p:nvSpPr>
        <p:spPr>
          <a:xfrm>
            <a:off x="3456432" y="1920240"/>
            <a:ext cx="2606040" cy="4206240"/>
          </a:xfrm>
          <a:prstGeom prst="rect">
            <a:avLst/>
          </a:prstGeom>
          <a:solidFill>
            <a:srgbClr val="FFFFFF"/>
          </a:solidFill>
          <a:ln w="19050">
            <a:solidFill>
              <a:srgbClr val="FDE68A"/>
            </a:solidFill>
            <a:prstDash val="solid"/>
          </a:ln>
        </p:spPr>
      </p:sp>
      <p:sp>
        <p:nvSpPr>
          <p:cNvPr id="13" name="Shape 11"/>
          <p:cNvSpPr/>
          <p:nvPr/>
        </p:nvSpPr>
        <p:spPr>
          <a:xfrm>
            <a:off x="3639312" y="2148840"/>
            <a:ext cx="2240280" cy="1005840"/>
          </a:xfrm>
          <a:prstGeom prst="rect">
            <a:avLst/>
          </a:prstGeom>
          <a:solidFill>
            <a:srgbClr val="EFF6FF"/>
          </a:solidFill>
          <a:ln/>
        </p:spPr>
      </p:sp>
      <p:sp>
        <p:nvSpPr>
          <p:cNvPr id="14" name="Text 12"/>
          <p:cNvSpPr/>
          <p:nvPr/>
        </p:nvSpPr>
        <p:spPr>
          <a:xfrm>
            <a:off x="3639312" y="2194560"/>
            <a:ext cx="2240280" cy="594360"/>
          </a:xfrm>
          <a:prstGeom prst="rect">
            <a:avLst/>
          </a:prstGeom>
          <a:noFill/>
          <a:ln/>
        </p:spPr>
        <p:txBody>
          <a:bodyPr wrap="square" rtlCol="0" anchor="ctr"/>
          <a:lstStyle/>
          <a:p>
            <a:pPr algn="ctr" indent="0" marL="0">
              <a:buNone/>
            </a:pPr>
            <a:r>
              <a:rPr lang="en-US" sz="2600" b="1" dirty="0">
                <a:solidFill>
                  <a:srgbClr val="003B95"/>
                </a:solidFill>
                <a:latin typeface="Calibri" pitchFamily="34" charset="0"/>
                <a:ea typeface="Calibri" pitchFamily="34" charset="-122"/>
                <a:cs typeface="Calibri" pitchFamily="34" charset="-120"/>
              </a:rPr>
              <a:t>100%</a:t>
            </a:r>
            <a:endParaRPr lang="en-US" sz="2600" dirty="0"/>
          </a:p>
        </p:txBody>
      </p:sp>
      <p:sp>
        <p:nvSpPr>
          <p:cNvPr id="15" name="Text 13"/>
          <p:cNvSpPr/>
          <p:nvPr/>
        </p:nvSpPr>
        <p:spPr>
          <a:xfrm>
            <a:off x="3639312" y="2788920"/>
            <a:ext cx="2240280" cy="320040"/>
          </a:xfrm>
          <a:prstGeom prst="rect">
            <a:avLst/>
          </a:prstGeom>
          <a:noFill/>
          <a:ln/>
        </p:spPr>
        <p:txBody>
          <a:bodyPr wrap="square" rtlCol="0" anchor="ctr"/>
          <a:lstStyle/>
          <a:p>
            <a:pPr algn="ctr" indent="0" marL="0">
              <a:buNone/>
            </a:pPr>
            <a:r>
              <a:rPr lang="en-US" sz="1100" b="1" dirty="0">
                <a:solidFill>
                  <a:srgbClr val="D97706"/>
                </a:solidFill>
                <a:latin typeface="Calibri" pitchFamily="34" charset="0"/>
                <a:ea typeface="Calibri" pitchFamily="34" charset="-122"/>
                <a:cs typeface="Calibri" pitchFamily="34" charset="-120"/>
              </a:rPr>
              <a:t>Tự Động Hóa Quản Lý Phí</a:t>
            </a:r>
            <a:endParaRPr lang="en-US" sz="1100" dirty="0"/>
          </a:p>
        </p:txBody>
      </p:sp>
      <p:sp>
        <p:nvSpPr>
          <p:cNvPr id="16" name="Text 14"/>
          <p:cNvSpPr/>
          <p:nvPr/>
        </p:nvSpPr>
        <p:spPr>
          <a:xfrm>
            <a:off x="3685032" y="3337560"/>
            <a:ext cx="2148840" cy="260604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Loại bỏ hoàn toàn rủi ro thất thoát tài chính và nhầm lẫn đối soát; tự động hóa nhắc nợ và gạch nợ qua cổng VietQR Napas 247.</a:t>
            </a:r>
            <a:endParaRPr lang="en-US" sz="1150" dirty="0"/>
          </a:p>
        </p:txBody>
      </p:sp>
      <p:sp>
        <p:nvSpPr>
          <p:cNvPr id="17" name="Shape 15"/>
          <p:cNvSpPr/>
          <p:nvPr/>
        </p:nvSpPr>
        <p:spPr>
          <a:xfrm>
            <a:off x="6181344" y="1920240"/>
            <a:ext cx="2606040" cy="4206240"/>
          </a:xfrm>
          <a:prstGeom prst="rect">
            <a:avLst/>
          </a:prstGeom>
          <a:solidFill>
            <a:srgbClr val="FFFFFF"/>
          </a:solidFill>
          <a:ln w="19050">
            <a:solidFill>
              <a:srgbClr val="FDE68A"/>
            </a:solidFill>
            <a:prstDash val="solid"/>
          </a:ln>
        </p:spPr>
      </p:sp>
      <p:sp>
        <p:nvSpPr>
          <p:cNvPr id="18" name="Shape 16"/>
          <p:cNvSpPr/>
          <p:nvPr/>
        </p:nvSpPr>
        <p:spPr>
          <a:xfrm>
            <a:off x="6364224" y="2148840"/>
            <a:ext cx="2240280" cy="1005840"/>
          </a:xfrm>
          <a:prstGeom prst="rect">
            <a:avLst/>
          </a:prstGeom>
          <a:solidFill>
            <a:srgbClr val="EFF6FF"/>
          </a:solidFill>
          <a:ln/>
        </p:spPr>
      </p:sp>
      <p:sp>
        <p:nvSpPr>
          <p:cNvPr id="19" name="Text 17"/>
          <p:cNvSpPr/>
          <p:nvPr/>
        </p:nvSpPr>
        <p:spPr>
          <a:xfrm>
            <a:off x="6364224" y="2194560"/>
            <a:ext cx="2240280" cy="594360"/>
          </a:xfrm>
          <a:prstGeom prst="rect">
            <a:avLst/>
          </a:prstGeom>
          <a:noFill/>
          <a:ln/>
        </p:spPr>
        <p:txBody>
          <a:bodyPr wrap="square" rtlCol="0" anchor="ctr"/>
          <a:lstStyle/>
          <a:p>
            <a:pPr algn="ctr" indent="0" marL="0">
              <a:buNone/>
            </a:pPr>
            <a:r>
              <a:rPr lang="en-US" sz="2600" b="1" dirty="0">
                <a:solidFill>
                  <a:srgbClr val="003B95"/>
                </a:solidFill>
                <a:latin typeface="Calibri" pitchFamily="34" charset="0"/>
                <a:ea typeface="Calibri" pitchFamily="34" charset="-122"/>
                <a:cs typeface="Calibri" pitchFamily="34" charset="-120"/>
              </a:rPr>
              <a:t>1 Giây</a:t>
            </a:r>
            <a:endParaRPr lang="en-US" sz="2600" dirty="0"/>
          </a:p>
        </p:txBody>
      </p:sp>
      <p:sp>
        <p:nvSpPr>
          <p:cNvPr id="20" name="Text 18"/>
          <p:cNvSpPr/>
          <p:nvPr/>
        </p:nvSpPr>
        <p:spPr>
          <a:xfrm>
            <a:off x="6364224" y="2788920"/>
            <a:ext cx="2240280" cy="320040"/>
          </a:xfrm>
          <a:prstGeom prst="rect">
            <a:avLst/>
          </a:prstGeom>
          <a:noFill/>
          <a:ln/>
        </p:spPr>
        <p:txBody>
          <a:bodyPr wrap="square" rtlCol="0" anchor="ctr"/>
          <a:lstStyle/>
          <a:p>
            <a:pPr algn="ctr" indent="0" marL="0">
              <a:buNone/>
            </a:pPr>
            <a:r>
              <a:rPr lang="en-US" sz="1100" b="1" dirty="0">
                <a:solidFill>
                  <a:srgbClr val="D97706"/>
                </a:solidFill>
                <a:latin typeface="Calibri" pitchFamily="34" charset="0"/>
                <a:ea typeface="Calibri" pitchFamily="34" charset="-122"/>
                <a:cs typeface="Calibri" pitchFamily="34" charset="-120"/>
              </a:rPr>
              <a:t>Tốc Độ Check-in Cổng</a:t>
            </a:r>
            <a:endParaRPr lang="en-US" sz="1100" dirty="0"/>
          </a:p>
        </p:txBody>
      </p:sp>
      <p:sp>
        <p:nvSpPr>
          <p:cNvPr id="21" name="Text 19"/>
          <p:cNvSpPr/>
          <p:nvPr/>
        </p:nvSpPr>
        <p:spPr>
          <a:xfrm>
            <a:off x="6409944" y="3337560"/>
            <a:ext cx="2148840" cy="260604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Đón tiếp và điểm danh 500 - 1.000 đại biểu tham dự đại hội mượt mà trong 1 giây/khách, xóa bỏ hoàn toàn cảnh ùn tắc bàn lễ tân.</a:t>
            </a:r>
            <a:endParaRPr lang="en-US" sz="1150" dirty="0"/>
          </a:p>
        </p:txBody>
      </p:sp>
      <p:sp>
        <p:nvSpPr>
          <p:cNvPr id="22" name="Shape 20"/>
          <p:cNvSpPr/>
          <p:nvPr/>
        </p:nvSpPr>
        <p:spPr>
          <a:xfrm>
            <a:off x="8906256" y="1920240"/>
            <a:ext cx="2606040" cy="4206240"/>
          </a:xfrm>
          <a:prstGeom prst="rect">
            <a:avLst/>
          </a:prstGeom>
          <a:solidFill>
            <a:srgbClr val="FFFFFF"/>
          </a:solidFill>
          <a:ln w="19050">
            <a:solidFill>
              <a:srgbClr val="FDE68A"/>
            </a:solidFill>
            <a:prstDash val="solid"/>
          </a:ln>
        </p:spPr>
      </p:sp>
      <p:sp>
        <p:nvSpPr>
          <p:cNvPr id="23" name="Shape 21"/>
          <p:cNvSpPr/>
          <p:nvPr/>
        </p:nvSpPr>
        <p:spPr>
          <a:xfrm>
            <a:off x="9089136" y="2148840"/>
            <a:ext cx="2240280" cy="1005840"/>
          </a:xfrm>
          <a:prstGeom prst="rect">
            <a:avLst/>
          </a:prstGeom>
          <a:solidFill>
            <a:srgbClr val="EFF6FF"/>
          </a:solidFill>
          <a:ln/>
        </p:spPr>
      </p:sp>
      <p:sp>
        <p:nvSpPr>
          <p:cNvPr id="24" name="Text 22"/>
          <p:cNvSpPr/>
          <p:nvPr/>
        </p:nvSpPr>
        <p:spPr>
          <a:xfrm>
            <a:off x="9089136" y="2194560"/>
            <a:ext cx="2240280" cy="594360"/>
          </a:xfrm>
          <a:prstGeom prst="rect">
            <a:avLst/>
          </a:prstGeom>
          <a:noFill/>
          <a:ln/>
        </p:spPr>
        <p:txBody>
          <a:bodyPr wrap="square" rtlCol="0" anchor="ctr"/>
          <a:lstStyle/>
          <a:p>
            <a:pPr algn="ctr" indent="0" marL="0">
              <a:buNone/>
            </a:pPr>
            <a:r>
              <a:rPr lang="en-US" sz="2600" b="1" dirty="0">
                <a:solidFill>
                  <a:srgbClr val="003B95"/>
                </a:solidFill>
                <a:latin typeface="Calibri" pitchFamily="34" charset="0"/>
                <a:ea typeface="Calibri" pitchFamily="34" charset="-122"/>
                <a:cs typeface="Calibri" pitchFamily="34" charset="-120"/>
              </a:rPr>
              <a:t>&gt; 5 Tỷ</a:t>
            </a:r>
            <a:endParaRPr lang="en-US" sz="2600" dirty="0"/>
          </a:p>
        </p:txBody>
      </p:sp>
      <p:sp>
        <p:nvSpPr>
          <p:cNvPr id="25" name="Text 23"/>
          <p:cNvSpPr/>
          <p:nvPr/>
        </p:nvSpPr>
        <p:spPr>
          <a:xfrm>
            <a:off x="9089136" y="2788920"/>
            <a:ext cx="2240280" cy="320040"/>
          </a:xfrm>
          <a:prstGeom prst="rect">
            <a:avLst/>
          </a:prstGeom>
          <a:noFill/>
          <a:ln/>
        </p:spPr>
        <p:txBody>
          <a:bodyPr wrap="square" rtlCol="0" anchor="ctr"/>
          <a:lstStyle/>
          <a:p>
            <a:pPr algn="ctr" indent="0" marL="0">
              <a:buNone/>
            </a:pPr>
            <a:r>
              <a:rPr lang="en-US" sz="1100" b="1" dirty="0">
                <a:solidFill>
                  <a:srgbClr val="D97706"/>
                </a:solidFill>
                <a:latin typeface="Calibri" pitchFamily="34" charset="0"/>
                <a:ea typeface="Calibri" pitchFamily="34" charset="-122"/>
                <a:cs typeface="Calibri" pitchFamily="34" charset="-120"/>
              </a:rPr>
              <a:t>Giá Trị Giao Thương B2B</a:t>
            </a:r>
            <a:endParaRPr lang="en-US" sz="1100" dirty="0"/>
          </a:p>
        </p:txBody>
      </p:sp>
      <p:sp>
        <p:nvSpPr>
          <p:cNvPr id="26" name="Text 24"/>
          <p:cNvSpPr/>
          <p:nvPr/>
        </p:nvSpPr>
        <p:spPr>
          <a:xfrm>
            <a:off x="9134856" y="3337560"/>
            <a:ext cx="2148840" cy="260604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Dự kiến thúc đẩy trên 5 tỷ đồng giá trị hợp đồng kết nối thương mại nội bộ thành công trong năm đầu tiên vận hành Sàn Marketplace.</a:t>
            </a:r>
            <a:endParaRPr lang="en-US" sz="1150" dirty="0"/>
          </a:p>
        </p:txBody>
      </p:sp>
      <p:sp>
        <p:nvSpPr>
          <p:cNvPr id="27" name="Shape 25"/>
          <p:cNvSpPr/>
          <p:nvPr/>
        </p:nvSpPr>
        <p:spPr>
          <a:xfrm>
            <a:off x="731520" y="6400800"/>
            <a:ext cx="10725912" cy="18288"/>
          </a:xfrm>
          <a:prstGeom prst="rect">
            <a:avLst/>
          </a:prstGeom>
          <a:solidFill>
            <a:srgbClr val="E2E8F0"/>
          </a:solidFill>
          <a:ln/>
        </p:spPr>
      </p:sp>
      <p:sp>
        <p:nvSpPr>
          <p:cNvPr id="28" name="Text 26"/>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Sinh Thái Chuyển Đổi Số Toàn Diện · CLB Doanh Nhân CEO 1983 · VIONE Ecosystem</a:t>
            </a:r>
            <a:endParaRPr lang="en-US" sz="950" dirty="0"/>
          </a:p>
        </p:txBody>
      </p:sp>
      <p:sp>
        <p:nvSpPr>
          <p:cNvPr id="29" name="Text 27"/>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HanoiBA</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59E0B"/>
          </a:solidFill>
          <a:ln/>
        </p:spPr>
      </p:sp>
      <p:sp>
        <p:nvSpPr>
          <p:cNvPr id="3" name="Shape 1"/>
          <p:cNvSpPr/>
          <p:nvPr/>
        </p:nvSpPr>
        <p:spPr>
          <a:xfrm>
            <a:off x="731520" y="411480"/>
            <a:ext cx="2926080" cy="292608"/>
          </a:xfrm>
          <a:prstGeom prst="rect">
            <a:avLst/>
          </a:prstGeom>
          <a:solidFill>
            <a:srgbClr val="003B95"/>
          </a:solidFill>
          <a:ln/>
        </p:spPr>
      </p:sp>
      <p:sp>
        <p:nvSpPr>
          <p:cNvPr id="4" name="Text 2"/>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CHỨNG MINH THỰC TẾ</a:t>
            </a:r>
            <a:endParaRPr lang="en-US" sz="1000" dirty="0"/>
          </a:p>
        </p:txBody>
      </p:sp>
      <p:sp>
        <p:nvSpPr>
          <p:cNvPr id="5" name="Text 3"/>
          <p:cNvSpPr/>
          <p:nvPr/>
        </p:nvSpPr>
        <p:spPr>
          <a:xfrm>
            <a:off x="731520" y="777240"/>
            <a:ext cx="10725912" cy="594360"/>
          </a:xfrm>
          <a:prstGeom prst="rect">
            <a:avLst/>
          </a:prstGeom>
          <a:noFill/>
          <a:ln/>
        </p:spPr>
        <p:txBody>
          <a:bodyPr wrap="square" rtlCol="0" anchor="ctr"/>
          <a:lstStyle/>
          <a:p>
            <a:pPr indent="0" marL="0">
              <a:buNone/>
            </a:pPr>
            <a:r>
              <a:rPr lang="en-US" sz="2200" b="1" dirty="0">
                <a:solidFill>
                  <a:srgbClr val="003B95"/>
                </a:solidFill>
                <a:latin typeface="Calibri" pitchFamily="34" charset="0"/>
                <a:ea typeface="Calibri" pitchFamily="34" charset="-122"/>
                <a:cs typeface="Calibri" pitchFamily="34" charset="-120"/>
              </a:rPr>
              <a:t>Hệ Thống Đã Được Triển Khai Hoàn Chỉnh Trên Môi Trường Live HTTPS</a:t>
            </a:r>
            <a:endParaRPr lang="en-US" sz="2200" dirty="0"/>
          </a:p>
        </p:txBody>
      </p:sp>
      <p:sp>
        <p:nvSpPr>
          <p:cNvPr id="6" name="Text 4"/>
          <p:cNvSpPr/>
          <p:nvPr/>
        </p:nvSpPr>
        <p:spPr>
          <a:xfrm>
            <a:off x="731520" y="1371600"/>
            <a:ext cx="10725912"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Toàn bộ giao diện và luồng nghiệp vụ đã được kiểm thử và xác thực hoạt động ổn định</a:t>
            </a:r>
            <a:endParaRPr lang="en-US" sz="1200" dirty="0"/>
          </a:p>
        </p:txBody>
      </p:sp>
      <p:sp>
        <p:nvSpPr>
          <p:cNvPr id="7" name="Shape 5"/>
          <p:cNvSpPr/>
          <p:nvPr/>
        </p:nvSpPr>
        <p:spPr>
          <a:xfrm>
            <a:off x="731520" y="1920240"/>
            <a:ext cx="3474720" cy="4206240"/>
          </a:xfrm>
          <a:prstGeom prst="rect">
            <a:avLst/>
          </a:prstGeom>
          <a:solidFill>
            <a:srgbClr val="FFFFFF"/>
          </a:solidFill>
          <a:ln w="15240">
            <a:solidFill>
              <a:srgbClr val="E2E8F0"/>
            </a:solidFill>
            <a:prstDash val="solid"/>
          </a:ln>
        </p:spPr>
      </p:sp>
      <p:sp>
        <p:nvSpPr>
          <p:cNvPr id="8" name="Text 6"/>
          <p:cNvSpPr/>
          <p:nvPr/>
        </p:nvSpPr>
        <p:spPr>
          <a:xfrm>
            <a:off x="914400" y="2057400"/>
            <a:ext cx="3108960" cy="32004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Web CRM Quản Trị Trung Tâm</a:t>
            </a:r>
            <a:endParaRPr lang="en-US" sz="1300" dirty="0"/>
          </a:p>
        </p:txBody>
      </p:sp>
      <p:sp>
        <p:nvSpPr>
          <p:cNvPr id="9" name="Text 7"/>
          <p:cNvSpPr/>
          <p:nvPr/>
        </p:nvSpPr>
        <p:spPr>
          <a:xfrm>
            <a:off x="914400" y="2377440"/>
            <a:ext cx="3108960"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Dashboard KPI điều hành, quản lý hội viên, duyệt bài Marketplace và cấu hình sự kiện trực quan.</a:t>
            </a:r>
            <a:endParaRPr lang="en-US" sz="1000" dirty="0"/>
          </a:p>
        </p:txBody>
      </p:sp>
      <p:pic>
        <p:nvPicPr>
          <p:cNvPr id="10" name="Image 0" descr="preencoded.png">    </p:cNvPr>
          <p:cNvPicPr>
            <a:picLocks noChangeAspect="1"/>
          </p:cNvPicPr>
          <p:nvPr/>
        </p:nvPicPr>
        <p:blipFill>
          <a:blip r:embed="rId1"/>
          <a:srcRect l="0" r="0" t="0" b="0"/>
          <a:stretch/>
        </p:blipFill>
        <p:spPr>
          <a:xfrm>
            <a:off x="914400" y="3017520"/>
            <a:ext cx="3108960" cy="2926080"/>
          </a:xfrm>
          <a:prstGeom prst="rect">
            <a:avLst/>
          </a:prstGeom>
        </p:spPr>
      </p:pic>
      <p:sp>
        <p:nvSpPr>
          <p:cNvPr id="11" name="Shape 8"/>
          <p:cNvSpPr/>
          <p:nvPr/>
        </p:nvSpPr>
        <p:spPr>
          <a:xfrm>
            <a:off x="4370832" y="1920240"/>
            <a:ext cx="3474720" cy="4206240"/>
          </a:xfrm>
          <a:prstGeom prst="rect">
            <a:avLst/>
          </a:prstGeom>
          <a:solidFill>
            <a:srgbClr val="FFFFFF"/>
          </a:solidFill>
          <a:ln w="15240">
            <a:solidFill>
              <a:srgbClr val="E2E8F0"/>
            </a:solidFill>
            <a:prstDash val="solid"/>
          </a:ln>
        </p:spPr>
      </p:sp>
      <p:sp>
        <p:nvSpPr>
          <p:cNvPr id="12" name="Text 9"/>
          <p:cNvSpPr/>
          <p:nvPr/>
        </p:nvSpPr>
        <p:spPr>
          <a:xfrm>
            <a:off x="4553712" y="2057400"/>
            <a:ext cx="3108960" cy="32004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Thẻ Hội Viên VIP &amp; Danh Thiếp 3D</a:t>
            </a:r>
            <a:endParaRPr lang="en-US" sz="1300" dirty="0"/>
          </a:p>
        </p:txBody>
      </p:sp>
      <p:sp>
        <p:nvSpPr>
          <p:cNvPr id="13" name="Text 10"/>
          <p:cNvSpPr/>
          <p:nvPr/>
        </p:nvSpPr>
        <p:spPr>
          <a:xfrm>
            <a:off x="4553712" y="2377440"/>
            <a:ext cx="3108960"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Thẻ mạ vàng 3D và danh thiếp số công khai hiển thị chính xác tài khoản thực tế (M1983-007 - Lê Hoàng Long).</a:t>
            </a:r>
            <a:endParaRPr lang="en-US" sz="1000" dirty="0"/>
          </a:p>
        </p:txBody>
      </p:sp>
      <p:pic>
        <p:nvPicPr>
          <p:cNvPr id="14" name="Image 1" descr="preencoded.png">    </p:cNvPr>
          <p:cNvPicPr>
            <a:picLocks noChangeAspect="1"/>
          </p:cNvPicPr>
          <p:nvPr/>
        </p:nvPicPr>
        <p:blipFill>
          <a:blip r:embed="rId2"/>
          <a:srcRect l="0" r="0" t="0" b="0"/>
          <a:stretch/>
        </p:blipFill>
        <p:spPr>
          <a:xfrm>
            <a:off x="4553712" y="3017520"/>
            <a:ext cx="3108960" cy="2926080"/>
          </a:xfrm>
          <a:prstGeom prst="rect">
            <a:avLst/>
          </a:prstGeom>
        </p:spPr>
      </p:pic>
      <p:sp>
        <p:nvSpPr>
          <p:cNvPr id="15" name="Shape 11"/>
          <p:cNvSpPr/>
          <p:nvPr/>
        </p:nvSpPr>
        <p:spPr>
          <a:xfrm>
            <a:off x="8010144" y="1920240"/>
            <a:ext cx="3474720" cy="4206240"/>
          </a:xfrm>
          <a:prstGeom prst="rect">
            <a:avLst/>
          </a:prstGeom>
          <a:solidFill>
            <a:srgbClr val="FFFFFF"/>
          </a:solidFill>
          <a:ln w="15240">
            <a:solidFill>
              <a:srgbClr val="E2E8F0"/>
            </a:solidFill>
            <a:prstDash val="solid"/>
          </a:ln>
        </p:spPr>
      </p:sp>
      <p:sp>
        <p:nvSpPr>
          <p:cNvPr id="16" name="Text 12"/>
          <p:cNvSpPr/>
          <p:nvPr/>
        </p:nvSpPr>
        <p:spPr>
          <a:xfrm>
            <a:off x="8193024" y="2057400"/>
            <a:ext cx="3108960" cy="32004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Sàn B2B &amp; Vé Sự Kiện Check-in</a:t>
            </a:r>
            <a:endParaRPr lang="en-US" sz="1300" dirty="0"/>
          </a:p>
        </p:txBody>
      </p:sp>
      <p:sp>
        <p:nvSpPr>
          <p:cNvPr id="17" name="Text 13"/>
          <p:cNvSpPr/>
          <p:nvPr/>
        </p:nvSpPr>
        <p:spPr>
          <a:xfrm>
            <a:off x="8193024" y="2377440"/>
            <a:ext cx="3108960"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Sàn giao thương Luxury 3 section phân trang và vé Pass điện tử kèm mã QR check-in &amp; số may mắn #XXXX.</a:t>
            </a:r>
            <a:endParaRPr lang="en-US" sz="1000" dirty="0"/>
          </a:p>
        </p:txBody>
      </p:sp>
      <p:pic>
        <p:nvPicPr>
          <p:cNvPr id="18" name="Image 2" descr="preencoded.png">    </p:cNvPr>
          <p:cNvPicPr>
            <a:picLocks noChangeAspect="1"/>
          </p:cNvPicPr>
          <p:nvPr/>
        </p:nvPicPr>
        <p:blipFill>
          <a:blip r:embed="rId3"/>
          <a:srcRect l="0" r="0" t="0" b="0"/>
          <a:stretch/>
        </p:blipFill>
        <p:spPr>
          <a:xfrm>
            <a:off x="8193024" y="3017520"/>
            <a:ext cx="3108960" cy="2926080"/>
          </a:xfrm>
          <a:prstGeom prst="rect">
            <a:avLst/>
          </a:prstGeom>
        </p:spPr>
      </p:pic>
      <p:sp>
        <p:nvSpPr>
          <p:cNvPr id="19" name="Shape 14"/>
          <p:cNvSpPr/>
          <p:nvPr/>
        </p:nvSpPr>
        <p:spPr>
          <a:xfrm>
            <a:off x="731520" y="6400800"/>
            <a:ext cx="10725912" cy="18288"/>
          </a:xfrm>
          <a:prstGeom prst="rect">
            <a:avLst/>
          </a:prstGeom>
          <a:solidFill>
            <a:srgbClr val="E2E8F0"/>
          </a:solidFill>
          <a:ln/>
        </p:spPr>
      </p:sp>
      <p:sp>
        <p:nvSpPr>
          <p:cNvPr id="20" name="Text 1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Sinh Thái Chuyển Đổi Số Toàn Diện · CLB Doanh Nhân CEO 1983 · VIONE Ecosystem</a:t>
            </a:r>
            <a:endParaRPr lang="en-US" sz="950" dirty="0"/>
          </a:p>
        </p:txBody>
      </p:sp>
      <p:sp>
        <p:nvSpPr>
          <p:cNvPr id="21" name="Text 1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HanoiBA</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59E0B"/>
          </a:solidFill>
          <a:ln/>
        </p:spPr>
      </p:sp>
      <p:sp>
        <p:nvSpPr>
          <p:cNvPr id="3" name="Shape 1"/>
          <p:cNvSpPr/>
          <p:nvPr/>
        </p:nvSpPr>
        <p:spPr>
          <a:xfrm>
            <a:off x="731520" y="411480"/>
            <a:ext cx="2926080" cy="292608"/>
          </a:xfrm>
          <a:prstGeom prst="rect">
            <a:avLst/>
          </a:prstGeom>
          <a:solidFill>
            <a:srgbClr val="003B95"/>
          </a:solidFill>
          <a:ln/>
        </p:spPr>
      </p:sp>
      <p:sp>
        <p:nvSpPr>
          <p:cNvPr id="4" name="Text 2"/>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LỘ TRÌNH PHÁT TRIỂN</a:t>
            </a:r>
            <a:endParaRPr lang="en-US" sz="1000" dirty="0"/>
          </a:p>
        </p:txBody>
      </p:sp>
      <p:sp>
        <p:nvSpPr>
          <p:cNvPr id="5" name="Text 3"/>
          <p:cNvSpPr/>
          <p:nvPr/>
        </p:nvSpPr>
        <p:spPr>
          <a:xfrm>
            <a:off x="731520" y="777240"/>
            <a:ext cx="10725912" cy="594360"/>
          </a:xfrm>
          <a:prstGeom prst="rect">
            <a:avLst/>
          </a:prstGeom>
          <a:noFill/>
          <a:ln/>
        </p:spPr>
        <p:txBody>
          <a:bodyPr wrap="square" rtlCol="0" anchor="ctr"/>
          <a:lstStyle/>
          <a:p>
            <a:pPr indent="0" marL="0">
              <a:buNone/>
            </a:pPr>
            <a:r>
              <a:rPr lang="en-US" sz="2200" b="1" dirty="0">
                <a:solidFill>
                  <a:srgbClr val="003B95"/>
                </a:solidFill>
                <a:latin typeface="Calibri" pitchFamily="34" charset="0"/>
                <a:ea typeface="Calibri" pitchFamily="34" charset="-122"/>
                <a:cs typeface="Calibri" pitchFamily="34" charset="-120"/>
              </a:rPr>
              <a:t>Chiến Lược Mở Rộng 2026 - 2028: Hướng Tới Liên Minh Hiệp Hội Số</a:t>
            </a:r>
            <a:endParaRPr lang="en-US" sz="2200" dirty="0"/>
          </a:p>
        </p:txBody>
      </p:sp>
      <p:sp>
        <p:nvSpPr>
          <p:cNvPr id="6" name="Text 4"/>
          <p:cNvSpPr/>
          <p:nvPr/>
        </p:nvSpPr>
        <p:spPr>
          <a:xfrm>
            <a:off x="731520" y="1371600"/>
            <a:ext cx="10725912"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Không chỉ dừng lại ở CLB CEO 1983, hệ thống sẵn sàng mở rộng thành mạng lưới giao thương liên kết</a:t>
            </a:r>
            <a:endParaRPr lang="en-US" sz="1200" dirty="0"/>
          </a:p>
        </p:txBody>
      </p:sp>
      <p:sp>
        <p:nvSpPr>
          <p:cNvPr id="7" name="Shape 5"/>
          <p:cNvSpPr/>
          <p:nvPr/>
        </p:nvSpPr>
        <p:spPr>
          <a:xfrm>
            <a:off x="731520" y="1920240"/>
            <a:ext cx="3474720" cy="4206240"/>
          </a:xfrm>
          <a:prstGeom prst="rect">
            <a:avLst/>
          </a:prstGeom>
          <a:solidFill>
            <a:srgbClr val="FFFFFF"/>
          </a:solidFill>
          <a:ln w="15240">
            <a:solidFill>
              <a:srgbClr val="003B95"/>
            </a:solidFill>
            <a:prstDash val="solid"/>
          </a:ln>
        </p:spPr>
      </p:sp>
      <p:sp>
        <p:nvSpPr>
          <p:cNvPr id="8" name="Shape 6"/>
          <p:cNvSpPr/>
          <p:nvPr/>
        </p:nvSpPr>
        <p:spPr>
          <a:xfrm>
            <a:off x="960120" y="2148840"/>
            <a:ext cx="2011680" cy="320040"/>
          </a:xfrm>
          <a:prstGeom prst="rect">
            <a:avLst/>
          </a:prstGeom>
          <a:solidFill>
            <a:srgbClr val="003B95"/>
          </a:solidFill>
          <a:ln/>
        </p:spPr>
      </p:sp>
      <p:sp>
        <p:nvSpPr>
          <p:cNvPr id="9" name="Text 7"/>
          <p:cNvSpPr/>
          <p:nvPr/>
        </p:nvSpPr>
        <p:spPr>
          <a:xfrm>
            <a:off x="960120" y="2148840"/>
            <a:ext cx="201168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GIAI ĐOẠN 1 (2026)</a:t>
            </a:r>
            <a:endParaRPr lang="en-US" sz="1000" dirty="0"/>
          </a:p>
        </p:txBody>
      </p:sp>
      <p:sp>
        <p:nvSpPr>
          <p:cNvPr id="10" name="Text 8"/>
          <p:cNvSpPr/>
          <p:nvPr/>
        </p:nvSpPr>
        <p:spPr>
          <a:xfrm>
            <a:off x="960120" y="2606040"/>
            <a:ext cx="3017520" cy="640080"/>
          </a:xfrm>
          <a:prstGeom prst="rect">
            <a:avLst/>
          </a:prstGeom>
          <a:noFill/>
          <a:ln/>
        </p:spPr>
        <p:txBody>
          <a:bodyPr wrap="square" rtlCol="0" anchor="ctr"/>
          <a:lstStyle/>
          <a:p>
            <a:pPr indent="0" marL="0">
              <a:buNone/>
            </a:pPr>
            <a:r>
              <a:rPr lang="en-US" sz="1350" b="1" dirty="0">
                <a:solidFill>
                  <a:srgbClr val="003B95"/>
                </a:solidFill>
                <a:latin typeface="Calibri" pitchFamily="34" charset="0"/>
                <a:ea typeface="Calibri" pitchFamily="34" charset="-122"/>
                <a:cs typeface="Calibri" pitchFamily="34" charset="-120"/>
              </a:rPr>
              <a:t>Chuẩn Hóa &amp; Vận Hành Bền Vững</a:t>
            </a:r>
            <a:endParaRPr lang="en-US" sz="1350" dirty="0"/>
          </a:p>
        </p:txBody>
      </p:sp>
      <p:sp>
        <p:nvSpPr>
          <p:cNvPr id="11" name="Text 9"/>
          <p:cNvSpPr/>
          <p:nvPr/>
        </p:nvSpPr>
        <p:spPr>
          <a:xfrm>
            <a:off x="960120" y="3337560"/>
            <a:ext cx="3017520" cy="260604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 Số hóa toàn bộ 500+ doanh nghiệp CLB CEO 1983</a:t>
            </a:r>
            <a:endParaRPr lang="en-US" sz="1100" dirty="0"/>
          </a:p>
          <a:p>
            <a:pPr indent="0" marL="0">
              <a:buNone/>
            </a:pP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Vận hành trơn tru CRM quản trị &amp; Mobile App PWA</a:t>
            </a:r>
            <a:endParaRPr lang="en-US" sz="1100" dirty="0"/>
          </a:p>
          <a:p>
            <a:pPr indent="0" marL="0">
              <a:buNone/>
            </a:pP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Tự động hóa 100% các kỳ sự kiện và thu phí VietQR</a:t>
            </a:r>
            <a:endParaRPr lang="en-US" sz="1100" dirty="0"/>
          </a:p>
          <a:p>
            <a:pPr indent="0" marL="0">
              <a:buNone/>
            </a:pP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Đồng bộ danh thiếp số công khai hỗ trợ lưu danh bạ</a:t>
            </a:r>
            <a:endParaRPr lang="en-US" sz="1100" dirty="0"/>
          </a:p>
        </p:txBody>
      </p:sp>
      <p:sp>
        <p:nvSpPr>
          <p:cNvPr id="12" name="Shape 10"/>
          <p:cNvSpPr/>
          <p:nvPr/>
        </p:nvSpPr>
        <p:spPr>
          <a:xfrm>
            <a:off x="4370832" y="1920240"/>
            <a:ext cx="3474720" cy="4206240"/>
          </a:xfrm>
          <a:prstGeom prst="rect">
            <a:avLst/>
          </a:prstGeom>
          <a:solidFill>
            <a:srgbClr val="FFFFFF"/>
          </a:solidFill>
          <a:ln w="15240">
            <a:solidFill>
              <a:srgbClr val="003B95"/>
            </a:solidFill>
            <a:prstDash val="solid"/>
          </a:ln>
        </p:spPr>
      </p:sp>
      <p:sp>
        <p:nvSpPr>
          <p:cNvPr id="13" name="Shape 11"/>
          <p:cNvSpPr/>
          <p:nvPr/>
        </p:nvSpPr>
        <p:spPr>
          <a:xfrm>
            <a:off x="4599432" y="2148840"/>
            <a:ext cx="2011680" cy="320040"/>
          </a:xfrm>
          <a:prstGeom prst="rect">
            <a:avLst/>
          </a:prstGeom>
          <a:solidFill>
            <a:srgbClr val="F59E0B"/>
          </a:solidFill>
          <a:ln/>
        </p:spPr>
      </p:sp>
      <p:sp>
        <p:nvSpPr>
          <p:cNvPr id="14" name="Text 12"/>
          <p:cNvSpPr/>
          <p:nvPr/>
        </p:nvSpPr>
        <p:spPr>
          <a:xfrm>
            <a:off x="4599432" y="2148840"/>
            <a:ext cx="201168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GIAI ĐOẠN 2 (2026 - 2027)</a:t>
            </a:r>
            <a:endParaRPr lang="en-US" sz="1000" dirty="0"/>
          </a:p>
        </p:txBody>
      </p:sp>
      <p:sp>
        <p:nvSpPr>
          <p:cNvPr id="15" name="Text 13"/>
          <p:cNvSpPr/>
          <p:nvPr/>
        </p:nvSpPr>
        <p:spPr>
          <a:xfrm>
            <a:off x="4599432" y="2606040"/>
            <a:ext cx="3017520" cy="640080"/>
          </a:xfrm>
          <a:prstGeom prst="rect">
            <a:avLst/>
          </a:prstGeom>
          <a:noFill/>
          <a:ln/>
        </p:spPr>
        <p:txBody>
          <a:bodyPr wrap="square" rtlCol="0" anchor="ctr"/>
          <a:lstStyle/>
          <a:p>
            <a:pPr indent="0" marL="0">
              <a:buNone/>
            </a:pPr>
            <a:r>
              <a:rPr lang="en-US" sz="1350" b="1" dirty="0">
                <a:solidFill>
                  <a:srgbClr val="003B95"/>
                </a:solidFill>
                <a:latin typeface="Calibri" pitchFamily="34" charset="0"/>
                <a:ea typeface="Calibri" pitchFamily="34" charset="-122"/>
                <a:cs typeface="Calibri" pitchFamily="34" charset="-120"/>
              </a:rPr>
              <a:t>Trí Tuệ Nhân Tạo &amp; Thẻ Vật Lý NFC</a:t>
            </a:r>
            <a:endParaRPr lang="en-US" sz="1350" dirty="0"/>
          </a:p>
        </p:txBody>
      </p:sp>
      <p:sp>
        <p:nvSpPr>
          <p:cNvPr id="16" name="Text 14"/>
          <p:cNvSpPr/>
          <p:nvPr/>
        </p:nvSpPr>
        <p:spPr>
          <a:xfrm>
            <a:off x="4599432" y="3337560"/>
            <a:ext cx="3017520" cy="260604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 Tích hợp AI Smart Matching: Gợi ý đối tác kinh doanh tự động dựa trên ngành nghề, doanh thu và nhu cầu đầu tư</a:t>
            </a:r>
            <a:endParaRPr lang="en-US" sz="1100" dirty="0"/>
          </a:p>
          <a:p>
            <a:pPr indent="0" marL="0">
              <a:buNone/>
            </a:pP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Cổng thanh toán ngân hàng tự động đối soát liên ngân hàng</a:t>
            </a:r>
            <a:endParaRPr lang="en-US" sz="1100" dirty="0"/>
          </a:p>
          <a:p>
            <a:pPr indent="0" marL="0">
              <a:buNone/>
            </a:pP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Phát hành thẻ vật lý kim loại gắn chip NFC mạ vàng cao cấp</a:t>
            </a:r>
            <a:endParaRPr lang="en-US" sz="1100" dirty="0"/>
          </a:p>
        </p:txBody>
      </p:sp>
      <p:sp>
        <p:nvSpPr>
          <p:cNvPr id="17" name="Shape 15"/>
          <p:cNvSpPr/>
          <p:nvPr/>
        </p:nvSpPr>
        <p:spPr>
          <a:xfrm>
            <a:off x="8010144" y="1920240"/>
            <a:ext cx="3474720" cy="4206240"/>
          </a:xfrm>
          <a:prstGeom prst="rect">
            <a:avLst/>
          </a:prstGeom>
          <a:solidFill>
            <a:srgbClr val="FFFFFF"/>
          </a:solidFill>
          <a:ln w="15240">
            <a:solidFill>
              <a:srgbClr val="003B95"/>
            </a:solidFill>
            <a:prstDash val="solid"/>
          </a:ln>
        </p:spPr>
      </p:sp>
      <p:sp>
        <p:nvSpPr>
          <p:cNvPr id="18" name="Shape 16"/>
          <p:cNvSpPr/>
          <p:nvPr/>
        </p:nvSpPr>
        <p:spPr>
          <a:xfrm>
            <a:off x="8238744" y="2148840"/>
            <a:ext cx="2011680" cy="320040"/>
          </a:xfrm>
          <a:prstGeom prst="rect">
            <a:avLst/>
          </a:prstGeom>
          <a:solidFill>
            <a:srgbClr val="059669"/>
          </a:solidFill>
          <a:ln/>
        </p:spPr>
      </p:sp>
      <p:sp>
        <p:nvSpPr>
          <p:cNvPr id="19" name="Text 17"/>
          <p:cNvSpPr/>
          <p:nvPr/>
        </p:nvSpPr>
        <p:spPr>
          <a:xfrm>
            <a:off x="8238744" y="2148840"/>
            <a:ext cx="201168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GIAI ĐOẠN 3 (2027 - 2028)</a:t>
            </a:r>
            <a:endParaRPr lang="en-US" sz="1000" dirty="0"/>
          </a:p>
        </p:txBody>
      </p:sp>
      <p:sp>
        <p:nvSpPr>
          <p:cNvPr id="20" name="Text 18"/>
          <p:cNvSpPr/>
          <p:nvPr/>
        </p:nvSpPr>
        <p:spPr>
          <a:xfrm>
            <a:off x="8238744" y="2606040"/>
            <a:ext cx="3017520" cy="640080"/>
          </a:xfrm>
          <a:prstGeom prst="rect">
            <a:avLst/>
          </a:prstGeom>
          <a:noFill/>
          <a:ln/>
        </p:spPr>
        <p:txBody>
          <a:bodyPr wrap="square" rtlCol="0" anchor="ctr"/>
          <a:lstStyle/>
          <a:p>
            <a:pPr indent="0" marL="0">
              <a:buNone/>
            </a:pPr>
            <a:r>
              <a:rPr lang="en-US" sz="1350" b="1" dirty="0">
                <a:solidFill>
                  <a:srgbClr val="003B95"/>
                </a:solidFill>
                <a:latin typeface="Calibri" pitchFamily="34" charset="0"/>
                <a:ea typeface="Calibri" pitchFamily="34" charset="-122"/>
                <a:cs typeface="Calibri" pitchFamily="34" charset="-120"/>
              </a:rPr>
              <a:t>Liên Minh Hiệp Hội Số (Federated Network)</a:t>
            </a:r>
            <a:endParaRPr lang="en-US" sz="1350" dirty="0"/>
          </a:p>
        </p:txBody>
      </p:sp>
      <p:sp>
        <p:nvSpPr>
          <p:cNvPr id="21" name="Text 19"/>
          <p:cNvSpPr/>
          <p:nvPr/>
        </p:nvSpPr>
        <p:spPr>
          <a:xfrm>
            <a:off x="8238744" y="3337560"/>
            <a:ext cx="3017520" cy="260604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 Mở rộng mô hình tới các CLB Doanh nhân trực thuộc HanoiBA</a:t>
            </a:r>
            <a:endParaRPr lang="en-US" sz="1100" dirty="0"/>
          </a:p>
          <a:p>
            <a:pPr indent="0" marL="0">
              <a:buNone/>
            </a:pP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Kết nối mạng lưới giao thương liên hiệp hội YBA, BNI toàn quốc</a:t>
            </a:r>
            <a:endParaRPr lang="en-US" sz="1100" dirty="0"/>
          </a:p>
          <a:p>
            <a:pPr indent="0" marL="0">
              <a:buNone/>
            </a:pP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Sàn xúc tiến thương mại quốc tế kết nối doanh nghiệp kiều bào</a:t>
            </a:r>
            <a:endParaRPr lang="en-US" sz="1100" dirty="0"/>
          </a:p>
        </p:txBody>
      </p:sp>
      <p:sp>
        <p:nvSpPr>
          <p:cNvPr id="22" name="Shape 20"/>
          <p:cNvSpPr/>
          <p:nvPr/>
        </p:nvSpPr>
        <p:spPr>
          <a:xfrm>
            <a:off x="731520" y="6400800"/>
            <a:ext cx="10725912" cy="18288"/>
          </a:xfrm>
          <a:prstGeom prst="rect">
            <a:avLst/>
          </a:prstGeom>
          <a:solidFill>
            <a:srgbClr val="E2E8F0"/>
          </a:solidFill>
          <a:ln/>
        </p:spPr>
      </p:sp>
      <p:sp>
        <p:nvSpPr>
          <p:cNvPr id="23" name="Text 21"/>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Sinh Thái Chuyển Đổi Số Toàn Diện · CLB Doanh Nhân CEO 1983 · VIONE Ecosystem</a:t>
            </a:r>
            <a:endParaRPr lang="en-US" sz="950" dirty="0"/>
          </a:p>
        </p:txBody>
      </p:sp>
      <p:sp>
        <p:nvSpPr>
          <p:cNvPr id="24" name="Text 22"/>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HanoiBA</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A3A"/>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59E0B"/>
          </a:solidFill>
          <a:ln/>
        </p:spPr>
      </p:sp>
      <p:sp>
        <p:nvSpPr>
          <p:cNvPr id="3" name="Shape 1"/>
          <p:cNvSpPr/>
          <p:nvPr/>
        </p:nvSpPr>
        <p:spPr>
          <a:xfrm>
            <a:off x="914400" y="914400"/>
            <a:ext cx="3657600" cy="320040"/>
          </a:xfrm>
          <a:prstGeom prst="rect">
            <a:avLst/>
          </a:prstGeom>
          <a:solidFill>
            <a:srgbClr val="132A56"/>
          </a:solidFill>
          <a:ln w="15240">
            <a:solidFill>
              <a:srgbClr val="F59E0B"/>
            </a:solidFill>
            <a:prstDash val="solid"/>
          </a:ln>
        </p:spPr>
      </p:sp>
      <p:sp>
        <p:nvSpPr>
          <p:cNvPr id="4" name="Text 2"/>
          <p:cNvSpPr/>
          <p:nvPr/>
        </p:nvSpPr>
        <p:spPr>
          <a:xfrm>
            <a:off x="914400" y="914400"/>
            <a:ext cx="3657600" cy="320040"/>
          </a:xfrm>
          <a:prstGeom prst="rect">
            <a:avLst/>
          </a:prstGeom>
          <a:noFill/>
          <a:ln/>
        </p:spPr>
        <p:txBody>
          <a:bodyPr wrap="square"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CAM KẾT ĐỒNG HÀNH CHIẾN LƯỢC</a:t>
            </a:r>
            <a:endParaRPr lang="en-US" sz="1050" dirty="0"/>
          </a:p>
        </p:txBody>
      </p:sp>
      <p:sp>
        <p:nvSpPr>
          <p:cNvPr id="5" name="Text 3"/>
          <p:cNvSpPr/>
          <p:nvPr/>
        </p:nvSpPr>
        <p:spPr>
          <a:xfrm>
            <a:off x="914400" y="1371600"/>
            <a:ext cx="10360152" cy="7315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Tiên Phong Kiến Tạo Cộng Đồng Doanh Nhân Số Thịnh Vượng</a:t>
            </a:r>
            <a:endParaRPr lang="en-US" sz="2800" dirty="0"/>
          </a:p>
        </p:txBody>
      </p:sp>
      <p:sp>
        <p:nvSpPr>
          <p:cNvPr id="6" name="Text 4"/>
          <p:cNvSpPr/>
          <p:nvPr/>
        </p:nvSpPr>
        <p:spPr>
          <a:xfrm>
            <a:off x="914400" y="2103120"/>
            <a:ext cx="10360152" cy="457200"/>
          </a:xfrm>
          <a:prstGeom prst="rect">
            <a:avLst/>
          </a:prstGeom>
          <a:noFill/>
          <a:ln/>
        </p:spPr>
        <p:txBody>
          <a:bodyPr wrap="square" rtlCol="0" anchor="ctr"/>
          <a:lstStyle/>
          <a:p>
            <a:pPr indent="0" marL="0">
              <a:buNone/>
            </a:pPr>
            <a:r>
              <a:rPr lang="en-US" sz="1400" i="1" dirty="0">
                <a:solidFill>
                  <a:srgbClr val="CBD5E1"/>
                </a:solidFill>
                <a:latin typeface="Calibri" pitchFamily="34" charset="0"/>
                <a:ea typeface="Calibri" pitchFamily="34" charset="-122"/>
                <a:cs typeface="Calibri" pitchFamily="34" charset="-120"/>
              </a:rPr>
              <a:t>Hệ thống VIONE Ecosystem sẵn sàng đồng hành cùng Ban Chấp Hành CLB Doanh Nhân CEO 1983 tạo nên bước chuyển mình lịch sử</a:t>
            </a:r>
            <a:endParaRPr lang="en-US" sz="1400" dirty="0"/>
          </a:p>
        </p:txBody>
      </p:sp>
      <p:sp>
        <p:nvSpPr>
          <p:cNvPr id="7" name="Shape 5"/>
          <p:cNvSpPr/>
          <p:nvPr/>
        </p:nvSpPr>
        <p:spPr>
          <a:xfrm>
            <a:off x="914400" y="2834640"/>
            <a:ext cx="3291840" cy="2011680"/>
          </a:xfrm>
          <a:prstGeom prst="rect">
            <a:avLst/>
          </a:prstGeom>
          <a:solidFill>
            <a:srgbClr val="132A56"/>
          </a:solidFill>
          <a:ln w="15240">
            <a:solidFill>
              <a:srgbClr val="2A3E66"/>
            </a:solidFill>
            <a:prstDash val="solid"/>
          </a:ln>
        </p:spPr>
      </p:sp>
      <p:sp>
        <p:nvSpPr>
          <p:cNvPr id="8" name="Text 6"/>
          <p:cNvSpPr/>
          <p:nvPr/>
        </p:nvSpPr>
        <p:spPr>
          <a:xfrm>
            <a:off x="1143000" y="3063240"/>
            <a:ext cx="2834640" cy="45720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Sẵn Sàng Triển Khai Ngay 100%</a:t>
            </a:r>
            <a:endParaRPr lang="en-US" sz="1400" dirty="0"/>
          </a:p>
        </p:txBody>
      </p:sp>
      <p:sp>
        <p:nvSpPr>
          <p:cNvPr id="9" name="Text 7"/>
          <p:cNvSpPr/>
          <p:nvPr/>
        </p:nvSpPr>
        <p:spPr>
          <a:xfrm>
            <a:off x="1143000" y="3566160"/>
            <a:ext cx="2834640" cy="1143000"/>
          </a:xfrm>
          <a:prstGeom prst="rect">
            <a:avLst/>
          </a:prstGeom>
          <a:noFill/>
          <a:ln/>
        </p:spPr>
        <p:txBody>
          <a:bodyPr wrap="square" rtlCol="0" anchor="ctr"/>
          <a:lstStyle/>
          <a:p>
            <a:pPr indent="0" marL="0">
              <a:buNone/>
            </a:pPr>
            <a:r>
              <a:rPr lang="en-US" sz="1150" dirty="0">
                <a:solidFill>
                  <a:srgbClr val="94A3B8"/>
                </a:solidFill>
                <a:latin typeface="Calibri" pitchFamily="34" charset="0"/>
                <a:ea typeface="Calibri" pitchFamily="34" charset="-122"/>
                <a:cs typeface="Calibri" pitchFamily="34" charset="-120"/>
              </a:rPr>
              <a:t>Hệ thống đã hoàn thiện mã nguồn và đang chạy ổn định trên hạ tầng HTTPS an toàn bảo mật cao.</a:t>
            </a:r>
            <a:endParaRPr lang="en-US" sz="1150" dirty="0"/>
          </a:p>
        </p:txBody>
      </p:sp>
      <p:sp>
        <p:nvSpPr>
          <p:cNvPr id="10" name="Shape 8"/>
          <p:cNvSpPr/>
          <p:nvPr/>
        </p:nvSpPr>
        <p:spPr>
          <a:xfrm>
            <a:off x="4480560" y="2834640"/>
            <a:ext cx="3291840" cy="2011680"/>
          </a:xfrm>
          <a:prstGeom prst="rect">
            <a:avLst/>
          </a:prstGeom>
          <a:solidFill>
            <a:srgbClr val="132A56"/>
          </a:solidFill>
          <a:ln w="15240">
            <a:solidFill>
              <a:srgbClr val="2A3E66"/>
            </a:solidFill>
            <a:prstDash val="solid"/>
          </a:ln>
        </p:spPr>
      </p:sp>
      <p:sp>
        <p:nvSpPr>
          <p:cNvPr id="11" name="Text 9"/>
          <p:cNvSpPr/>
          <p:nvPr/>
        </p:nvSpPr>
        <p:spPr>
          <a:xfrm>
            <a:off x="4709160" y="3063240"/>
            <a:ext cx="2834640" cy="45720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Đào Tạo &amp; Chuyển Giao Tận Tâm</a:t>
            </a:r>
            <a:endParaRPr lang="en-US" sz="1400" dirty="0"/>
          </a:p>
        </p:txBody>
      </p:sp>
      <p:sp>
        <p:nvSpPr>
          <p:cNvPr id="12" name="Text 10"/>
          <p:cNvSpPr/>
          <p:nvPr/>
        </p:nvSpPr>
        <p:spPr>
          <a:xfrm>
            <a:off x="4709160" y="3566160"/>
            <a:ext cx="2834640" cy="1143000"/>
          </a:xfrm>
          <a:prstGeom prst="rect">
            <a:avLst/>
          </a:prstGeom>
          <a:noFill/>
          <a:ln/>
        </p:spPr>
        <p:txBody>
          <a:bodyPr wrap="square" rtlCol="0" anchor="ctr"/>
          <a:lstStyle/>
          <a:p>
            <a:pPr indent="0" marL="0">
              <a:buNone/>
            </a:pPr>
            <a:r>
              <a:rPr lang="en-US" sz="1150" dirty="0">
                <a:solidFill>
                  <a:srgbClr val="94A3B8"/>
                </a:solidFill>
                <a:latin typeface="Calibri" pitchFamily="34" charset="0"/>
                <a:ea typeface="Calibri" pitchFamily="34" charset="-122"/>
                <a:cs typeface="Calibri" pitchFamily="34" charset="-120"/>
              </a:rPr>
              <a:t>Tài liệu hướng dẫn sử dụng chi tiết (Word/PDF/Video), hỗ trợ trực tiếp Ban Thư ký vận hành trơn tru.</a:t>
            </a:r>
            <a:endParaRPr lang="en-US" sz="1150" dirty="0"/>
          </a:p>
        </p:txBody>
      </p:sp>
      <p:sp>
        <p:nvSpPr>
          <p:cNvPr id="13" name="Shape 11"/>
          <p:cNvSpPr/>
          <p:nvPr/>
        </p:nvSpPr>
        <p:spPr>
          <a:xfrm>
            <a:off x="8046720" y="2834640"/>
            <a:ext cx="3291840" cy="2011680"/>
          </a:xfrm>
          <a:prstGeom prst="rect">
            <a:avLst/>
          </a:prstGeom>
          <a:solidFill>
            <a:srgbClr val="132A56"/>
          </a:solidFill>
          <a:ln w="15240">
            <a:solidFill>
              <a:srgbClr val="2A3E66"/>
            </a:solidFill>
            <a:prstDash val="solid"/>
          </a:ln>
        </p:spPr>
      </p:sp>
      <p:sp>
        <p:nvSpPr>
          <p:cNvPr id="14" name="Text 12"/>
          <p:cNvSpPr/>
          <p:nvPr/>
        </p:nvSpPr>
        <p:spPr>
          <a:xfrm>
            <a:off x="8275320" y="3063240"/>
            <a:ext cx="2834640" cy="45720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Bảo Hành &amp; Nâng Cấp Liên Tục</a:t>
            </a:r>
            <a:endParaRPr lang="en-US" sz="1400" dirty="0"/>
          </a:p>
        </p:txBody>
      </p:sp>
      <p:sp>
        <p:nvSpPr>
          <p:cNvPr id="15" name="Text 13"/>
          <p:cNvSpPr/>
          <p:nvPr/>
        </p:nvSpPr>
        <p:spPr>
          <a:xfrm>
            <a:off x="8275320" y="3566160"/>
            <a:ext cx="2834640" cy="1143000"/>
          </a:xfrm>
          <a:prstGeom prst="rect">
            <a:avLst/>
          </a:prstGeom>
          <a:noFill/>
          <a:ln/>
        </p:spPr>
        <p:txBody>
          <a:bodyPr wrap="square" rtlCol="0" anchor="ctr"/>
          <a:lstStyle/>
          <a:p>
            <a:pPr indent="0" marL="0">
              <a:buNone/>
            </a:pPr>
            <a:r>
              <a:rPr lang="en-US" sz="1150" dirty="0">
                <a:solidFill>
                  <a:srgbClr val="94A3B8"/>
                </a:solidFill>
                <a:latin typeface="Calibri" pitchFamily="34" charset="0"/>
                <a:ea typeface="Calibri" pitchFamily="34" charset="-122"/>
                <a:cs typeface="Calibri" pitchFamily="34" charset="-120"/>
              </a:rPr>
              <a:t>Cam kết hỗ trợ kỹ thuật 24/7, định kỳ nâng cấp tính năng mới và tối ưu hóa hiệu năng theo sự phát triển của CLB.</a:t>
            </a:r>
            <a:endParaRPr lang="en-US" sz="1150" dirty="0"/>
          </a:p>
        </p:txBody>
      </p:sp>
      <p:sp>
        <p:nvSpPr>
          <p:cNvPr id="16" name="Shape 14"/>
          <p:cNvSpPr/>
          <p:nvPr/>
        </p:nvSpPr>
        <p:spPr>
          <a:xfrm>
            <a:off x="914400" y="5120640"/>
            <a:ext cx="10360152" cy="914400"/>
          </a:xfrm>
          <a:prstGeom prst="rect">
            <a:avLst/>
          </a:prstGeom>
          <a:solidFill>
            <a:srgbClr val="F59E0B"/>
          </a:solidFill>
          <a:ln/>
        </p:spPr>
      </p:sp>
      <p:sp>
        <p:nvSpPr>
          <p:cNvPr id="17" name="Text 15"/>
          <p:cNvSpPr/>
          <p:nvPr/>
        </p:nvSpPr>
        <p:spPr>
          <a:xfrm>
            <a:off x="1097280" y="5212080"/>
            <a:ext cx="9994392" cy="320040"/>
          </a:xfrm>
          <a:prstGeom prst="rect">
            <a:avLst/>
          </a:prstGeom>
          <a:noFill/>
          <a:ln/>
        </p:spPr>
        <p:txBody>
          <a:bodyPr wrap="square" rtlCol="0" anchor="ctr"/>
          <a:lstStyle/>
          <a:p>
            <a:pPr indent="0" marL="0">
              <a:buNone/>
            </a:pPr>
            <a:r>
              <a:rPr lang="en-US" sz="1100" b="1" dirty="0">
                <a:solidFill>
                  <a:srgbClr val="0A1A3A"/>
                </a:solidFill>
                <a:latin typeface="Calibri" pitchFamily="34" charset="0"/>
                <a:ea typeface="Calibri" pitchFamily="34" charset="-122"/>
                <a:cs typeface="Calibri" pitchFamily="34" charset="-120"/>
              </a:rPr>
              <a:t>TRẢI NGHIỆM HỆ THỐNG TRỰC TIẾP TẠI CÁC ĐỊA CHỈ HTTPS:</a:t>
            </a:r>
            <a:endParaRPr lang="en-US" sz="1100" dirty="0"/>
          </a:p>
        </p:txBody>
      </p:sp>
      <p:sp>
        <p:nvSpPr>
          <p:cNvPr id="18" name="Text 16"/>
          <p:cNvSpPr/>
          <p:nvPr/>
        </p:nvSpPr>
        <p:spPr>
          <a:xfrm>
            <a:off x="1097280" y="5532120"/>
            <a:ext cx="9994392" cy="411480"/>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 Web CRM: https://14.225.217.232:5443   |   • App Hiệp Hội: https://14.225.217.232:5444   |   • Landing 3D: /landing/ceo/v1</a:t>
            </a:r>
            <a:endParaRPr lang="en-US" sz="1250" dirty="0"/>
          </a:p>
        </p:txBody>
      </p:sp>
      <p:sp>
        <p:nvSpPr>
          <p:cNvPr id="19" name="Shape 17"/>
          <p:cNvSpPr/>
          <p:nvPr/>
        </p:nvSpPr>
        <p:spPr>
          <a:xfrm>
            <a:off x="731520" y="6400800"/>
            <a:ext cx="10725912" cy="18288"/>
          </a:xfrm>
          <a:prstGeom prst="rect">
            <a:avLst/>
          </a:prstGeom>
          <a:solidFill>
            <a:srgbClr val="2A3E66"/>
          </a:solidFill>
          <a:ln/>
        </p:spPr>
      </p:sp>
      <p:sp>
        <p:nvSpPr>
          <p:cNvPr id="20" name="Text 18"/>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Hệ Sinh Thái Chuyển Đổi Số Toàn Diện · CLB Doanh Nhân CEO 1983 · VIONE Ecosystem</a:t>
            </a:r>
            <a:endParaRPr lang="en-US" sz="950" dirty="0"/>
          </a:p>
        </p:txBody>
      </p:sp>
      <p:sp>
        <p:nvSpPr>
          <p:cNvPr id="21" name="Text 19"/>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Bản Quyền © 2026 CLB Doanh Nhân CEO 1983 · HanoiBA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VIONE Ecosystem · HanoiBA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Sinh Thái Chuyển Đổi Số CLB Doanh Nhân CEO 1983</dc:title>
  <dc:subject>PptxGenJS Presentation</dc:subject>
  <dc:creator>Ban Thư Ký CLB Doanh Nhân CEO 1983</dc:creator>
  <cp:lastModifiedBy>Ban Thư Ký CLB Doanh Nhân CEO 1983</cp:lastModifiedBy>
  <cp:revision>1</cp:revision>
  <dcterms:created xsi:type="dcterms:W3CDTF">2026-09-19T18:17:49Z</dcterms:created>
  <dcterms:modified xsi:type="dcterms:W3CDTF">2026-09-19T18:17:49Z</dcterms:modified>
</cp:coreProperties>
</file>